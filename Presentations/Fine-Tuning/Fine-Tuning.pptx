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  <p:sldId id="267" r:id="rId11"/>
    <p:sldId id="263" r:id="rId12"/>
    <p:sldId id="269" r:id="rId13"/>
    <p:sldId id="270" r:id="rId14"/>
    <p:sldId id="282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81" r:id="rId24"/>
    <p:sldId id="293" r:id="rId25"/>
    <p:sldId id="292" r:id="rId26"/>
    <p:sldId id="294" r:id="rId27"/>
    <p:sldId id="29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22" autoAdjust="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59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0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7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62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65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5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60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35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95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22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083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66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124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388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791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63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CE9D4-9F6A-49D4-A698-3CEFE71C41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37A496-1EC0-4870-9373-BD047107F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nlp/fine-tuning-large-language-models-llms-using-qlora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A936-F5A6-404D-8FFB-7B6469A61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074" y="821919"/>
            <a:ext cx="7766936" cy="164630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FINE-TUNING LLMs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84629-AFED-46CB-AFCD-9CD917733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6728" y="3841330"/>
            <a:ext cx="7766936" cy="109689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35508B"/>
                </a:solidFill>
              </a:rPr>
              <a:t>Priyadarshini Priya</a:t>
            </a:r>
          </a:p>
          <a:p>
            <a:r>
              <a:rPr lang="en-US" sz="2800" dirty="0">
                <a:solidFill>
                  <a:srgbClr val="35508B"/>
                </a:solidFill>
              </a:rPr>
              <a:t>Scientific Officer/E</a:t>
            </a:r>
          </a:p>
          <a:p>
            <a:r>
              <a:rPr lang="en-US" sz="2800" dirty="0">
                <a:solidFill>
                  <a:srgbClr val="35508B"/>
                </a:solidFill>
              </a:rPr>
              <a:t>Computer Division, BARC</a:t>
            </a:r>
            <a:endParaRPr lang="en-IN" sz="2800" dirty="0">
              <a:solidFill>
                <a:srgbClr val="355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24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D03E-722D-4B55-89BD-6D0B1604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Defining LLMs &amp; Pretraining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F854D-9B26-47DA-924C-8DBCC2F27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transformer-based neural networks trained on trillions of tokens to understand and generate human language.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first and most resource-intensive phase of creating a Large Language Model.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4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E8C3-BD7F-45A2-86AF-649007EB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7540"/>
            <a:ext cx="10515600" cy="573308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pretraining, a model is shown a massive amount of unlabeled text (trillions of words from the internet, books, and code), example “the pile” by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EleutherAI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doing this billions of times, the model implicitly learns: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Grammar: How to structure sentences.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Facts: Information about the world (e.g., "The capital of France is Paris").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Reasoning: Patterns of logic and common sense.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Coding: Syntax of various programming languages.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Language (the one in which it is trained)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5B703-E919-46AF-8F1B-5F43943CA6FE}"/>
              </a:ext>
            </a:extLst>
          </p:cNvPr>
          <p:cNvSpPr/>
          <p:nvPr/>
        </p:nvSpPr>
        <p:spPr>
          <a:xfrm>
            <a:off x="1799577" y="4832035"/>
            <a:ext cx="1802167" cy="11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(with no knowledge)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A5329-C468-4A64-9A8F-5927B48D6EB1}"/>
              </a:ext>
            </a:extLst>
          </p:cNvPr>
          <p:cNvSpPr/>
          <p:nvPr/>
        </p:nvSpPr>
        <p:spPr>
          <a:xfrm>
            <a:off x="6365289" y="4840912"/>
            <a:ext cx="1802167" cy="11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 or Pretrained model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2F78DD-2D88-4C8D-B4A3-0FE942C8D68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601744" y="5386889"/>
            <a:ext cx="2763545" cy="887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852774-E211-4ABC-9AB3-4DECEA5EB286}"/>
              </a:ext>
            </a:extLst>
          </p:cNvPr>
          <p:cNvSpPr txBox="1"/>
          <p:nvPr/>
        </p:nvSpPr>
        <p:spPr>
          <a:xfrm>
            <a:off x="3478751" y="4697597"/>
            <a:ext cx="3009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Pretraining with </a:t>
            </a:r>
          </a:p>
          <a:p>
            <a:pPr algn="ctr"/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huge data</a:t>
            </a:r>
            <a:endParaRPr lang="en-IN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53E7B-2082-44C6-954F-E85977AED023}"/>
              </a:ext>
            </a:extLst>
          </p:cNvPr>
          <p:cNvSpPr txBox="1"/>
          <p:nvPr/>
        </p:nvSpPr>
        <p:spPr>
          <a:xfrm>
            <a:off x="6365289" y="5993581"/>
            <a:ext cx="30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LLM available for download</a:t>
            </a:r>
            <a:endParaRPr lang="en-IN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68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8549-CD99-40C9-80EE-7B1B8BF7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Limitations of Pretrained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2C313-DFF0-4534-9DA5-C918D618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88" y="159788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</a:t>
            </a:r>
            <a:r>
              <a:rPr lang="en-I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IN" sz="24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Cutoff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“: A model pretrained in 2023 has no inherent knowledge of events, technologies, or research that occurred in 2024.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Domain Expertise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Tone, Style, and Format Alignment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Hallucination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20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7B27-F996-4281-8ECA-7B4C258E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6" y="222466"/>
            <a:ext cx="8596668" cy="1320800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Prompt Engineering V/S Finetuning:</a:t>
            </a:r>
            <a:endParaRPr lang="en-IN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B131-7CB0-48E2-97AC-82782154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0" y="1825625"/>
            <a:ext cx="335206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0" indent="0" algn="just">
              <a:buNone/>
            </a:pPr>
            <a:endParaRPr lang="en-IN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A8DDC7-94E9-4DEB-98DC-969EC549F3D6}"/>
              </a:ext>
            </a:extLst>
          </p:cNvPr>
          <p:cNvSpPr txBox="1">
            <a:spLocks/>
          </p:cNvSpPr>
          <p:nvPr/>
        </p:nvSpPr>
        <p:spPr>
          <a:xfrm>
            <a:off x="7054486" y="1840035"/>
            <a:ext cx="33520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Finetuning</a:t>
            </a:r>
            <a:endParaRPr lang="en-IN" sz="24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BF60FC-4D26-4253-9ADE-F2898AAACD54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89805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N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2D62E3-8EAF-4C67-9B49-80216395E4D6}"/>
              </a:ext>
            </a:extLst>
          </p:cNvPr>
          <p:cNvSpPr txBox="1">
            <a:spLocks/>
          </p:cNvSpPr>
          <p:nvPr/>
        </p:nvSpPr>
        <p:spPr>
          <a:xfrm>
            <a:off x="838199" y="2581707"/>
            <a:ext cx="107597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in Input               Weight Modification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(Frozen weights)</a:t>
            </a:r>
          </a:p>
          <a:p>
            <a:pPr marL="0" indent="0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needs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1-5 examples in prompt        100+ curated labels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Context-window based          Internalized in model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Prototypes &amp; General Tasks   Domain Mastery &amp;     									Reliability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8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C30B-8482-4148-A0A3-CD6C60E9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Finetuning LLMs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1F44-E9DB-4B0E-8D6F-805C9E72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9" y="1350242"/>
            <a:ext cx="10515600" cy="47293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is the process of taking a pre-trained model and further training it on a smaller, specific dataset to adapt it for a particular task or domain.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finetuning:Hugging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‘transformers’ 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(Parameter-Efficient Fine-Tuning) ,etc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586659-4236-4C5B-834B-B3F4F2492F2A}"/>
              </a:ext>
            </a:extLst>
          </p:cNvPr>
          <p:cNvSpPr/>
          <p:nvPr/>
        </p:nvSpPr>
        <p:spPr>
          <a:xfrm>
            <a:off x="1696377" y="3787053"/>
            <a:ext cx="1413026" cy="11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(with no knowledge)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8AEB90-F6B8-4A1B-A516-8B6B62AE7D78}"/>
              </a:ext>
            </a:extLst>
          </p:cNvPr>
          <p:cNvSpPr/>
          <p:nvPr/>
        </p:nvSpPr>
        <p:spPr>
          <a:xfrm>
            <a:off x="5060272" y="3787053"/>
            <a:ext cx="1420427" cy="11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 or Pretrained model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4AD8DA-B96C-46F6-B5D2-10465831CFF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09403" y="4341907"/>
            <a:ext cx="19508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83B950-B1D5-4518-875C-E409B7383C3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480699" y="4341907"/>
            <a:ext cx="18369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A68F96A-7759-4465-80C4-9D792E39EFFA}"/>
              </a:ext>
            </a:extLst>
          </p:cNvPr>
          <p:cNvSpPr/>
          <p:nvPr/>
        </p:nvSpPr>
        <p:spPr>
          <a:xfrm>
            <a:off x="8317636" y="3787053"/>
            <a:ext cx="1420427" cy="11097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Finetuned model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2B08D9-2A46-41E3-9B65-6866D71D0854}"/>
              </a:ext>
            </a:extLst>
          </p:cNvPr>
          <p:cNvSpPr txBox="1"/>
          <p:nvPr/>
        </p:nvSpPr>
        <p:spPr>
          <a:xfrm>
            <a:off x="3223335" y="4396939"/>
            <a:ext cx="1836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Pretraining with</a:t>
            </a:r>
          </a:p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 huge data</a:t>
            </a:r>
            <a:endParaRPr lang="en-IN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313B4-9DE4-4597-87BC-1E8FF13B6602}"/>
              </a:ext>
            </a:extLst>
          </p:cNvPr>
          <p:cNvSpPr txBox="1"/>
          <p:nvPr/>
        </p:nvSpPr>
        <p:spPr>
          <a:xfrm>
            <a:off x="6587231" y="4341907"/>
            <a:ext cx="1836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Finetuning with</a:t>
            </a:r>
          </a:p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 limited data</a:t>
            </a:r>
            <a:endParaRPr lang="en-IN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1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B0C36C-7AC6-4E5A-AA7D-87A1AB13F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" y="79131"/>
            <a:ext cx="11764107" cy="6646984"/>
          </a:xfrm>
        </p:spPr>
      </p:pic>
    </p:spTree>
    <p:extLst>
      <p:ext uri="{BB962C8B-B14F-4D97-AF65-F5344CB8AC3E}">
        <p14:creationId xmlns:p14="http://schemas.microsoft.com/office/powerpoint/2010/main" val="28163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99D7-6515-4718-A030-C684785E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4" y="136077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Fine-tuning do: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FBD5-B381-4F90-8574-FC448ED5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00" y="79885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you add more data to model than what fits in prompt.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model to learn data and thus updates internal model weights.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Steers model to consistent output about a particular domain.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hallucinations.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9A2696-D43E-40C8-9F74-70324F913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12" t="25615" r="10947"/>
          <a:stretch/>
        </p:blipFill>
        <p:spPr>
          <a:xfrm>
            <a:off x="426923" y="2844516"/>
            <a:ext cx="8479685" cy="387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21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358B-8013-4D46-9B4F-BBA99ED6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902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time fine-tuning: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91725-521B-435E-B5C1-D1BF02815194}"/>
              </a:ext>
            </a:extLst>
          </p:cNvPr>
          <p:cNvSpPr/>
          <p:nvPr/>
        </p:nvSpPr>
        <p:spPr>
          <a:xfrm>
            <a:off x="3771900" y="1274886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Identify task(s) by prompt-engineering a LLM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861FE-4EF1-457B-BAB5-B17E4C0F2839}"/>
              </a:ext>
            </a:extLst>
          </p:cNvPr>
          <p:cNvSpPr/>
          <p:nvPr/>
        </p:nvSpPr>
        <p:spPr>
          <a:xfrm>
            <a:off x="3771900" y="2253153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task(s) that you see LLM doing ‘ok’ at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2BB2B-C57B-4225-AD30-0EEAA0E82E8F}"/>
              </a:ext>
            </a:extLst>
          </p:cNvPr>
          <p:cNvSpPr/>
          <p:nvPr/>
        </p:nvSpPr>
        <p:spPr>
          <a:xfrm>
            <a:off x="3771901" y="3231420"/>
            <a:ext cx="4706814" cy="678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Pick one task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AE078F-4C36-42D8-8D80-BE00855FCD8B}"/>
              </a:ext>
            </a:extLst>
          </p:cNvPr>
          <p:cNvSpPr/>
          <p:nvPr/>
        </p:nvSpPr>
        <p:spPr>
          <a:xfrm>
            <a:off x="3771900" y="4343403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Get approx. 1000 inputs and output for the task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DA4D2-1D10-4FA1-801C-55060D586866}"/>
              </a:ext>
            </a:extLst>
          </p:cNvPr>
          <p:cNvSpPr/>
          <p:nvPr/>
        </p:nvSpPr>
        <p:spPr>
          <a:xfrm>
            <a:off x="3771900" y="5447086"/>
            <a:ext cx="4706814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Fine-tune LLM on this data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0CB263-BA99-4666-B5CC-BD635C82169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3069" y="1969477"/>
            <a:ext cx="0" cy="283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0D385A-6880-4FF1-9EA9-A885EF4B919A}"/>
              </a:ext>
            </a:extLst>
          </p:cNvPr>
          <p:cNvCxnSpPr/>
          <p:nvPr/>
        </p:nvCxnSpPr>
        <p:spPr>
          <a:xfrm>
            <a:off x="6093068" y="2947744"/>
            <a:ext cx="0" cy="283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61D1E4-CE66-48E9-AF68-308C7632713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3068" y="3910754"/>
            <a:ext cx="1" cy="432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1FBEA4-3644-490F-ADF0-AB4462982A1F}"/>
              </a:ext>
            </a:extLst>
          </p:cNvPr>
          <p:cNvCxnSpPr>
            <a:cxnSpLocks/>
          </p:cNvCxnSpPr>
          <p:nvPr/>
        </p:nvCxnSpPr>
        <p:spPr>
          <a:xfrm>
            <a:off x="6093067" y="5037994"/>
            <a:ext cx="1" cy="432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26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C41E-9763-4FE9-8D74-5BCD266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57691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(Prompt templates):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97C22-5389-4D97-AE3B-EA862210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0093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model has a unique ‘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Token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set. During fine-tuning, you MUST match the template the model was originally aligned with. Example: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Mistral: Uses [INST] and [/INST].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Llama 3: Uses &lt;|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start_header_id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 tags.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Alpaca: Uses text headers like ### Instruction:.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wrong template leads to "garbage output" because the model doesn't recognize the instructions.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2E3471-2A26-40AA-A660-479306B5EAF7}"/>
              </a:ext>
            </a:extLst>
          </p:cNvPr>
          <p:cNvSpPr/>
          <p:nvPr/>
        </p:nvSpPr>
        <p:spPr>
          <a:xfrm>
            <a:off x="1512277" y="4035670"/>
            <a:ext cx="6075485" cy="28040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2060"/>
                </a:solidFill>
              </a:rPr>
              <a:t>LLAMA 3 TEMPLATE EXAMPLE: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begin_of_text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start_header_id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|&gt;system&lt;|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end_header_id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  <a:p>
            <a:r>
              <a:rPr lang="en-IN" dirty="0">
                <a:solidFill>
                  <a:schemeClr val="tx1"/>
                </a:solidFill>
              </a:rPr>
              <a:t>You are an expert...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eot_id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start_header_id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|&gt;user&lt;|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end_header_id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  <a:p>
            <a:r>
              <a:rPr lang="en-IN" dirty="0">
                <a:solidFill>
                  <a:schemeClr val="tx1"/>
                </a:solidFill>
              </a:rPr>
              <a:t>What is ANUPAM?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eot_id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start_header_id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|&gt;assistant&lt;|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end_header_id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  <a:p>
            <a:r>
              <a:rPr lang="en-IN" dirty="0">
                <a:solidFill>
                  <a:schemeClr val="tx1"/>
                </a:solidFill>
              </a:rPr>
              <a:t>ANUPAM is a supercomputer...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&lt;|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eot_id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|&gt;</a:t>
            </a:r>
          </a:p>
        </p:txBody>
      </p:sp>
    </p:spTree>
    <p:extLst>
      <p:ext uri="{BB962C8B-B14F-4D97-AF65-F5344CB8AC3E}">
        <p14:creationId xmlns:p14="http://schemas.microsoft.com/office/powerpoint/2010/main" val="15116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7B27-F996-4281-8ECA-7B4C258E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0435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Kind of data:</a:t>
            </a:r>
            <a:endParaRPr lang="en-IN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B131-7CB0-48E2-97AC-82782154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84" y="2042787"/>
            <a:ext cx="4421817" cy="263984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sz="2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quality (no garbage)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A8DDC7-94E9-4DEB-98DC-969EC549F3D6}"/>
              </a:ext>
            </a:extLst>
          </p:cNvPr>
          <p:cNvSpPr txBox="1">
            <a:spLocks/>
          </p:cNvSpPr>
          <p:nvPr/>
        </p:nvSpPr>
        <p:spPr>
          <a:xfrm>
            <a:off x="5129713" y="2042786"/>
            <a:ext cx="4331677" cy="26398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Worse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quality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BF60FC-4D26-4253-9ADE-F2898AAACD54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89805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N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48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358B-8013-4D46-9B4F-BBA99ED6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267" y="-66733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prepare data: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91725-521B-435E-B5C1-D1BF02815194}"/>
              </a:ext>
            </a:extLst>
          </p:cNvPr>
          <p:cNvSpPr/>
          <p:nvPr/>
        </p:nvSpPr>
        <p:spPr>
          <a:xfrm>
            <a:off x="3771900" y="1274886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Collect question-answer pairs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861FE-4EF1-457B-BAB5-B17E4C0F2839}"/>
              </a:ext>
            </a:extLst>
          </p:cNvPr>
          <p:cNvSpPr/>
          <p:nvPr/>
        </p:nvSpPr>
        <p:spPr>
          <a:xfrm>
            <a:off x="3771900" y="2253153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Concatenate pairs (add prompt template)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2BB2B-C57B-4225-AD30-0EEAA0E82E8F}"/>
              </a:ext>
            </a:extLst>
          </p:cNvPr>
          <p:cNvSpPr/>
          <p:nvPr/>
        </p:nvSpPr>
        <p:spPr>
          <a:xfrm>
            <a:off x="3771901" y="3231420"/>
            <a:ext cx="4706814" cy="678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Tokenize: Pad, truncate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AE078F-4C36-42D8-8D80-BE00855FCD8B}"/>
              </a:ext>
            </a:extLst>
          </p:cNvPr>
          <p:cNvSpPr/>
          <p:nvPr/>
        </p:nvSpPr>
        <p:spPr>
          <a:xfrm>
            <a:off x="3771900" y="4343403"/>
            <a:ext cx="4642337" cy="6945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Split into train, test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0CB263-BA99-4666-B5CC-BD635C82169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3069" y="1969477"/>
            <a:ext cx="0" cy="283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0D385A-6880-4FF1-9EA9-A885EF4B919A}"/>
              </a:ext>
            </a:extLst>
          </p:cNvPr>
          <p:cNvCxnSpPr/>
          <p:nvPr/>
        </p:nvCxnSpPr>
        <p:spPr>
          <a:xfrm>
            <a:off x="6093068" y="2947744"/>
            <a:ext cx="0" cy="2836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61D1E4-CE66-48E9-AF68-308C7632713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3068" y="3910754"/>
            <a:ext cx="1" cy="432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94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31D6-ABA5-48C0-996E-EFFB9FB98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31" y="40127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LLM:</a:t>
            </a:r>
          </a:p>
          <a:p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Hyperparameters: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success depends on tuning the "knobs" that control how the model learns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40E8E4-A72C-438F-A2DD-1B64B88B8BCD}"/>
              </a:ext>
            </a:extLst>
          </p:cNvPr>
          <p:cNvCxnSpPr>
            <a:cxnSpLocks/>
          </p:cNvCxnSpPr>
          <p:nvPr/>
        </p:nvCxnSpPr>
        <p:spPr>
          <a:xfrm>
            <a:off x="3631223" y="1213277"/>
            <a:ext cx="6066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1D1304D-1A5F-4F6E-B121-113FA3854AF4}"/>
              </a:ext>
            </a:extLst>
          </p:cNvPr>
          <p:cNvSpPr/>
          <p:nvPr/>
        </p:nvSpPr>
        <p:spPr>
          <a:xfrm>
            <a:off x="630116" y="980257"/>
            <a:ext cx="3001107" cy="466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training data to model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C370A-4A92-42E2-BF56-9C3AA1D1C8A4}"/>
              </a:ext>
            </a:extLst>
          </p:cNvPr>
          <p:cNvSpPr/>
          <p:nvPr/>
        </p:nvSpPr>
        <p:spPr>
          <a:xfrm>
            <a:off x="4226169" y="980257"/>
            <a:ext cx="1925515" cy="466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loss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E6CC7A-63FC-4D39-A065-15881CF37BDD}"/>
              </a:ext>
            </a:extLst>
          </p:cNvPr>
          <p:cNvCxnSpPr>
            <a:cxnSpLocks/>
          </p:cNvCxnSpPr>
          <p:nvPr/>
        </p:nvCxnSpPr>
        <p:spPr>
          <a:xfrm>
            <a:off x="6151684" y="1204423"/>
            <a:ext cx="6271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86F89-A6BE-4B05-8771-5037BD9C0584}"/>
              </a:ext>
            </a:extLst>
          </p:cNvPr>
          <p:cNvSpPr/>
          <p:nvPr/>
        </p:nvSpPr>
        <p:spPr>
          <a:xfrm>
            <a:off x="6778869" y="914404"/>
            <a:ext cx="1925515" cy="5978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model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C4A8F6-3CB0-444B-902A-4946B96F3353}"/>
              </a:ext>
            </a:extLst>
          </p:cNvPr>
          <p:cNvSpPr/>
          <p:nvPr/>
        </p:nvSpPr>
        <p:spPr>
          <a:xfrm>
            <a:off x="9220202" y="914404"/>
            <a:ext cx="1611922" cy="5978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weights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55D6DC-513C-4B8F-A4FE-45FB93BAAFA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704384" y="1213277"/>
            <a:ext cx="515818" cy="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CD268-1824-48BD-B6D1-6D5BD2C4CAD7}"/>
              </a:ext>
            </a:extLst>
          </p:cNvPr>
          <p:cNvSpPr/>
          <p:nvPr/>
        </p:nvSpPr>
        <p:spPr>
          <a:xfrm>
            <a:off x="574431" y="3522390"/>
            <a:ext cx="4032738" cy="1362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Learning Rate: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Controls the step size for weight updates. Typically 2e-4 for </a:t>
            </a:r>
            <a:r>
              <a:rPr lang="en-US" dirty="0" err="1">
                <a:solidFill>
                  <a:schemeClr val="tx1"/>
                </a:solidFill>
              </a:rPr>
              <a:t>LoRA</a:t>
            </a:r>
            <a:r>
              <a:rPr lang="en-US" dirty="0">
                <a:solidFill>
                  <a:schemeClr val="tx1"/>
                </a:solidFill>
              </a:rPr>
              <a:t>. Too high causes instability; too low slows learning.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C40047-B42F-4B4E-9B7F-3083C17565DE}"/>
              </a:ext>
            </a:extLst>
          </p:cNvPr>
          <p:cNvSpPr/>
          <p:nvPr/>
        </p:nvSpPr>
        <p:spPr>
          <a:xfrm>
            <a:off x="4865077" y="3522389"/>
            <a:ext cx="4097216" cy="1362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Batch Size: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Nu</a:t>
            </a:r>
            <a:r>
              <a:rPr lang="en-US" dirty="0">
                <a:solidFill>
                  <a:schemeClr val="tx1"/>
                </a:solidFill>
              </a:rPr>
              <a:t>mber of samples processed before updating weights. Larger batches provide stable learning but require more VRAM.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15FEF3-9CD2-41F7-B0FD-0EC8CCC870C4}"/>
              </a:ext>
            </a:extLst>
          </p:cNvPr>
          <p:cNvSpPr/>
          <p:nvPr/>
        </p:nvSpPr>
        <p:spPr>
          <a:xfrm>
            <a:off x="574431" y="5023973"/>
            <a:ext cx="4032738" cy="1362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Epochs / Steps: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Determines how many times the model sees the entire data. Small datasets usually need 3-5 epochs to memorize facts.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4D994D-8587-4868-B5ED-59F984E077FF}"/>
              </a:ext>
            </a:extLst>
          </p:cNvPr>
          <p:cNvSpPr/>
          <p:nvPr/>
        </p:nvSpPr>
        <p:spPr>
          <a:xfrm>
            <a:off x="4865077" y="5023972"/>
            <a:ext cx="4097216" cy="1362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LoRA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Rank (r):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Determines the "Rank" of the update matrices. Higher r (16, 32) captures more detail but increases memory usage.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FE7256-3804-437D-A23C-25B34D5C0B43}"/>
              </a:ext>
            </a:extLst>
          </p:cNvPr>
          <p:cNvSpPr/>
          <p:nvPr/>
        </p:nvSpPr>
        <p:spPr>
          <a:xfrm>
            <a:off x="9041423" y="4224235"/>
            <a:ext cx="3030415" cy="1622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Optimizer: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math engine (e.g., </a:t>
            </a:r>
            <a:r>
              <a:rPr lang="en-US" i="1" dirty="0" err="1">
                <a:solidFill>
                  <a:schemeClr val="tx1"/>
                </a:solidFill>
              </a:rPr>
              <a:t>AdamW</a:t>
            </a:r>
            <a:r>
              <a:rPr lang="en-US" i="1" dirty="0">
                <a:solidFill>
                  <a:schemeClr val="tx1"/>
                </a:solidFill>
              </a:rPr>
              <a:t> 8-bit) </a:t>
            </a:r>
            <a:r>
              <a:rPr lang="en-US" dirty="0">
                <a:solidFill>
                  <a:schemeClr val="tx1"/>
                </a:solidFill>
              </a:rPr>
              <a:t>that calculates weight changes. 8-bit versions save significant memory.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960B6-43CF-45B9-18CD-78DE662F4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38329"/>
            <a:ext cx="9390302" cy="570303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other training hyperparameters: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lora_alpha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is the scaling factor for your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adapters.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set </a:t>
            </a:r>
            <a:r>
              <a:rPr lang="el-GR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high, the model will prioritize the new fine-tuning data very aggressively and if set low the model will lean more on its original pre-trained knowledge.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gradient_accumulation_steps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It allows you to simulate a large batch size by splitting it into several smaller mini-batches and summing their gradients before updating the model weights. Ex: if batch size is 2 and gradient accumulation step is 8,model process 8 mini batches of 2 before updating weights.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lora_dropout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model randomly zeros out a percentage of the values in the adapter layers during each training step.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2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A0CE-3151-423F-AA66-AAA40959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benchmarks (Evaluation methods):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31C3-4F1E-4FAF-9348-68139B29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203" y="161546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Large Language Models (LLMs), ARC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HellaSwag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two of the most foundational benchmarks used to measure "reasoning.“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they both test how a model "thinks," they target very different cognitive abilities: one focuses on academic knowledge, while the other focuses on daily logic.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88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B4D4-FBE6-458B-91E2-A527957D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fine-tuning: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4408E4-AF84-44C9-9AEF-F388C8ED193E}"/>
              </a:ext>
            </a:extLst>
          </p:cNvPr>
          <p:cNvSpPr/>
          <p:nvPr/>
        </p:nvSpPr>
        <p:spPr>
          <a:xfrm>
            <a:off x="4624753" y="1690688"/>
            <a:ext cx="2031023" cy="185517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preparation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706C9A-87D8-40AE-9565-22B54D460740}"/>
              </a:ext>
            </a:extLst>
          </p:cNvPr>
          <p:cNvSpPr/>
          <p:nvPr/>
        </p:nvSpPr>
        <p:spPr>
          <a:xfrm>
            <a:off x="6857999" y="4214081"/>
            <a:ext cx="2031023" cy="185517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0614FB-B1C5-4E3A-8B34-D5AAFE1147D8}"/>
              </a:ext>
            </a:extLst>
          </p:cNvPr>
          <p:cNvSpPr/>
          <p:nvPr/>
        </p:nvSpPr>
        <p:spPr>
          <a:xfrm>
            <a:off x="2593730" y="4239723"/>
            <a:ext cx="2031023" cy="185517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8F4BE94-B8DE-4A49-A4A5-7FD6812F1BF7}"/>
              </a:ext>
            </a:extLst>
          </p:cNvPr>
          <p:cNvSpPr/>
          <p:nvPr/>
        </p:nvSpPr>
        <p:spPr>
          <a:xfrm rot="13910620">
            <a:off x="3598967" y="2286543"/>
            <a:ext cx="2294084" cy="2446290"/>
          </a:xfrm>
          <a:prstGeom prst="arc">
            <a:avLst>
              <a:gd name="adj1" fmla="val 16200000"/>
              <a:gd name="adj2" fmla="val 202710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2680E9F-0273-4E78-AC75-9A9A5464E6DE}"/>
              </a:ext>
            </a:extLst>
          </p:cNvPr>
          <p:cNvSpPr/>
          <p:nvPr/>
        </p:nvSpPr>
        <p:spPr>
          <a:xfrm rot="20931171">
            <a:off x="5751246" y="2378034"/>
            <a:ext cx="2294084" cy="2754885"/>
          </a:xfrm>
          <a:prstGeom prst="arc">
            <a:avLst>
              <a:gd name="adj1" fmla="val 16200000"/>
              <a:gd name="adj2" fmla="val 202710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2E02E1F-8EB5-4978-B68D-5ADF8BD18777}"/>
              </a:ext>
            </a:extLst>
          </p:cNvPr>
          <p:cNvSpPr/>
          <p:nvPr/>
        </p:nvSpPr>
        <p:spPr>
          <a:xfrm rot="6709272">
            <a:off x="4446131" y="3493986"/>
            <a:ext cx="2294084" cy="2754885"/>
          </a:xfrm>
          <a:prstGeom prst="arc">
            <a:avLst>
              <a:gd name="adj1" fmla="val 16200000"/>
              <a:gd name="adj2" fmla="val 202710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53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DB44-6EEA-472F-95CD-F5EA9175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fine-tuning: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83D7-07CA-47CD-BE1F-93932BCAE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754" y="1782396"/>
            <a:ext cx="5615354" cy="273758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three important concepts: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precision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quantization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700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04F4-9264-43F5-A7F7-E9323826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2" y="18255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precision in LLMs: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BF55-C996-4F35-BC09-4488B9894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778546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Precision’ refers to the format used to represent the numbers (weights and activations) within a neural network.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type is a balance between memory usage, computational speed, and numerical stability.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E3413DB-7AE7-4BED-AFD6-328B07180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19696"/>
              </p:ext>
            </p:extLst>
          </p:nvPr>
        </p:nvGraphicFramePr>
        <p:xfrm>
          <a:off x="445476" y="2671558"/>
          <a:ext cx="932571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142">
                  <a:extLst>
                    <a:ext uri="{9D8B030D-6E8A-4147-A177-3AD203B41FA5}">
                      <a16:colId xmlns:a16="http://schemas.microsoft.com/office/drawing/2014/main" val="1191371039"/>
                    </a:ext>
                  </a:extLst>
                </a:gridCol>
                <a:gridCol w="1865142">
                  <a:extLst>
                    <a:ext uri="{9D8B030D-6E8A-4147-A177-3AD203B41FA5}">
                      <a16:colId xmlns:a16="http://schemas.microsoft.com/office/drawing/2014/main" val="79606672"/>
                    </a:ext>
                  </a:extLst>
                </a:gridCol>
                <a:gridCol w="1865142">
                  <a:extLst>
                    <a:ext uri="{9D8B030D-6E8A-4147-A177-3AD203B41FA5}">
                      <a16:colId xmlns:a16="http://schemas.microsoft.com/office/drawing/2014/main" val="2554682250"/>
                    </a:ext>
                  </a:extLst>
                </a:gridCol>
                <a:gridCol w="1865142">
                  <a:extLst>
                    <a:ext uri="{9D8B030D-6E8A-4147-A177-3AD203B41FA5}">
                      <a16:colId xmlns:a16="http://schemas.microsoft.com/office/drawing/2014/main" val="1107685634"/>
                    </a:ext>
                  </a:extLst>
                </a:gridCol>
                <a:gridCol w="1865142">
                  <a:extLst>
                    <a:ext uri="{9D8B030D-6E8A-4147-A177-3AD203B41FA5}">
                      <a16:colId xmlns:a16="http://schemas.microsoft.com/office/drawing/2014/main" val="3231230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FP32(full)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FP16(half)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BF16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INT8/NF4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67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8/4 bits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60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per param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/ 0.5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71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 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bits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bits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bits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7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Mantissa (Precision)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 bits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bits (Mid)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bits (Low)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01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~3.4 *10^38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~3.4 *10^38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42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509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BA89-48B4-4C96-9882-8AEF6BF0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Quantization: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456A-505F-4934-9F85-898CD38B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76" y="1359633"/>
            <a:ext cx="10515600" cy="4351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conversion from higher precision to lower precision.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Quantization: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is centered around zero. The floating-point range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xmin,xmax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is mapped to the integer range [−128,127] (for int8).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scale(S)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xmax-xmin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qmax-qmin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Relation: It uses a single Scale Factor (S) which has relation as :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Q=round(x/S).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 is quantized value and x is original value.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66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3854-45F5-48F6-9E4F-D75CF61C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7" y="23421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Quantization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is mapped to the exact min/max of the data. The floating-point range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xmin,xmax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is mapped to the full integer range [0,255] (for uint8).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S=(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xmin-xmax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qmax-qmin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Z=int(round(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qmin-xmin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Relation: It uses both a Scale Factor (S) and a Zero Point (Z) with formula as </a:t>
            </a:r>
          </a:p>
          <a:p>
            <a:pPr marL="3657600" lvl="8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Q=round(x/S+Z).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D2051-7458-465B-A01F-2FD3C08D15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58"/>
          <a:stretch/>
        </p:blipFill>
        <p:spPr>
          <a:xfrm>
            <a:off x="1273418" y="4044461"/>
            <a:ext cx="7411915" cy="227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42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198C-924A-48F7-AF98-F02756BB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Quantization:</a:t>
            </a:r>
            <a:endParaRPr lang="en-IN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A8EB-BFCA-4561-B5C1-BCCCA4BF5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80" y="1571504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Training Q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uantization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(PTQ)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Aware Training (QAT)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Training Q</a:t>
            </a:r>
            <a:r>
              <a:rPr lang="en-IN" sz="2400" u="sng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uantization</a:t>
            </a:r>
            <a:r>
              <a:rPr lang="en-IN" sz="24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(PTQ):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trained model, then apply quantization to it to reduce memory footprint.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loss of accuracy of trained model due to quantization process.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D7CE-EC84-4D59-B06B-247B4D11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05" y="79790"/>
            <a:ext cx="8596668" cy="1320800"/>
          </a:xfrm>
        </p:spPr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Quantization Aware Training (QAT):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2D55E-A169-448E-A766-D9CACB37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12" y="848885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(Low-rank adaptation):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Low-rank adaptation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a parameter-efficient fine-tuning (PEFT) technique that adds a subset of parameters to the frozen base foundation model and updates the subset during the tuning experiment, without modifying the parameters of the base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 Decomposition: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freezes the pre-trained weight matrix W and injects trainable low-rank matrices (adapters).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BDA96D-BCC5-4657-9BCD-870B8CE49280}"/>
              </a:ext>
            </a:extLst>
          </p:cNvPr>
          <p:cNvSpPr/>
          <p:nvPr/>
        </p:nvSpPr>
        <p:spPr>
          <a:xfrm>
            <a:off x="453012" y="4321621"/>
            <a:ext cx="4572000" cy="7913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W′ = W</a:t>
            </a:r>
            <a:r>
              <a:rPr lang="en-US" baseline="-25000" dirty="0">
                <a:solidFill>
                  <a:schemeClr val="tx1"/>
                </a:solidFill>
              </a:rPr>
              <a:t>frozen</a:t>
            </a:r>
            <a:r>
              <a:rPr lang="pl-PL" dirty="0">
                <a:solidFill>
                  <a:schemeClr val="tx1"/>
                </a:solidFill>
              </a:rPr>
              <a:t> + ΔW = W</a:t>
            </a:r>
            <a:r>
              <a:rPr lang="en-US" baseline="-25000" dirty="0">
                <a:solidFill>
                  <a:schemeClr val="tx1"/>
                </a:solidFill>
              </a:rPr>
              <a:t>frozen</a:t>
            </a:r>
            <a:r>
              <a:rPr lang="pl-PL" dirty="0">
                <a:solidFill>
                  <a:schemeClr val="tx1"/>
                </a:solidFill>
              </a:rPr>
              <a:t> + B · A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5486E1-A77A-463C-82B7-D7FBB921E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549" y="4035752"/>
            <a:ext cx="6434713" cy="2702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A06F4B-6629-EC62-24B9-C60C37F26219}"/>
              </a:ext>
            </a:extLst>
          </p:cNvPr>
          <p:cNvSpPr txBox="1"/>
          <p:nvPr/>
        </p:nvSpPr>
        <p:spPr>
          <a:xfrm>
            <a:off x="496406" y="5178118"/>
            <a:ext cx="606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: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frozen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frozen weights of base 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are adapter weights</a:t>
            </a:r>
          </a:p>
        </p:txBody>
      </p:sp>
    </p:spTree>
    <p:extLst>
      <p:ext uri="{BB962C8B-B14F-4D97-AF65-F5344CB8AC3E}">
        <p14:creationId xmlns:p14="http://schemas.microsoft.com/office/powerpoint/2010/main" val="264912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F54AA7-0D47-4BE1-BDEA-5625490501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r="5464"/>
          <a:stretch/>
        </p:blipFill>
        <p:spPr>
          <a:xfrm>
            <a:off x="6096000" y="0"/>
            <a:ext cx="6095999" cy="5732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7C9920-E280-4F99-AAFE-EA8B8FA99AB1}"/>
              </a:ext>
            </a:extLst>
          </p:cNvPr>
          <p:cNvSpPr/>
          <p:nvPr/>
        </p:nvSpPr>
        <p:spPr>
          <a:xfrm>
            <a:off x="113122" y="1235862"/>
            <a:ext cx="656105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training starts,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= A*B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 matrix is (d*k) format, then: 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A(d*r):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with random numbers (Gaussian noise).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B(r*k): Filled entirely with 0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During first forward pass for a layer, hidden state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is 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initially, model output is exactly same as before fine tuning during first forward pass.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Loss function calculates difference between the predicted output and the actual output.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Backpropagation calculates gradient for A and B.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optimizer uses the gradients to update A and B resulting in nonzero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The process repeats until all of the batches and epochs covered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FFB777-1518-9093-9AD7-CEB5B5D97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17"/>
          <a:stretch>
            <a:fillRect/>
          </a:stretch>
        </p:blipFill>
        <p:spPr>
          <a:xfrm>
            <a:off x="1473474" y="3387187"/>
            <a:ext cx="2941161" cy="6490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33AE6D-B6A8-23C5-2E3D-B0ACCC6BFE18}"/>
              </a:ext>
            </a:extLst>
          </p:cNvPr>
          <p:cNvSpPr/>
          <p:nvPr/>
        </p:nvSpPr>
        <p:spPr>
          <a:xfrm>
            <a:off x="658055" y="217155"/>
            <a:ext cx="4572000" cy="7913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W′ = W</a:t>
            </a:r>
            <a:r>
              <a:rPr lang="en-US" baseline="-25000" dirty="0">
                <a:solidFill>
                  <a:schemeClr val="tx1"/>
                </a:solidFill>
              </a:rPr>
              <a:t>frozen</a:t>
            </a:r>
            <a:r>
              <a:rPr lang="pl-PL" dirty="0">
                <a:solidFill>
                  <a:schemeClr val="tx1"/>
                </a:solidFill>
              </a:rPr>
              <a:t> + ΔW = W</a:t>
            </a:r>
            <a:r>
              <a:rPr lang="en-US" baseline="-25000" dirty="0">
                <a:solidFill>
                  <a:schemeClr val="tx1"/>
                </a:solidFill>
              </a:rPr>
              <a:t>frozen</a:t>
            </a:r>
            <a:r>
              <a:rPr lang="pl-PL" dirty="0">
                <a:solidFill>
                  <a:schemeClr val="tx1"/>
                </a:solidFill>
              </a:rPr>
              <a:t> + B · 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62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2571-8539-DC3A-D18C-AD5EDBE72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44" y="326796"/>
            <a:ext cx="8596668" cy="1030664"/>
          </a:xfrm>
        </p:spPr>
        <p:txBody>
          <a:bodyPr/>
          <a:lstStyle/>
          <a:p>
            <a:r>
              <a:rPr lang="en-US" u="sng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 of </a:t>
            </a:r>
            <a:r>
              <a:rPr lang="en-US" u="sng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u="sng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10D3-08E9-3F1B-C13A-920E1B9D3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43" y="1151921"/>
            <a:ext cx="9066613" cy="388077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memory efficiency: Because only small adapter matrices are trained and not billions of parameters, we don’t need to store gradients for entire model.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portability footprint: When finished training, the output is just the adapter weights. 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Catastrophic Forgetting: In full fine-tuning, the model can "overwrite" its general reasoning capabilities while trying to learn your specific data.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28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CE2D-1508-2310-5646-0057611F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1954"/>
            <a:ext cx="8596668" cy="1320800"/>
          </a:xfrm>
        </p:spPr>
        <p:txBody>
          <a:bodyPr/>
          <a:lstStyle/>
          <a:p>
            <a:r>
              <a:rPr lang="en-US" u="sng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Fine-tuning V/S </a:t>
            </a:r>
            <a:r>
              <a:rPr lang="en-US" u="sng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u="sng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F7028D-83A9-198B-4DF4-1DAB67C6A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715645"/>
              </p:ext>
            </p:extLst>
          </p:nvPr>
        </p:nvGraphicFramePr>
        <p:xfrm>
          <a:off x="677863" y="1263192"/>
          <a:ext cx="9229707" cy="4597453"/>
        </p:xfrm>
        <a:graphic>
          <a:graphicData uri="http://schemas.openxmlformats.org/drawingml/2006/table">
            <a:tbl>
              <a:tblPr/>
              <a:tblGrid>
                <a:gridCol w="3076569">
                  <a:extLst>
                    <a:ext uri="{9D8B030D-6E8A-4147-A177-3AD203B41FA5}">
                      <a16:colId xmlns:a16="http://schemas.microsoft.com/office/drawing/2014/main" val="1772300357"/>
                    </a:ext>
                  </a:extLst>
                </a:gridCol>
                <a:gridCol w="3076569">
                  <a:extLst>
                    <a:ext uri="{9D8B030D-6E8A-4147-A177-3AD203B41FA5}">
                      <a16:colId xmlns:a16="http://schemas.microsoft.com/office/drawing/2014/main" val="1394234614"/>
                    </a:ext>
                  </a:extLst>
                </a:gridCol>
                <a:gridCol w="3076569">
                  <a:extLst>
                    <a:ext uri="{9D8B030D-6E8A-4147-A177-3AD203B41FA5}">
                      <a16:colId xmlns:a16="http://schemas.microsoft.com/office/drawing/2014/main" val="1948296057"/>
                    </a:ext>
                  </a:extLst>
                </a:gridCol>
              </a:tblGrid>
              <a:tr h="5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Feature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Full Fine-Tuning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LoRA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730618"/>
                  </a:ext>
                </a:extLst>
              </a:tr>
              <a:tr h="5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Trainable Parameters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~1% – 5%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980578"/>
                  </a:ext>
                </a:extLst>
              </a:tr>
              <a:tr h="5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Memory Requirement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Google Sans Text"/>
                        </a:rPr>
                        <a:t>Very High (Multiple A100s)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Low (Single Consumer GPU)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52567"/>
                  </a:ext>
                </a:extLst>
              </a:tr>
              <a:tr h="101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Google Sans Text"/>
                        </a:rPr>
                        <a:t>Storage Cost</a:t>
                      </a:r>
                      <a:endParaRPr lang="en-US" sz="24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Full copy of the model per task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Tiny adapter files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170298"/>
                  </a:ext>
                </a:extLst>
              </a:tr>
              <a:tr h="5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Training Speed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Google Sans Text"/>
                        </a:rPr>
                        <a:t>Slower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53241"/>
                  </a:ext>
                </a:extLst>
              </a:tr>
              <a:tr h="101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  <a:latin typeface="Google Sans Text"/>
                        </a:rPr>
                        <a:t>Risk of Catastrophic Forgetting</a:t>
                      </a:r>
                      <a:endParaRPr lang="en-US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Google Sans Text"/>
                        </a:rPr>
                        <a:t>High (can "unlearn" base knowledge)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Google Sans Text"/>
                        </a:rPr>
                        <a:t>Low (base weights are frozen)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15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381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EB17-36F2-E798-A358-4203EA90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40" y="183823"/>
            <a:ext cx="8596668" cy="1320800"/>
          </a:xfrm>
        </p:spPr>
        <p:txBody>
          <a:bodyPr/>
          <a:lstStyle/>
          <a:p>
            <a:r>
              <a:rPr lang="en-US" u="sng" dirty="0">
                <a:solidFill>
                  <a:schemeClr val="tx2">
                    <a:lumMod val="50000"/>
                  </a:schemeClr>
                </a:solidFill>
              </a:rPr>
              <a:t>What is </a:t>
            </a:r>
            <a:r>
              <a:rPr lang="en-US" u="sng" dirty="0" err="1">
                <a:solidFill>
                  <a:schemeClr val="tx2">
                    <a:lumMod val="50000"/>
                  </a:schemeClr>
                </a:solidFill>
              </a:rPr>
              <a:t>QLoRA</a:t>
            </a:r>
            <a:r>
              <a:rPr lang="en-US" u="sng" dirty="0">
                <a:solidFill>
                  <a:schemeClr val="tx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1560D-E2D2-7BAB-A8E6-42BD3AD02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40" y="1111541"/>
            <a:ext cx="9362212" cy="5185564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Quantized Low-Rank Adaptation.</a:t>
            </a:r>
          </a:p>
          <a:p>
            <a:r>
              <a:rPr lang="en-US" sz="24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(Quantized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works by loading the base language model in a highly compressed 4-bit quantized format, drastically reducing memory usage, while training small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adapters in higher precision.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extension of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reduces memory usage significantly.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process: </a:t>
            </a:r>
          </a:p>
          <a:p>
            <a:pPr fontAlgn="base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pretrained model is loaded with quantized 4-bit weights.</a:t>
            </a:r>
          </a:p>
          <a:p>
            <a:pPr fontAlgn="base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adapters are updated during training.</a:t>
            </a:r>
          </a:p>
          <a:p>
            <a:pPr fontAlgn="base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like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BitsAndBytes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quantization) and PEFT (for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used together for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334773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9BE5B-6E9A-ABD2-E03B-78B6D9144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810" y="254523"/>
            <a:ext cx="9315078" cy="633481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3900" u="sng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</a:t>
            </a:r>
            <a:r>
              <a:rPr lang="en-US" sz="3900" u="sng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3900" u="sng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Memory Reduction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quantizing the main model weights to 4 bits (using methods like NF4), while keeping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adapters in higher precision (e.g., 16-bit).</a:t>
            </a:r>
          </a:p>
          <a:p>
            <a:pPr fontAlgn="base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Ultra-Low Resource Requirements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fine-tune very large models (billions of parameters) on consumer-grade GPUs or even CPUs by reducing VRAM needs to as little as 0.5GB per 1GB model.</a:t>
            </a:r>
          </a:p>
          <a:p>
            <a:pPr fontAlgn="base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been shown to maintain comparable accuracy to standard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full fine-tuning, even on very large models.</a:t>
            </a:r>
          </a:p>
          <a:p>
            <a:pPr fontAlgn="base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Quantization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 use double quantization techniques to further compress storage, especially for scale/offset constants.</a:t>
            </a:r>
          </a:p>
          <a:p>
            <a:pPr fontAlgn="base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Trade-offs: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slightly slower than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quantization/dequantization steps, the memory savings are substantial, and the method is highly scalable.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4607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467</TotalTime>
  <Words>2060</Words>
  <Application>Microsoft Office PowerPoint</Application>
  <PresentationFormat>Widescreen</PresentationFormat>
  <Paragraphs>249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Google Sans Text</vt:lpstr>
      <vt:lpstr>Times New Roman</vt:lpstr>
      <vt:lpstr>Trebuchet MS</vt:lpstr>
      <vt:lpstr>Wingdings</vt:lpstr>
      <vt:lpstr>Wingdings 3</vt:lpstr>
      <vt:lpstr>Facet</vt:lpstr>
      <vt:lpstr>FINE-TUNING LLMs</vt:lpstr>
      <vt:lpstr>Defining LLMs &amp; Pretraining</vt:lpstr>
      <vt:lpstr>PowerPoint Presentation</vt:lpstr>
      <vt:lpstr>Limitations of Pretrained model</vt:lpstr>
      <vt:lpstr>Prompt Engineering V/S Finetuning:</vt:lpstr>
      <vt:lpstr>Finetuning LLMs</vt:lpstr>
      <vt:lpstr>PowerPoint Presentation</vt:lpstr>
      <vt:lpstr>What does Fine-tuning do:</vt:lpstr>
      <vt:lpstr>First time fine-tuning:</vt:lpstr>
      <vt:lpstr>Data Preparation (Prompt templates):</vt:lpstr>
      <vt:lpstr>Kind of data:</vt:lpstr>
      <vt:lpstr>Steps to prepare data:</vt:lpstr>
      <vt:lpstr>PowerPoint Presentation</vt:lpstr>
      <vt:lpstr>PowerPoint Presentation</vt:lpstr>
      <vt:lpstr>LLM benchmarks (Evaluation methods):</vt:lpstr>
      <vt:lpstr>LLM fine-tuning:</vt:lpstr>
      <vt:lpstr>LLM fine-tuning:</vt:lpstr>
      <vt:lpstr>Numerical precision in LLMs:</vt:lpstr>
      <vt:lpstr>Quantization:</vt:lpstr>
      <vt:lpstr>PowerPoint Presentation</vt:lpstr>
      <vt:lpstr>Modes of Quantization:</vt:lpstr>
      <vt:lpstr>Quantization Aware Training (QAT): </vt:lpstr>
      <vt:lpstr>PowerPoint Presentation</vt:lpstr>
      <vt:lpstr>Pros of LoRA:</vt:lpstr>
      <vt:lpstr>Fine-tuning V/S LoRA:</vt:lpstr>
      <vt:lpstr>What is QLoRA: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LLMs</dc:title>
  <dc:creator>Priyadarshani</dc:creator>
  <cp:lastModifiedBy>Priyadarshani</cp:lastModifiedBy>
  <cp:revision>88</cp:revision>
  <dcterms:created xsi:type="dcterms:W3CDTF">2026-04-15T06:40:55Z</dcterms:created>
  <dcterms:modified xsi:type="dcterms:W3CDTF">2026-04-30T08:42:49Z</dcterms:modified>
</cp:coreProperties>
</file>