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8"/>
  </p:notesMasterIdLst>
  <p:handoutMasterIdLst>
    <p:handoutMasterId r:id="rId79"/>
  </p:handoutMasterIdLst>
  <p:sldIdLst>
    <p:sldId id="256" r:id="rId5"/>
    <p:sldId id="3917" r:id="rId6"/>
    <p:sldId id="3849" r:id="rId7"/>
    <p:sldId id="3901" r:id="rId8"/>
    <p:sldId id="3948" r:id="rId9"/>
    <p:sldId id="3902" r:id="rId10"/>
    <p:sldId id="3927" r:id="rId11"/>
    <p:sldId id="3929" r:id="rId12"/>
    <p:sldId id="3883" r:id="rId13"/>
    <p:sldId id="3928" r:id="rId14"/>
    <p:sldId id="3884" r:id="rId15"/>
    <p:sldId id="3880" r:id="rId16"/>
    <p:sldId id="3857" r:id="rId17"/>
    <p:sldId id="3911" r:id="rId18"/>
    <p:sldId id="3878" r:id="rId19"/>
    <p:sldId id="3888" r:id="rId20"/>
    <p:sldId id="3940" r:id="rId21"/>
    <p:sldId id="3943" r:id="rId22"/>
    <p:sldId id="3942" r:id="rId23"/>
    <p:sldId id="3856" r:id="rId24"/>
    <p:sldId id="3909" r:id="rId25"/>
    <p:sldId id="3885" r:id="rId26"/>
    <p:sldId id="3887" r:id="rId27"/>
    <p:sldId id="3886" r:id="rId28"/>
    <p:sldId id="3900" r:id="rId29"/>
    <p:sldId id="3861" r:id="rId30"/>
    <p:sldId id="3865" r:id="rId31"/>
    <p:sldId id="3862" r:id="rId32"/>
    <p:sldId id="3863" r:id="rId33"/>
    <p:sldId id="3864" r:id="rId34"/>
    <p:sldId id="3866" r:id="rId35"/>
    <p:sldId id="3867" r:id="rId36"/>
    <p:sldId id="3868" r:id="rId37"/>
    <p:sldId id="3869" r:id="rId38"/>
    <p:sldId id="3870" r:id="rId39"/>
    <p:sldId id="3944" r:id="rId40"/>
    <p:sldId id="3906" r:id="rId41"/>
    <p:sldId id="3903" r:id="rId42"/>
    <p:sldId id="3935" r:id="rId43"/>
    <p:sldId id="3936" r:id="rId44"/>
    <p:sldId id="3937" r:id="rId45"/>
    <p:sldId id="3904" r:id="rId46"/>
    <p:sldId id="3939" r:id="rId47"/>
    <p:sldId id="3941" r:id="rId48"/>
    <p:sldId id="3905" r:id="rId49"/>
    <p:sldId id="3946" r:id="rId50"/>
    <p:sldId id="3938" r:id="rId51"/>
    <p:sldId id="3876" r:id="rId52"/>
    <p:sldId id="3877" r:id="rId53"/>
    <p:sldId id="3874" r:id="rId54"/>
    <p:sldId id="3873" r:id="rId55"/>
    <p:sldId id="3898" r:id="rId56"/>
    <p:sldId id="3899" r:id="rId57"/>
    <p:sldId id="3913" r:id="rId58"/>
    <p:sldId id="3914" r:id="rId59"/>
    <p:sldId id="3934" r:id="rId60"/>
    <p:sldId id="3921" r:id="rId61"/>
    <p:sldId id="3931" r:id="rId62"/>
    <p:sldId id="3930" r:id="rId63"/>
    <p:sldId id="3947" r:id="rId64"/>
    <p:sldId id="3920" r:id="rId65"/>
    <p:sldId id="3924" r:id="rId66"/>
    <p:sldId id="3923" r:id="rId67"/>
    <p:sldId id="3922" r:id="rId68"/>
    <p:sldId id="3926" r:id="rId69"/>
    <p:sldId id="3925" r:id="rId70"/>
    <p:sldId id="3916" r:id="rId71"/>
    <p:sldId id="3945" r:id="rId72"/>
    <p:sldId id="3875" r:id="rId73"/>
    <p:sldId id="3859" r:id="rId74"/>
    <p:sldId id="3932" r:id="rId75"/>
    <p:sldId id="3850" r:id="rId76"/>
    <p:sldId id="265" r:id="rId77"/>
  </p:sldIdLst>
  <p:sldSz cx="9144000" cy="5143500" type="screen16x9"/>
  <p:notesSz cx="6858000" cy="9144000"/>
  <p:defaultTextStyle>
    <a:defPPr>
      <a:defRPr lang="en-US"/>
    </a:defPPr>
    <a:lvl1pPr marL="0" algn="l" defTabSz="685800" rtl="0" eaLnBrk="1" latinLnBrk="0" hangingPunct="1">
      <a:defRPr sz="1400" kern="1200">
        <a:solidFill>
          <a:schemeClr val="tx1"/>
        </a:solidFill>
        <a:latin typeface="+mn-lt"/>
        <a:ea typeface="+mn-ea"/>
        <a:cs typeface="+mn-cs"/>
      </a:defRPr>
    </a:lvl1pPr>
    <a:lvl2pPr marL="342900" algn="l" defTabSz="685800" rtl="0" eaLnBrk="1" latinLnBrk="0" hangingPunct="1">
      <a:defRPr sz="1400" kern="1200">
        <a:solidFill>
          <a:schemeClr val="tx1"/>
        </a:solidFill>
        <a:latin typeface="+mn-lt"/>
        <a:ea typeface="+mn-ea"/>
        <a:cs typeface="+mn-cs"/>
      </a:defRPr>
    </a:lvl2pPr>
    <a:lvl3pPr marL="685800" algn="l" defTabSz="685800" rtl="0" eaLnBrk="1" latinLnBrk="0" hangingPunct="1">
      <a:defRPr sz="1400" kern="1200">
        <a:solidFill>
          <a:schemeClr val="tx1"/>
        </a:solidFill>
        <a:latin typeface="+mn-lt"/>
        <a:ea typeface="+mn-ea"/>
        <a:cs typeface="+mn-cs"/>
      </a:defRPr>
    </a:lvl3pPr>
    <a:lvl4pPr marL="1028700" algn="l" defTabSz="685800" rtl="0" eaLnBrk="1" latinLnBrk="0" hangingPunct="1">
      <a:defRPr sz="1400" kern="1200">
        <a:solidFill>
          <a:schemeClr val="tx1"/>
        </a:solidFill>
        <a:latin typeface="+mn-lt"/>
        <a:ea typeface="+mn-ea"/>
        <a:cs typeface="+mn-cs"/>
      </a:defRPr>
    </a:lvl4pPr>
    <a:lvl5pPr marL="1371600" algn="l" defTabSz="685800" rtl="0" eaLnBrk="1" latinLnBrk="0" hangingPunct="1">
      <a:defRPr sz="1400" kern="1200">
        <a:solidFill>
          <a:schemeClr val="tx1"/>
        </a:solidFill>
        <a:latin typeface="+mn-lt"/>
        <a:ea typeface="+mn-ea"/>
        <a:cs typeface="+mn-cs"/>
      </a:defRPr>
    </a:lvl5pPr>
    <a:lvl6pPr marL="1714500" algn="l" defTabSz="685800" rtl="0" eaLnBrk="1" latinLnBrk="0" hangingPunct="1">
      <a:defRPr sz="1400" kern="1200">
        <a:solidFill>
          <a:schemeClr val="tx1"/>
        </a:solidFill>
        <a:latin typeface="+mn-lt"/>
        <a:ea typeface="+mn-ea"/>
        <a:cs typeface="+mn-cs"/>
      </a:defRPr>
    </a:lvl6pPr>
    <a:lvl7pPr marL="2057400" algn="l" defTabSz="685800" rtl="0" eaLnBrk="1" latinLnBrk="0" hangingPunct="1">
      <a:defRPr sz="1400" kern="1200">
        <a:solidFill>
          <a:schemeClr val="tx1"/>
        </a:solidFill>
        <a:latin typeface="+mn-lt"/>
        <a:ea typeface="+mn-ea"/>
        <a:cs typeface="+mn-cs"/>
      </a:defRPr>
    </a:lvl7pPr>
    <a:lvl8pPr marL="2400300" algn="l" defTabSz="685800" rtl="0" eaLnBrk="1" latinLnBrk="0" hangingPunct="1">
      <a:defRPr sz="1400" kern="1200">
        <a:solidFill>
          <a:schemeClr val="tx1"/>
        </a:solidFill>
        <a:latin typeface="+mn-lt"/>
        <a:ea typeface="+mn-ea"/>
        <a:cs typeface="+mn-cs"/>
      </a:defRPr>
    </a:lvl8pPr>
    <a:lvl9pPr marL="2743200" algn="l" defTabSz="685800" rtl="0" eaLnBrk="1" latinLnBrk="0" hangingPunct="1">
      <a:defRPr sz="1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6F6"/>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2833802-FEF1-4C79-8D5D-14CF1EAF98D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92" autoAdjust="0"/>
    <p:restoredTop sz="94694" autoAdjust="0"/>
  </p:normalViewPr>
  <p:slideViewPr>
    <p:cSldViewPr snapToGrid="0">
      <p:cViewPr varScale="1">
        <p:scale>
          <a:sx n="138" d="100"/>
          <a:sy n="138" d="100"/>
        </p:scale>
        <p:origin x="1044" y="120"/>
      </p:cViewPr>
      <p:guideLst>
        <p:guide orient="horz" pos="1620"/>
        <p:guide pos="2880"/>
      </p:guideLst>
    </p:cSldViewPr>
  </p:slideViewPr>
  <p:outlineViewPr>
    <p:cViewPr>
      <p:scale>
        <a:sx n="33" d="100"/>
        <a:sy n="33" d="100"/>
      </p:scale>
      <p:origin x="0" y="-374"/>
    </p:cViewPr>
  </p:outlineViewPr>
  <p:notesTextViewPr>
    <p:cViewPr>
      <p:scale>
        <a:sx n="1" d="1"/>
        <a:sy n="1" d="1"/>
      </p:scale>
      <p:origin x="0" y="0"/>
    </p:cViewPr>
  </p:notesTextViewPr>
  <p:sorterViewPr>
    <p:cViewPr>
      <p:scale>
        <a:sx n="100" d="100"/>
        <a:sy n="100" d="100"/>
      </p:scale>
      <p:origin x="0" y="-1757"/>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microsoft.com/office/2018/10/relationships/authors" Target="author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handoutMaster" Target="handoutMasters/handoutMaster1.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theme" Target="theme/them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notesMaster" Target="notesMasters/notesMaster1.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76AB79-C677-3DB7-78CF-9305D58614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13AB137-CEA6-0244-F12B-1ECC21172D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C994AA-C437-4EF4-8BEF-0B832D7FA420}" type="datetimeFigureOut">
              <a:rPr lang="en-US" smtClean="0"/>
              <a:pPr/>
              <a:t>4/9/2026</a:t>
            </a:fld>
            <a:endParaRPr lang="en-US" dirty="0"/>
          </a:p>
        </p:txBody>
      </p:sp>
      <p:sp>
        <p:nvSpPr>
          <p:cNvPr id="4" name="Footer Placeholder 3">
            <a:extLst>
              <a:ext uri="{FF2B5EF4-FFF2-40B4-BE49-F238E27FC236}">
                <a16:creationId xmlns:a16="http://schemas.microsoft.com/office/drawing/2014/main" id="{0868EC96-C6CC-F2AF-D90F-143F4D20A07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94F8EC8D-EF88-0275-F75C-A789924433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57874-EF65-4B61-B062-40C932C81294}" type="slidenum">
              <a:rPr lang="en-US" smtClean="0"/>
              <a:pPr/>
              <a:t>‹#›</a:t>
            </a:fld>
            <a:endParaRPr lang="en-US" dirty="0"/>
          </a:p>
        </p:txBody>
      </p:sp>
    </p:spTree>
    <p:extLst>
      <p:ext uri="{BB962C8B-B14F-4D97-AF65-F5344CB8AC3E}">
        <p14:creationId xmlns:p14="http://schemas.microsoft.com/office/powerpoint/2010/main" val="34720278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20CE03-6C3A-EB4D-A9B1-7EFD38B58412}" type="datetimeFigureOut">
              <a:rPr lang="en-US" smtClean="0"/>
              <a:pPr/>
              <a:t>4/9/2026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57D50D-BAA9-464B-B391-243138E078D8}" type="slidenum">
              <a:rPr lang="en-US" smtClean="0"/>
              <a:pPr/>
              <a:t>‹#›</a:t>
            </a:fld>
            <a:endParaRPr lang="en-US" dirty="0"/>
          </a:p>
        </p:txBody>
      </p:sp>
    </p:spTree>
    <p:extLst>
      <p:ext uri="{BB962C8B-B14F-4D97-AF65-F5344CB8AC3E}">
        <p14:creationId xmlns:p14="http://schemas.microsoft.com/office/powerpoint/2010/main" val="49092468"/>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a:t>
            </a:fld>
            <a:endParaRPr lang="en-US" dirty="0"/>
          </a:p>
        </p:txBody>
      </p:sp>
    </p:spTree>
    <p:extLst>
      <p:ext uri="{BB962C8B-B14F-4D97-AF65-F5344CB8AC3E}">
        <p14:creationId xmlns:p14="http://schemas.microsoft.com/office/powerpoint/2010/main" val="23882297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a:t>
            </a:fld>
            <a:endParaRPr lang="en-US" dirty="0"/>
          </a:p>
        </p:txBody>
      </p:sp>
    </p:spTree>
    <p:extLst>
      <p:ext uri="{BB962C8B-B14F-4D97-AF65-F5344CB8AC3E}">
        <p14:creationId xmlns:p14="http://schemas.microsoft.com/office/powerpoint/2010/main" val="4167033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a:t>
            </a:fld>
            <a:endParaRPr lang="en-US" dirty="0"/>
          </a:p>
        </p:txBody>
      </p:sp>
    </p:spTree>
    <p:extLst>
      <p:ext uri="{BB962C8B-B14F-4D97-AF65-F5344CB8AC3E}">
        <p14:creationId xmlns:p14="http://schemas.microsoft.com/office/powerpoint/2010/main" val="1951919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a:t>
            </a:fld>
            <a:endParaRPr lang="en-US" dirty="0"/>
          </a:p>
        </p:txBody>
      </p:sp>
    </p:spTree>
    <p:extLst>
      <p:ext uri="{BB962C8B-B14F-4D97-AF65-F5344CB8AC3E}">
        <p14:creationId xmlns:p14="http://schemas.microsoft.com/office/powerpoint/2010/main" val="25400281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5</a:t>
            </a:fld>
            <a:endParaRPr lang="en-US" dirty="0"/>
          </a:p>
        </p:txBody>
      </p:sp>
    </p:spTree>
    <p:extLst>
      <p:ext uri="{BB962C8B-B14F-4D97-AF65-F5344CB8AC3E}">
        <p14:creationId xmlns:p14="http://schemas.microsoft.com/office/powerpoint/2010/main" val="40223768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a:t>
            </a:fld>
            <a:endParaRPr lang="en-US" dirty="0"/>
          </a:p>
        </p:txBody>
      </p:sp>
    </p:spTree>
    <p:extLst>
      <p:ext uri="{BB962C8B-B14F-4D97-AF65-F5344CB8AC3E}">
        <p14:creationId xmlns:p14="http://schemas.microsoft.com/office/powerpoint/2010/main" val="2540028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7</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1235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9</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10</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11</a:t>
            </a:fld>
            <a:endParaRPr lang="en-US" dirty="0"/>
          </a:p>
        </p:txBody>
      </p:sp>
    </p:spTree>
    <p:extLst>
      <p:ext uri="{BB962C8B-B14F-4D97-AF65-F5344CB8AC3E}">
        <p14:creationId xmlns:p14="http://schemas.microsoft.com/office/powerpoint/2010/main" val="25400281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12</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13</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14</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15</a:t>
            </a:fld>
            <a:endParaRPr lang="en-US" dirty="0"/>
          </a:p>
        </p:txBody>
      </p:sp>
    </p:spTree>
    <p:extLst>
      <p:ext uri="{BB962C8B-B14F-4D97-AF65-F5344CB8AC3E}">
        <p14:creationId xmlns:p14="http://schemas.microsoft.com/office/powerpoint/2010/main" val="18530310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16</a:t>
            </a:fld>
            <a:endParaRPr lang="en-US" dirty="0"/>
          </a:p>
        </p:txBody>
      </p:sp>
    </p:spTree>
    <p:extLst>
      <p:ext uri="{BB962C8B-B14F-4D97-AF65-F5344CB8AC3E}">
        <p14:creationId xmlns:p14="http://schemas.microsoft.com/office/powerpoint/2010/main" val="2140627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63240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2023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329136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20</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21</a:t>
            </a:fld>
            <a:endParaRPr lang="en-US" dirty="0"/>
          </a:p>
        </p:txBody>
      </p:sp>
    </p:spTree>
    <p:extLst>
      <p:ext uri="{BB962C8B-B14F-4D97-AF65-F5344CB8AC3E}">
        <p14:creationId xmlns:p14="http://schemas.microsoft.com/office/powerpoint/2010/main" val="33062679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22</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23</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24</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25</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26</a:t>
            </a:fld>
            <a:endParaRPr lang="en-US" dirty="0"/>
          </a:p>
        </p:txBody>
      </p:sp>
    </p:spTree>
    <p:extLst>
      <p:ext uri="{BB962C8B-B14F-4D97-AF65-F5344CB8AC3E}">
        <p14:creationId xmlns:p14="http://schemas.microsoft.com/office/powerpoint/2010/main" val="17211098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27</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28</a:t>
            </a:fld>
            <a:endParaRPr lang="en-US" dirty="0"/>
          </a:p>
        </p:txBody>
      </p:sp>
    </p:spTree>
    <p:extLst>
      <p:ext uri="{BB962C8B-B14F-4D97-AF65-F5344CB8AC3E}">
        <p14:creationId xmlns:p14="http://schemas.microsoft.com/office/powerpoint/2010/main" val="25400281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29</a:t>
            </a:fld>
            <a:endParaRPr lang="en-US" dirty="0"/>
          </a:p>
        </p:txBody>
      </p:sp>
    </p:spTree>
    <p:extLst>
      <p:ext uri="{BB962C8B-B14F-4D97-AF65-F5344CB8AC3E}">
        <p14:creationId xmlns:p14="http://schemas.microsoft.com/office/powerpoint/2010/main" val="23160916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30</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31</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32</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33</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34</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35</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820181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37</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38</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63182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1887086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7066451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42</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43</a:t>
            </a:fld>
            <a:endParaRPr lang="en-US" dirty="0"/>
          </a:p>
        </p:txBody>
      </p:sp>
    </p:spTree>
    <p:extLst>
      <p:ext uri="{BB962C8B-B14F-4D97-AF65-F5344CB8AC3E}">
        <p14:creationId xmlns:p14="http://schemas.microsoft.com/office/powerpoint/2010/main" val="27968938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44</a:t>
            </a:fld>
            <a:endParaRPr lang="en-US" dirty="0"/>
          </a:p>
        </p:txBody>
      </p:sp>
    </p:spTree>
    <p:extLst>
      <p:ext uri="{BB962C8B-B14F-4D97-AF65-F5344CB8AC3E}">
        <p14:creationId xmlns:p14="http://schemas.microsoft.com/office/powerpoint/2010/main" val="79943682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45</a:t>
            </a:fld>
            <a:endParaRPr lang="en-US" dirty="0"/>
          </a:p>
        </p:txBody>
      </p:sp>
    </p:spTree>
    <p:extLst>
      <p:ext uri="{BB962C8B-B14F-4D97-AF65-F5344CB8AC3E}">
        <p14:creationId xmlns:p14="http://schemas.microsoft.com/office/powerpoint/2010/main" val="92294927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424407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604149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48</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49</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50</a:t>
            </a:fld>
            <a:endParaRPr lang="en-US" dirty="0"/>
          </a:p>
        </p:txBody>
      </p:sp>
    </p:spTree>
    <p:extLst>
      <p:ext uri="{BB962C8B-B14F-4D97-AF65-F5344CB8AC3E}">
        <p14:creationId xmlns:p14="http://schemas.microsoft.com/office/powerpoint/2010/main" val="2028402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51</a:t>
            </a:fld>
            <a:endParaRPr lang="en-US" dirty="0"/>
          </a:p>
        </p:txBody>
      </p:sp>
    </p:spTree>
    <p:extLst>
      <p:ext uri="{BB962C8B-B14F-4D97-AF65-F5344CB8AC3E}">
        <p14:creationId xmlns:p14="http://schemas.microsoft.com/office/powerpoint/2010/main" val="202840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52</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53</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375393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593000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308041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3080418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58</a:t>
            </a:fld>
            <a:endParaRPr lang="en-US" dirty="0"/>
          </a:p>
        </p:txBody>
      </p:sp>
    </p:spTree>
    <p:extLst>
      <p:ext uri="{BB962C8B-B14F-4D97-AF65-F5344CB8AC3E}">
        <p14:creationId xmlns:p14="http://schemas.microsoft.com/office/powerpoint/2010/main" val="9160397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204487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318830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61</a:t>
            </a:fld>
            <a:endParaRPr lang="en-US" dirty="0"/>
          </a:p>
        </p:txBody>
      </p:sp>
    </p:spTree>
    <p:extLst>
      <p:ext uri="{BB962C8B-B14F-4D97-AF65-F5344CB8AC3E}">
        <p14:creationId xmlns:p14="http://schemas.microsoft.com/office/powerpoint/2010/main" val="197911721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62</a:t>
            </a:fld>
            <a:endParaRPr lang="en-US" dirty="0"/>
          </a:p>
        </p:txBody>
      </p:sp>
    </p:spTree>
    <p:extLst>
      <p:ext uri="{BB962C8B-B14F-4D97-AF65-F5344CB8AC3E}">
        <p14:creationId xmlns:p14="http://schemas.microsoft.com/office/powerpoint/2010/main" val="205840911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63</a:t>
            </a:fld>
            <a:endParaRPr lang="en-US" dirty="0"/>
          </a:p>
        </p:txBody>
      </p:sp>
    </p:spTree>
    <p:extLst>
      <p:ext uri="{BB962C8B-B14F-4D97-AF65-F5344CB8AC3E}">
        <p14:creationId xmlns:p14="http://schemas.microsoft.com/office/powerpoint/2010/main" val="427527487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64</a:t>
            </a:fld>
            <a:endParaRPr lang="en-US" dirty="0"/>
          </a:p>
        </p:txBody>
      </p:sp>
    </p:spTree>
    <p:extLst>
      <p:ext uri="{BB962C8B-B14F-4D97-AF65-F5344CB8AC3E}">
        <p14:creationId xmlns:p14="http://schemas.microsoft.com/office/powerpoint/2010/main" val="286359496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65</a:t>
            </a:fld>
            <a:endParaRPr lang="en-US" dirty="0"/>
          </a:p>
        </p:txBody>
      </p:sp>
    </p:spTree>
    <p:extLst>
      <p:ext uri="{BB962C8B-B14F-4D97-AF65-F5344CB8AC3E}">
        <p14:creationId xmlns:p14="http://schemas.microsoft.com/office/powerpoint/2010/main" val="217311452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66</a:t>
            </a:fld>
            <a:endParaRPr lang="en-US" dirty="0"/>
          </a:p>
        </p:txBody>
      </p:sp>
    </p:spTree>
    <p:extLst>
      <p:ext uri="{BB962C8B-B14F-4D97-AF65-F5344CB8AC3E}">
        <p14:creationId xmlns:p14="http://schemas.microsoft.com/office/powerpoint/2010/main" val="253594263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67</a:t>
            </a:fld>
            <a:endParaRPr lang="en-US" dirty="0"/>
          </a:p>
        </p:txBody>
      </p:sp>
    </p:spTree>
    <p:extLst>
      <p:ext uri="{BB962C8B-B14F-4D97-AF65-F5344CB8AC3E}">
        <p14:creationId xmlns:p14="http://schemas.microsoft.com/office/powerpoint/2010/main" val="284079362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8B57D50D-BAA9-464B-B391-243138E078D8}"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9808798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69</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70</a:t>
            </a:fld>
            <a:endParaRPr lang="en-US" dirty="0"/>
          </a:p>
        </p:txBody>
      </p:sp>
    </p:spTree>
    <p:extLst>
      <p:ext uri="{BB962C8B-B14F-4D97-AF65-F5344CB8AC3E}">
        <p14:creationId xmlns:p14="http://schemas.microsoft.com/office/powerpoint/2010/main" val="41512290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71</a:t>
            </a:fld>
            <a:endParaRPr lang="en-US" dirty="0"/>
          </a:p>
        </p:txBody>
      </p:sp>
    </p:spTree>
    <p:extLst>
      <p:ext uri="{BB962C8B-B14F-4D97-AF65-F5344CB8AC3E}">
        <p14:creationId xmlns:p14="http://schemas.microsoft.com/office/powerpoint/2010/main" val="73768181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72</a:t>
            </a:fld>
            <a:endParaRPr lang="en-US" dirty="0"/>
          </a:p>
        </p:txBody>
      </p:sp>
    </p:spTree>
    <p:extLst>
      <p:ext uri="{BB962C8B-B14F-4D97-AF65-F5344CB8AC3E}">
        <p14:creationId xmlns:p14="http://schemas.microsoft.com/office/powerpoint/2010/main" val="352253832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57D50D-BAA9-464B-B391-243138E078D8}" type="slidenum">
              <a:rPr lang="en-US" smtClean="0"/>
              <a:pPr/>
              <a:t>73</a:t>
            </a:fld>
            <a:endParaRPr lang="en-US" dirty="0"/>
          </a:p>
        </p:txBody>
      </p:sp>
    </p:spTree>
    <p:extLst>
      <p:ext uri="{BB962C8B-B14F-4D97-AF65-F5344CB8AC3E}">
        <p14:creationId xmlns:p14="http://schemas.microsoft.com/office/powerpoint/2010/main" val="17211098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9429764-E305-A48D-5244-9BCD20902244}"/>
              </a:ext>
              <a:ext uri="{C183D7F6-B498-43B3-948B-1728B52AA6E4}">
                <adec:decorative xmlns:adec="http://schemas.microsoft.com/office/drawing/2017/decorative" val="1"/>
              </a:ext>
            </a:extLst>
          </p:cNvPr>
          <p:cNvGrpSpPr/>
          <p:nvPr userDrawn="1"/>
        </p:nvGrpSpPr>
        <p:grpSpPr>
          <a:xfrm>
            <a:off x="0" y="1"/>
            <a:ext cx="9144000" cy="6215144"/>
            <a:chOff x="0" y="1"/>
            <a:chExt cx="12192000" cy="8286859"/>
          </a:xfrm>
        </p:grpSpPr>
        <p:sp>
          <p:nvSpPr>
            <p:cNvPr id="7" name="Freeform 13">
              <a:extLst>
                <a:ext uri="{FF2B5EF4-FFF2-40B4-BE49-F238E27FC236}">
                  <a16:creationId xmlns:a16="http://schemas.microsoft.com/office/drawing/2014/main" id="{45F65CE3-2411-E8E5-B72E-F5CBEC4DDC55}"/>
                </a:ext>
              </a:extLst>
            </p:cNvPr>
            <p:cNvSpPr/>
            <p:nvPr userDrawn="1"/>
          </p:nvSpPr>
          <p:spPr>
            <a:xfrm>
              <a:off x="4000500" y="1087403"/>
              <a:ext cx="8191500" cy="5770597"/>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B6B51B3-AA6C-9C5E-7032-5AEA05D45908}"/>
                </a:ext>
              </a:extLst>
            </p:cNvPr>
            <p:cNvCxnSpPr>
              <a:cxnSpLocks/>
            </p:cNvCxnSpPr>
            <p:nvPr userDrawn="1"/>
          </p:nvCxnSpPr>
          <p:spPr>
            <a:xfrm>
              <a:off x="406241" y="183933"/>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9" name="Freeform: Shape 13">
              <a:extLst>
                <a:ext uri="{FF2B5EF4-FFF2-40B4-BE49-F238E27FC236}">
                  <a16:creationId xmlns:a16="http://schemas.microsoft.com/office/drawing/2014/main" id="{4F28561D-5B3C-F08A-F7B5-48E6B74EAEBD}"/>
                </a:ext>
              </a:extLst>
            </p:cNvPr>
            <p:cNvSpPr/>
            <p:nvPr userDrawn="1"/>
          </p:nvSpPr>
          <p:spPr>
            <a:xfrm>
              <a:off x="5292348" y="1"/>
              <a:ext cx="2279742" cy="1267785"/>
            </a:xfrm>
            <a:custGeom>
              <a:avLst/>
              <a:gdLst>
                <a:gd name="connsiteX0" fmla="*/ 0 w 2279742"/>
                <a:gd name="connsiteY0" fmla="*/ 0 h 1267785"/>
                <a:gd name="connsiteX1" fmla="*/ 138700 w 2279742"/>
                <a:gd name="connsiteY1" fmla="*/ 0 h 1267785"/>
                <a:gd name="connsiteX2" fmla="*/ 138700 w 2279742"/>
                <a:gd name="connsiteY2" fmla="*/ 1078193 h 1267785"/>
                <a:gd name="connsiteX3" fmla="*/ 2002733 w 2279742"/>
                <a:gd name="connsiteY3" fmla="*/ 0 h 1267785"/>
                <a:gd name="connsiteX4" fmla="*/ 2279742 w 2279742"/>
                <a:gd name="connsiteY4" fmla="*/ 0 h 1267785"/>
                <a:gd name="connsiteX5" fmla="*/ 104026 w 2279742"/>
                <a:gd name="connsiteY5" fmla="*/ 1258503 h 1267785"/>
                <a:gd name="connsiteX6" fmla="*/ 69351 w 2279742"/>
                <a:gd name="connsiteY6" fmla="*/ 1267785 h 1267785"/>
                <a:gd name="connsiteX7" fmla="*/ 0 w 2279742"/>
                <a:gd name="connsiteY7" fmla="*/ 1198436 h 1267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79742" h="1267785">
                  <a:moveTo>
                    <a:pt x="0" y="0"/>
                  </a:moveTo>
                  <a:lnTo>
                    <a:pt x="138700" y="0"/>
                  </a:lnTo>
                  <a:lnTo>
                    <a:pt x="138700" y="1078193"/>
                  </a:lnTo>
                  <a:lnTo>
                    <a:pt x="2002733" y="0"/>
                  </a:lnTo>
                  <a:lnTo>
                    <a:pt x="2279742" y="0"/>
                  </a:lnTo>
                  <a:lnTo>
                    <a:pt x="104026" y="1258503"/>
                  </a:lnTo>
                  <a:cubicBezTo>
                    <a:pt x="93484" y="1264595"/>
                    <a:pt x="81523" y="1267796"/>
                    <a:pt x="69351" y="1267785"/>
                  </a:cubicBezTo>
                  <a:cubicBezTo>
                    <a:pt x="31049" y="1267785"/>
                    <a:pt x="0" y="1236737"/>
                    <a:pt x="0" y="1198436"/>
                  </a:cubicBezTo>
                  <a:close/>
                </a:path>
              </a:pathLst>
            </a:custGeom>
            <a:solidFill>
              <a:schemeClr val="accent6"/>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Freeform: Shape 15">
              <a:extLst>
                <a:ext uri="{FF2B5EF4-FFF2-40B4-BE49-F238E27FC236}">
                  <a16:creationId xmlns:a16="http://schemas.microsoft.com/office/drawing/2014/main" id="{7BD7FF70-44B7-E753-26CD-E228B56C2517}"/>
                </a:ext>
              </a:extLst>
            </p:cNvPr>
            <p:cNvSpPr/>
            <p:nvPr userDrawn="1"/>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DF9EE857-93B9-ACF6-2AB4-2A29C4B94776}"/>
                </a:ext>
              </a:extLst>
            </p:cNvPr>
            <p:cNvSpPr/>
            <p:nvPr userDrawn="1"/>
          </p:nvSpPr>
          <p:spPr>
            <a:xfrm>
              <a:off x="1569044" y="514898"/>
              <a:ext cx="2393351" cy="232842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2" name="Freeform: Shape 19">
              <a:extLst>
                <a:ext uri="{FF2B5EF4-FFF2-40B4-BE49-F238E27FC236}">
                  <a16:creationId xmlns:a16="http://schemas.microsoft.com/office/drawing/2014/main" id="{75030D84-5EEB-A095-3D43-0ED22BDB8406}"/>
                </a:ext>
              </a:extLst>
            </p:cNvPr>
            <p:cNvSpPr/>
            <p:nvPr userDrawn="1"/>
          </p:nvSpPr>
          <p:spPr>
            <a:xfrm flipH="1">
              <a:off x="0" y="2949740"/>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Arc 12">
              <a:extLst>
                <a:ext uri="{FF2B5EF4-FFF2-40B4-BE49-F238E27FC236}">
                  <a16:creationId xmlns:a16="http://schemas.microsoft.com/office/drawing/2014/main" id="{26E6DE3E-6851-19AD-2E60-22F006238173}"/>
                </a:ext>
              </a:extLst>
            </p:cNvPr>
            <p:cNvSpPr/>
            <p:nvPr userDrawn="1"/>
          </p:nvSpPr>
          <p:spPr>
            <a:xfrm rot="16200000">
              <a:off x="1539683" y="4203427"/>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6" name="Title 1">
            <a:extLst>
              <a:ext uri="{FF2B5EF4-FFF2-40B4-BE49-F238E27FC236}">
                <a16:creationId xmlns:a16="http://schemas.microsoft.com/office/drawing/2014/main" id="{2E8C189B-2E00-67DA-E342-3440F5EBB4CE}"/>
              </a:ext>
            </a:extLst>
          </p:cNvPr>
          <p:cNvSpPr>
            <a:spLocks noGrp="1"/>
          </p:cNvSpPr>
          <p:nvPr>
            <p:ph type="ctrTitle" hasCustomPrompt="1"/>
          </p:nvPr>
        </p:nvSpPr>
        <p:spPr>
          <a:xfrm>
            <a:off x="3888356" y="2212304"/>
            <a:ext cx="4695968" cy="1797515"/>
          </a:xfrm>
        </p:spPr>
        <p:txBody>
          <a:bodyPr anchor="b" anchorCtr="0">
            <a:noAutofit/>
          </a:bodyPr>
          <a:lstStyle>
            <a:lvl1pPr algn="r">
              <a:defRPr sz="3300">
                <a:solidFill>
                  <a:schemeClr val="bg1"/>
                </a:solidFill>
              </a:defRPr>
            </a:lvl1pPr>
          </a:lstStyle>
          <a:p>
            <a:r>
              <a:rPr lang="en-US" dirty="0"/>
              <a:t>Click to add title</a:t>
            </a:r>
          </a:p>
        </p:txBody>
      </p:sp>
    </p:spTree>
    <p:extLst>
      <p:ext uri="{BB962C8B-B14F-4D97-AF65-F5344CB8AC3E}">
        <p14:creationId xmlns:p14="http://schemas.microsoft.com/office/powerpoint/2010/main" val="34246750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E96D25F-53A2-6217-84B4-7EB874F0B372}"/>
              </a:ext>
              <a:ext uri="{C183D7F6-B498-43B3-948B-1728B52AA6E4}">
                <adec:decorative xmlns:adec="http://schemas.microsoft.com/office/drawing/2017/decorative" val="1"/>
              </a:ext>
            </a:extLst>
          </p:cNvPr>
          <p:cNvGrpSpPr/>
          <p:nvPr userDrawn="1"/>
        </p:nvGrpSpPr>
        <p:grpSpPr>
          <a:xfrm>
            <a:off x="366892" y="705861"/>
            <a:ext cx="8386823" cy="3598366"/>
            <a:chOff x="489189" y="941148"/>
            <a:chExt cx="11182430" cy="4797821"/>
          </a:xfrm>
        </p:grpSpPr>
        <p:sp>
          <p:nvSpPr>
            <p:cNvPr id="8" name="Oval 7">
              <a:extLst>
                <a:ext uri="{FF2B5EF4-FFF2-40B4-BE49-F238E27FC236}">
                  <a16:creationId xmlns:a16="http://schemas.microsoft.com/office/drawing/2014/main" id="{A50FA62D-C8AE-52B8-1712-6116756D1A83}"/>
                </a:ext>
              </a:extLst>
            </p:cNvPr>
            <p:cNvSpPr/>
            <p:nvPr userDrawn="1"/>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Arc 8">
              <a:extLst>
                <a:ext uri="{FF2B5EF4-FFF2-40B4-BE49-F238E27FC236}">
                  <a16:creationId xmlns:a16="http://schemas.microsoft.com/office/drawing/2014/main" id="{1D2D6A01-57CF-3C0B-968C-E5A8FD352320}"/>
                </a:ext>
              </a:extLst>
            </p:cNvPr>
            <p:cNvSpPr/>
            <p:nvPr userDrawn="1"/>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410BEFAA-C349-7DB1-1827-0FA48A430AD8}"/>
                </a:ext>
              </a:extLst>
            </p:cNvPr>
            <p:cNvSpPr/>
            <p:nvPr userDrawn="1"/>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457468" y="839273"/>
            <a:ext cx="3288552" cy="3464954"/>
          </a:xfrm>
        </p:spPr>
        <p:txBody>
          <a:bodyPr>
            <a:noAutofit/>
          </a:bodyPr>
          <a:lstStyle>
            <a:lvl1pPr algn="ctr">
              <a:defRPr>
                <a:solidFill>
                  <a:schemeClr val="bg1"/>
                </a:solidFill>
              </a:defRPr>
            </a:lvl1pPr>
          </a:lstStyle>
          <a:p>
            <a:r>
              <a:rPr lang="en-US" dirty="0"/>
              <a:t>Click to add title</a:t>
            </a:r>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4351282" y="416207"/>
            <a:ext cx="4164068" cy="4326165"/>
          </a:xfrm>
        </p:spPr>
        <p:txBody>
          <a:bodyPr anchor="ctr" anchorCtr="0">
            <a:normAutofit/>
          </a:bodyPr>
          <a:lstStyle>
            <a:lvl1pPr marL="0" indent="0">
              <a:spcBef>
                <a:spcPts val="750"/>
              </a:spcBef>
              <a:spcAft>
                <a:spcPts val="600"/>
              </a:spcAft>
              <a:buNone/>
              <a:defRPr sz="1800"/>
            </a:lvl1pPr>
            <a:lvl2pPr marL="600075" indent="-257175">
              <a:spcBef>
                <a:spcPts val="750"/>
              </a:spcBef>
              <a:spcAft>
                <a:spcPts val="600"/>
              </a:spcAft>
              <a:buClr>
                <a:schemeClr val="accent2"/>
              </a:buClr>
              <a:buFont typeface="Arial" panose="020B0604020202020204" pitchFamily="34" charset="0"/>
              <a:buChar char="•"/>
              <a:defRPr sz="1500"/>
            </a:lvl2pPr>
            <a:lvl3pPr marL="900113" indent="-214313">
              <a:spcBef>
                <a:spcPts val="750"/>
              </a:spcBef>
              <a:spcAft>
                <a:spcPts val="600"/>
              </a:spcAft>
              <a:buClr>
                <a:schemeClr val="accent2"/>
              </a:buClr>
              <a:buFont typeface="Arial" panose="020B0604020202020204" pitchFamily="34" charset="0"/>
              <a:buChar char="•"/>
              <a:defRPr sz="1400"/>
            </a:lvl3pPr>
            <a:lvl4pPr marL="1243013" indent="-214313">
              <a:spcBef>
                <a:spcPts val="750"/>
              </a:spcBef>
              <a:spcAft>
                <a:spcPts val="600"/>
              </a:spcAft>
              <a:buClr>
                <a:schemeClr val="accent2"/>
              </a:buClr>
              <a:buFont typeface="Arial" panose="020B0604020202020204" pitchFamily="34" charset="0"/>
              <a:buChar char="•"/>
              <a:defRPr sz="1200"/>
            </a:lvl4pPr>
            <a:lvl5pPr marL="1585913" indent="-214313">
              <a:spcBef>
                <a:spcPts val="750"/>
              </a:spcBef>
              <a:spcAft>
                <a:spcPts val="600"/>
              </a:spcAft>
              <a:buClr>
                <a:schemeClr val="accent2"/>
              </a:buClr>
              <a:buFont typeface="Arial" panose="020B0604020202020204" pitchFamily="34" charset="0"/>
              <a:buChar cha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143880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p:bg>
      <p:bgPr>
        <a:solidFill>
          <a:schemeClr val="bg1"/>
        </a:solidFill>
        <a:effectLst/>
      </p:bgPr>
    </p:bg>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EF93C3C-09E9-6CD0-EF4B-6DE09539EE7A}"/>
              </a:ext>
            </a:extLst>
          </p:cNvPr>
          <p:cNvSpPr>
            <a:spLocks noGrp="1"/>
          </p:cNvSpPr>
          <p:nvPr>
            <p:ph type="pic" sz="quarter" idx="10" hasCustomPrompt="1"/>
          </p:nvPr>
        </p:nvSpPr>
        <p:spPr>
          <a:xfrm>
            <a:off x="0" y="0"/>
            <a:ext cx="9144000" cy="5143500"/>
          </a:xfrm>
          <a:custGeom>
            <a:avLst/>
            <a:gdLst>
              <a:gd name="connsiteX0" fmla="*/ 9011782 w 12192000"/>
              <a:gd name="connsiteY0" fmla="*/ 4817511 h 6858000"/>
              <a:gd name="connsiteX1" fmla="*/ 8937059 w 12192000"/>
              <a:gd name="connsiteY1" fmla="*/ 4972626 h 6858000"/>
              <a:gd name="connsiteX2" fmla="*/ 8588084 w 12192000"/>
              <a:gd name="connsiteY2" fmla="*/ 5489438 h 6858000"/>
              <a:gd name="connsiteX3" fmla="*/ 8565206 w 12192000"/>
              <a:gd name="connsiteY3" fmla="*/ 5514611 h 6858000"/>
              <a:gd name="connsiteX4" fmla="*/ 8569944 w 12192000"/>
              <a:gd name="connsiteY4" fmla="*/ 5520198 h 6858000"/>
              <a:gd name="connsiteX5" fmla="*/ 8878607 w 12192000"/>
              <a:gd name="connsiteY5" fmla="*/ 5644582 h 6858000"/>
              <a:gd name="connsiteX6" fmla="*/ 9315123 w 12192000"/>
              <a:gd name="connsiteY6" fmla="*/ 5219907 h 6858000"/>
              <a:gd name="connsiteX7" fmla="*/ 9048519 w 12192000"/>
              <a:gd name="connsiteY7" fmla="*/ 4828605 h 6858000"/>
              <a:gd name="connsiteX8" fmla="*/ 6096000 w 12192000"/>
              <a:gd name="connsiteY8" fmla="*/ 200625 h 6858000"/>
              <a:gd name="connsiteX9" fmla="*/ 2867625 w 12192000"/>
              <a:gd name="connsiteY9" fmla="*/ 3429000 h 6858000"/>
              <a:gd name="connsiteX10" fmla="*/ 6096000 w 12192000"/>
              <a:gd name="connsiteY10" fmla="*/ 6657375 h 6858000"/>
              <a:gd name="connsiteX11" fmla="*/ 9324375 w 12192000"/>
              <a:gd name="connsiteY11" fmla="*/ 3429000 h 6858000"/>
              <a:gd name="connsiteX12" fmla="*/ 6096000 w 12192000"/>
              <a:gd name="connsiteY12" fmla="*/ 200625 h 6858000"/>
              <a:gd name="connsiteX13" fmla="*/ 0 w 12192000"/>
              <a:gd name="connsiteY13" fmla="*/ 0 h 6858000"/>
              <a:gd name="connsiteX14" fmla="*/ 12192000 w 12192000"/>
              <a:gd name="connsiteY14" fmla="*/ 0 h 6858000"/>
              <a:gd name="connsiteX15" fmla="*/ 12192000 w 12192000"/>
              <a:gd name="connsiteY15" fmla="*/ 6858000 h 6858000"/>
              <a:gd name="connsiteX16" fmla="*/ 0 w 12192000"/>
              <a:gd name="connsiteY1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6858000">
                <a:moveTo>
                  <a:pt x="9011782" y="4817511"/>
                </a:moveTo>
                <a:lnTo>
                  <a:pt x="8937059" y="4972626"/>
                </a:lnTo>
                <a:cubicBezTo>
                  <a:pt x="8837255" y="5156349"/>
                  <a:pt x="8720206" y="5329344"/>
                  <a:pt x="8588084" y="5489438"/>
                </a:cubicBezTo>
                <a:lnTo>
                  <a:pt x="8565206" y="5514611"/>
                </a:lnTo>
                <a:lnTo>
                  <a:pt x="8569944" y="5520198"/>
                </a:lnTo>
                <a:cubicBezTo>
                  <a:pt x="8648938" y="5597049"/>
                  <a:pt x="8758066" y="5644582"/>
                  <a:pt x="8878607" y="5644582"/>
                </a:cubicBezTo>
                <a:cubicBezTo>
                  <a:pt x="9119688" y="5644582"/>
                  <a:pt x="9315123" y="5454449"/>
                  <a:pt x="9315123" y="5219907"/>
                </a:cubicBezTo>
                <a:cubicBezTo>
                  <a:pt x="9315123" y="5044001"/>
                  <a:pt x="9205191" y="4893074"/>
                  <a:pt x="9048519" y="4828605"/>
                </a:cubicBezTo>
                <a:close/>
                <a:moveTo>
                  <a:pt x="6096000" y="200625"/>
                </a:moveTo>
                <a:cubicBezTo>
                  <a:pt x="4313018" y="200625"/>
                  <a:pt x="2867625" y="1646018"/>
                  <a:pt x="2867625" y="3429000"/>
                </a:cubicBezTo>
                <a:cubicBezTo>
                  <a:pt x="2867625" y="5211982"/>
                  <a:pt x="4313018" y="6657375"/>
                  <a:pt x="6096000" y="6657375"/>
                </a:cubicBezTo>
                <a:cubicBezTo>
                  <a:pt x="7878982" y="6657375"/>
                  <a:pt x="9324375" y="5211982"/>
                  <a:pt x="9324375" y="3429000"/>
                </a:cubicBezTo>
                <a:cubicBezTo>
                  <a:pt x="9324375" y="1646018"/>
                  <a:pt x="7878982" y="200625"/>
                  <a:pt x="6096000" y="200625"/>
                </a:cubicBezTo>
                <a:close/>
                <a:moveTo>
                  <a:pt x="0" y="0"/>
                </a:moveTo>
                <a:lnTo>
                  <a:pt x="12192000" y="0"/>
                </a:lnTo>
                <a:lnTo>
                  <a:pt x="12192000" y="6858000"/>
                </a:lnTo>
                <a:lnTo>
                  <a:pt x="0" y="6858000"/>
                </a:lnTo>
                <a:close/>
              </a:path>
            </a:pathLst>
          </a:custGeom>
          <a:solidFill>
            <a:schemeClr val="tx1"/>
          </a:solidFill>
        </p:spPr>
        <p:txBody>
          <a:bodyPr wrap="square">
            <a:noAutofit/>
          </a:bodyPr>
          <a:lstStyle>
            <a:lvl1pPr marL="0" indent="0" algn="l">
              <a:buNone/>
              <a:defRPr sz="1500">
                <a:solidFill>
                  <a:schemeClr val="bg1"/>
                </a:solidFill>
              </a:defRPr>
            </a:lvl1pPr>
          </a:lstStyle>
          <a:p>
            <a:r>
              <a:rPr lang="en-US" dirty="0"/>
              <a:t>Click icon to insert picture</a:t>
            </a:r>
          </a:p>
        </p:txBody>
      </p:sp>
      <p:sp>
        <p:nvSpPr>
          <p:cNvPr id="3" name="Arc 2">
            <a:extLst>
              <a:ext uri="{FF2B5EF4-FFF2-40B4-BE49-F238E27FC236}">
                <a16:creationId xmlns:a16="http://schemas.microsoft.com/office/drawing/2014/main" id="{D5C3C4BD-DFDB-76B4-17CA-7DA4D1729FA1}"/>
              </a:ext>
              <a:ext uri="{C183D7F6-B498-43B3-948B-1728B52AA6E4}">
                <adec:decorative xmlns:adec="http://schemas.microsoft.com/office/drawing/2017/decorative" val="1"/>
              </a:ext>
            </a:extLst>
          </p:cNvPr>
          <p:cNvSpPr/>
          <p:nvPr userDrawn="1"/>
        </p:nvSpPr>
        <p:spPr>
          <a:xfrm rot="9366740" flipV="1">
            <a:off x="1918464" y="-67371"/>
            <a:ext cx="5379900" cy="5379900"/>
          </a:xfrm>
          <a:prstGeom prst="arc">
            <a:avLst>
              <a:gd name="adj1" fmla="val 16200000"/>
              <a:gd name="adj2" fmla="val 20401595"/>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lIns="68580" tIns="34290" rIns="68580" bIns="34290"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itle 11">
            <a:extLst>
              <a:ext uri="{FF2B5EF4-FFF2-40B4-BE49-F238E27FC236}">
                <a16:creationId xmlns:a16="http://schemas.microsoft.com/office/drawing/2014/main" id="{2B04B61C-6467-D51D-0AF4-5C7D05F36CB5}"/>
              </a:ext>
            </a:extLst>
          </p:cNvPr>
          <p:cNvSpPr>
            <a:spLocks noGrp="1"/>
          </p:cNvSpPr>
          <p:nvPr>
            <p:ph type="title" hasCustomPrompt="1"/>
          </p:nvPr>
        </p:nvSpPr>
        <p:spPr>
          <a:xfrm>
            <a:off x="2151126" y="692658"/>
            <a:ext cx="4841748" cy="3758184"/>
          </a:xfrm>
          <a:prstGeom prst="rect">
            <a:avLst/>
          </a:prstGeom>
          <a:noFill/>
        </p:spPr>
        <p:txBody>
          <a:bodyPr lIns="0" rIns="0">
            <a:normAutofit/>
          </a:bodyPr>
          <a:lstStyle>
            <a:lvl1pPr algn="ctr">
              <a:defRPr sz="4500"/>
            </a:lvl1pPr>
          </a:lstStyle>
          <a:p>
            <a:r>
              <a:rPr lang="en-US" dirty="0"/>
              <a:t>Click to add title</a:t>
            </a:r>
          </a:p>
        </p:txBody>
      </p:sp>
      <p:sp>
        <p:nvSpPr>
          <p:cNvPr id="4" name="Freeform: Shape 3">
            <a:extLst>
              <a:ext uri="{FF2B5EF4-FFF2-40B4-BE49-F238E27FC236}">
                <a16:creationId xmlns:a16="http://schemas.microsoft.com/office/drawing/2014/main" id="{47A19F4B-D154-3EB2-F86A-9A63283A3EA6}"/>
              </a:ext>
              <a:ext uri="{C183D7F6-B498-43B3-948B-1728B52AA6E4}">
                <adec:decorative xmlns:adec="http://schemas.microsoft.com/office/drawing/2017/decorative" val="1"/>
              </a:ext>
            </a:extLst>
          </p:cNvPr>
          <p:cNvSpPr>
            <a:spLocks/>
          </p:cNvSpPr>
          <p:nvPr userDrawn="1"/>
        </p:nvSpPr>
        <p:spPr>
          <a:xfrm>
            <a:off x="6423905" y="3613134"/>
            <a:ext cx="562438" cy="620303"/>
          </a:xfrm>
          <a:custGeom>
            <a:avLst/>
            <a:gdLst>
              <a:gd name="connsiteX0" fmla="*/ 446576 w 749917"/>
              <a:gd name="connsiteY0" fmla="*/ 0 h 827071"/>
              <a:gd name="connsiteX1" fmla="*/ 483313 w 749917"/>
              <a:gd name="connsiteY1" fmla="*/ 11094 h 827071"/>
              <a:gd name="connsiteX2" fmla="*/ 749917 w 749917"/>
              <a:gd name="connsiteY2" fmla="*/ 402396 h 827071"/>
              <a:gd name="connsiteX3" fmla="*/ 313401 w 749917"/>
              <a:gd name="connsiteY3" fmla="*/ 827071 h 827071"/>
              <a:gd name="connsiteX4" fmla="*/ 4738 w 749917"/>
              <a:gd name="connsiteY4" fmla="*/ 702687 h 827071"/>
              <a:gd name="connsiteX5" fmla="*/ 0 w 749917"/>
              <a:gd name="connsiteY5" fmla="*/ 697100 h 827071"/>
              <a:gd name="connsiteX6" fmla="*/ 22878 w 749917"/>
              <a:gd name="connsiteY6" fmla="*/ 671927 h 827071"/>
              <a:gd name="connsiteX7" fmla="*/ 371853 w 749917"/>
              <a:gd name="connsiteY7" fmla="*/ 155115 h 827071"/>
              <a:gd name="connsiteX8" fmla="*/ 446576 w 749917"/>
              <a:gd name="connsiteY8" fmla="*/ 0 h 827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9917" h="827071">
                <a:moveTo>
                  <a:pt x="446576" y="0"/>
                </a:moveTo>
                <a:lnTo>
                  <a:pt x="483313" y="11094"/>
                </a:lnTo>
                <a:cubicBezTo>
                  <a:pt x="639985" y="75563"/>
                  <a:pt x="749917" y="226490"/>
                  <a:pt x="749917" y="402396"/>
                </a:cubicBezTo>
                <a:cubicBezTo>
                  <a:pt x="749917" y="636938"/>
                  <a:pt x="554482" y="827071"/>
                  <a:pt x="313401" y="827071"/>
                </a:cubicBezTo>
                <a:cubicBezTo>
                  <a:pt x="192860" y="827071"/>
                  <a:pt x="83732" y="779538"/>
                  <a:pt x="4738" y="702687"/>
                </a:cubicBezTo>
                <a:lnTo>
                  <a:pt x="0" y="697100"/>
                </a:lnTo>
                <a:lnTo>
                  <a:pt x="22878" y="671927"/>
                </a:lnTo>
                <a:cubicBezTo>
                  <a:pt x="155000" y="511833"/>
                  <a:pt x="272049" y="338838"/>
                  <a:pt x="371853" y="155115"/>
                </a:cubicBezTo>
                <a:lnTo>
                  <a:pt x="446576"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68580" tIns="34290" rIns="68580" bIns="34290"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984204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628650" y="228602"/>
            <a:ext cx="7886700" cy="1104731"/>
          </a:xfrm>
        </p:spPr>
        <p:txBody>
          <a:bodyPr anchor="ctr" anchorCtr="0">
            <a:noAutofit/>
          </a:bodyPr>
          <a:lstStyle/>
          <a:p>
            <a:r>
              <a:rPr lang="en-US" dirty="0"/>
              <a:t>Click to add title</a:t>
            </a:r>
          </a:p>
        </p:txBody>
      </p:sp>
      <p:sp>
        <p:nvSpPr>
          <p:cNvPr id="13" name="Content Placeholder 12">
            <a:extLst>
              <a:ext uri="{FF2B5EF4-FFF2-40B4-BE49-F238E27FC236}">
                <a16:creationId xmlns:a16="http://schemas.microsoft.com/office/drawing/2014/main" id="{E3FB7D8D-37C3-E089-EC02-FB49A13CBE1D}"/>
              </a:ext>
            </a:extLst>
          </p:cNvPr>
          <p:cNvSpPr>
            <a:spLocks noGrp="1"/>
          </p:cNvSpPr>
          <p:nvPr>
            <p:ph sz="quarter" idx="13" hasCustomPrompt="1"/>
          </p:nvPr>
        </p:nvSpPr>
        <p:spPr>
          <a:xfrm>
            <a:off x="628650" y="1378574"/>
            <a:ext cx="6009085" cy="3213667"/>
          </a:xfrm>
        </p:spPr>
        <p:txBody>
          <a:bodyPr>
            <a:normAutofit/>
          </a:bodyPr>
          <a:lstStyle>
            <a:lvl1pPr>
              <a:lnSpc>
                <a:spcPct val="90000"/>
              </a:lnSpc>
              <a:spcBef>
                <a:spcPts val="750"/>
              </a:spcBef>
              <a:spcAft>
                <a:spcPts val="600"/>
              </a:spcAft>
              <a:buClr>
                <a:schemeClr val="accent2"/>
              </a:buClr>
              <a:defRPr sz="1400"/>
            </a:lvl1pPr>
            <a:lvl2pPr>
              <a:lnSpc>
                <a:spcPct val="90000"/>
              </a:lnSpc>
              <a:spcBef>
                <a:spcPts val="750"/>
              </a:spcBef>
              <a:spcAft>
                <a:spcPts val="600"/>
              </a:spcAft>
              <a:buClr>
                <a:schemeClr val="accent2"/>
              </a:buClr>
              <a:defRPr sz="1200"/>
            </a:lvl2pPr>
            <a:lvl3pPr>
              <a:lnSpc>
                <a:spcPct val="90000"/>
              </a:lnSpc>
              <a:spcBef>
                <a:spcPts val="750"/>
              </a:spcBef>
              <a:spcAft>
                <a:spcPts val="600"/>
              </a:spcAft>
              <a:buClr>
                <a:schemeClr val="accent2"/>
              </a:buClr>
              <a:defRPr sz="1100"/>
            </a:lvl3pPr>
            <a:lvl4pPr>
              <a:lnSpc>
                <a:spcPct val="90000"/>
              </a:lnSpc>
              <a:spcBef>
                <a:spcPts val="750"/>
              </a:spcBef>
              <a:spcAft>
                <a:spcPts val="600"/>
              </a:spcAft>
              <a:buClr>
                <a:schemeClr val="accent2"/>
              </a:buClr>
              <a:defRPr sz="900"/>
            </a:lvl4pPr>
            <a:lvl5pPr>
              <a:lnSpc>
                <a:spcPct val="90000"/>
              </a:lnSpc>
              <a:spcBef>
                <a:spcPts val="750"/>
              </a:spcBef>
              <a:spcAft>
                <a:spcPts val="600"/>
              </a:spcAft>
              <a:buClr>
                <a:schemeClr val="accent2"/>
              </a:buClr>
              <a:defRPr sz="9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pPr/>
              <a:t>‹#›</a:t>
            </a:fld>
            <a:endParaRPr lang="en-US" dirty="0"/>
          </a:p>
        </p:txBody>
      </p:sp>
      <p:sp>
        <p:nvSpPr>
          <p:cNvPr id="7" name="Freeform: Shape 14">
            <a:extLst>
              <a:ext uri="{FF2B5EF4-FFF2-40B4-BE49-F238E27FC236}">
                <a16:creationId xmlns:a16="http://schemas.microsoft.com/office/drawing/2014/main" id="{438B6FA2-AF11-618E-2B1A-38BF083DF340}"/>
              </a:ext>
              <a:ext uri="{C183D7F6-B498-43B3-948B-1728B52AA6E4}">
                <adec:decorative xmlns:adec="http://schemas.microsoft.com/office/drawing/2017/decorative" val="1"/>
              </a:ext>
            </a:extLst>
          </p:cNvPr>
          <p:cNvSpPr/>
          <p:nvPr userDrawn="1"/>
        </p:nvSpPr>
        <p:spPr>
          <a:xfrm rot="16200000">
            <a:off x="-285786" y="3858305"/>
            <a:ext cx="1303051" cy="719652"/>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lIns="68580" tIns="34290" rIns="68580" bIns="34290"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Freeform: Shape 13">
            <a:extLst>
              <a:ext uri="{FF2B5EF4-FFF2-40B4-BE49-F238E27FC236}">
                <a16:creationId xmlns:a16="http://schemas.microsoft.com/office/drawing/2014/main" id="{A269A8D8-A4AE-CEFF-E928-7DB1CFB3E401}"/>
              </a:ext>
              <a:ext uri="{C183D7F6-B498-43B3-948B-1728B52AA6E4}">
                <adec:decorative xmlns:adec="http://schemas.microsoft.com/office/drawing/2017/decorative" val="1"/>
              </a:ext>
            </a:extLst>
          </p:cNvPr>
          <p:cNvSpPr/>
          <p:nvPr userDrawn="1"/>
        </p:nvSpPr>
        <p:spPr>
          <a:xfrm>
            <a:off x="7870825" y="2"/>
            <a:ext cx="636996" cy="268251"/>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68580" tIns="34290" rIns="68580" bIns="34290"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Freeform: Shape 19">
            <a:extLst>
              <a:ext uri="{FF2B5EF4-FFF2-40B4-BE49-F238E27FC236}">
                <a16:creationId xmlns:a16="http://schemas.microsoft.com/office/drawing/2014/main" id="{15418837-E689-97BE-9FAD-FEDBD599EBAD}"/>
              </a:ext>
              <a:ext uri="{C183D7F6-B498-43B3-948B-1728B52AA6E4}">
                <adec:decorative xmlns:adec="http://schemas.microsoft.com/office/drawing/2017/decorative" val="1"/>
              </a:ext>
            </a:extLst>
          </p:cNvPr>
          <p:cNvSpPr/>
          <p:nvPr userDrawn="1"/>
        </p:nvSpPr>
        <p:spPr>
          <a:xfrm rot="10800000" flipH="1">
            <a:off x="8332075" y="2645282"/>
            <a:ext cx="811925" cy="1212394"/>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5"/>
          </a:solidFill>
          <a:ln w="9525" cap="flat">
            <a:noFill/>
            <a:prstDash val="solid"/>
            <a:miter/>
          </a:ln>
        </p:spPr>
        <p:txBody>
          <a:bodyPr lIns="68580" tIns="34290" rIns="68580" bIns="34290"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87894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7DF76A42-387B-8D66-1214-D40462070066}"/>
              </a:ext>
              <a:ext uri="{C183D7F6-B498-43B3-948B-1728B52AA6E4}">
                <adec:decorative xmlns:adec="http://schemas.microsoft.com/office/drawing/2017/decorative" val="1"/>
              </a:ext>
            </a:extLst>
          </p:cNvPr>
          <p:cNvSpPr/>
          <p:nvPr userDrawn="1"/>
        </p:nvSpPr>
        <p:spPr>
          <a:xfrm>
            <a:off x="5955466" y="528145"/>
            <a:ext cx="1722341" cy="1722341"/>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grpSp>
        <p:nvGrpSpPr>
          <p:cNvPr id="8" name="Group 7">
            <a:extLst>
              <a:ext uri="{FF2B5EF4-FFF2-40B4-BE49-F238E27FC236}">
                <a16:creationId xmlns:a16="http://schemas.microsoft.com/office/drawing/2014/main" id="{D2ACE818-46EF-547E-9315-A849483036BF}"/>
              </a:ext>
              <a:ext uri="{C183D7F6-B498-43B3-948B-1728B52AA6E4}">
                <adec:decorative xmlns:adec="http://schemas.microsoft.com/office/drawing/2017/decorative" val="1"/>
              </a:ext>
            </a:extLst>
          </p:cNvPr>
          <p:cNvGrpSpPr/>
          <p:nvPr userDrawn="1"/>
        </p:nvGrpSpPr>
        <p:grpSpPr>
          <a:xfrm>
            <a:off x="433240" y="0"/>
            <a:ext cx="6598814" cy="5112197"/>
            <a:chOff x="577652" y="-28502"/>
            <a:chExt cx="8798419" cy="6816262"/>
          </a:xfrm>
        </p:grpSpPr>
        <p:sp>
          <p:nvSpPr>
            <p:cNvPr id="9" name="Oval 8">
              <a:extLst>
                <a:ext uri="{FF2B5EF4-FFF2-40B4-BE49-F238E27FC236}">
                  <a16:creationId xmlns:a16="http://schemas.microsoft.com/office/drawing/2014/main" id="{E9644D21-8793-9A96-F305-5D20EE342B26}"/>
                </a:ext>
              </a:extLst>
            </p:cNvPr>
            <p:cNvSpPr/>
            <p:nvPr userDrawn="1"/>
          </p:nvSpPr>
          <p:spPr>
            <a:xfrm>
              <a:off x="2815929" y="148929"/>
              <a:ext cx="6560142" cy="65601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Arc 9">
              <a:extLst>
                <a:ext uri="{FF2B5EF4-FFF2-40B4-BE49-F238E27FC236}">
                  <a16:creationId xmlns:a16="http://schemas.microsoft.com/office/drawing/2014/main" id="{DF8D7AEF-C845-09F0-F31C-20B32BBA1EBA}"/>
                </a:ext>
              </a:extLst>
            </p:cNvPr>
            <p:cNvSpPr/>
            <p:nvPr userDrawn="1"/>
          </p:nvSpPr>
          <p:spPr>
            <a:xfrm rot="9222429" flipV="1">
              <a:off x="2494119" y="-28502"/>
              <a:ext cx="6816262" cy="6816262"/>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5F9D44CB-887B-C74D-3E96-5607E84DAEFF}"/>
                </a:ext>
              </a:extLst>
            </p:cNvPr>
            <p:cNvSpPr/>
            <p:nvPr userDrawn="1"/>
          </p:nvSpPr>
          <p:spPr>
            <a:xfrm>
              <a:off x="577652" y="1085116"/>
              <a:ext cx="759403" cy="73880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4" name="Freeform: Shape 19">
            <a:extLst>
              <a:ext uri="{FF2B5EF4-FFF2-40B4-BE49-F238E27FC236}">
                <a16:creationId xmlns:a16="http://schemas.microsoft.com/office/drawing/2014/main" id="{87D193F4-2337-0048-1BE7-C9A8154191F9}"/>
              </a:ext>
              <a:ext uri="{C183D7F6-B498-43B3-948B-1728B52AA6E4}">
                <adec:decorative xmlns:adec="http://schemas.microsoft.com/office/drawing/2017/decorative" val="1"/>
              </a:ext>
            </a:extLst>
          </p:cNvPr>
          <p:cNvSpPr/>
          <p:nvPr userDrawn="1"/>
        </p:nvSpPr>
        <p:spPr>
          <a:xfrm rot="16200000" flipH="1">
            <a:off x="702088" y="4131341"/>
            <a:ext cx="811925" cy="1212394"/>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lIns="68580" tIns="34290" rIns="68580" bIns="34290"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5" name="Straight Connector 14">
            <a:extLst>
              <a:ext uri="{FF2B5EF4-FFF2-40B4-BE49-F238E27FC236}">
                <a16:creationId xmlns:a16="http://schemas.microsoft.com/office/drawing/2014/main" id="{45EE4510-BCBA-C39A-BEF1-A391A3304F88}"/>
              </a:ext>
              <a:ext uri="{C183D7F6-B498-43B3-948B-1728B52AA6E4}">
                <adec:decorative xmlns:adec="http://schemas.microsoft.com/office/drawing/2017/decorative" val="1"/>
              </a:ext>
            </a:extLst>
          </p:cNvPr>
          <p:cNvCxnSpPr>
            <a:cxnSpLocks/>
          </p:cNvCxnSpPr>
          <p:nvPr userDrawn="1"/>
        </p:nvCxnSpPr>
        <p:spPr>
          <a:xfrm>
            <a:off x="8620991" y="3952868"/>
            <a:ext cx="0" cy="1198281"/>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2111947" y="1012369"/>
            <a:ext cx="4920107" cy="2297362"/>
          </a:xfrm>
        </p:spPr>
        <p:txBody>
          <a:bodyPr anchor="ctr">
            <a:noAutofit/>
          </a:bodyPr>
          <a:lstStyle>
            <a:lvl1pPr algn="ctr">
              <a:defRPr sz="4500">
                <a:solidFill>
                  <a:schemeClr val="bg1"/>
                </a:solidFill>
              </a:defRPr>
            </a:lvl1pPr>
          </a:lstStyle>
          <a:p>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2111947" y="3309730"/>
            <a:ext cx="4920107" cy="1451678"/>
          </a:xfrm>
        </p:spPr>
        <p:txBody>
          <a:bodyPr>
            <a:noAutofit/>
          </a:bodyPr>
          <a:lstStyle>
            <a:lvl1pPr marL="0" indent="0" algn="ctr">
              <a:buNone/>
              <a:defRPr sz="1800">
                <a:solidFill>
                  <a:schemeClr val="bg1"/>
                </a:solidFill>
              </a:defRPr>
            </a:lvl1pPr>
            <a:lvl2pPr marL="342900" indent="0" algn="ctr">
              <a:buNone/>
              <a:defRPr sz="1500"/>
            </a:lvl2pPr>
            <a:lvl3pPr marL="685800" indent="0" algn="ctr">
              <a:buNone/>
              <a:defRPr sz="140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add subtitle</a:t>
            </a:r>
          </a:p>
        </p:txBody>
      </p:sp>
      <p:sp>
        <p:nvSpPr>
          <p:cNvPr id="4" name="Date Placeholder 3">
            <a:extLst>
              <a:ext uri="{FF2B5EF4-FFF2-40B4-BE49-F238E27FC236}">
                <a16:creationId xmlns:a16="http://schemas.microsoft.com/office/drawing/2014/main" id="{C0070940-5919-2C95-2278-32E50BF14DD1}"/>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5" name="Footer Placeholder 4">
            <a:extLst>
              <a:ext uri="{FF2B5EF4-FFF2-40B4-BE49-F238E27FC236}">
                <a16:creationId xmlns:a16="http://schemas.microsoft.com/office/drawing/2014/main" id="{1957D599-49CF-19FE-6D86-C5EDB765F41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8931DF1-1C8D-86B9-BFDD-098FFC00FDC2}"/>
              </a:ext>
            </a:extLst>
          </p:cNvPr>
          <p:cNvSpPr>
            <a:spLocks noGrp="1"/>
          </p:cNvSpPr>
          <p:nvPr>
            <p:ph type="sldNum" sz="quarter" idx="12"/>
          </p:nvPr>
        </p:nvSpPr>
        <p:spPr/>
        <p:txBody>
          <a:body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15637277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p:txBody>
          <a:bodyPr anchor="ctr" anchorCtr="0">
            <a:noAutofit/>
          </a:bodyPr>
          <a:lstStyle>
            <a:lvl1pPr>
              <a:defRPr/>
            </a:lvl1pPr>
          </a:lstStyle>
          <a:p>
            <a:r>
              <a:rPr lang="en-US" dirty="0"/>
              <a:t>Click to add title</a:t>
            </a:r>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hasCustomPrompt="1"/>
          </p:nvPr>
        </p:nvSpPr>
        <p:spPr>
          <a:xfrm>
            <a:off x="628651" y="1369219"/>
            <a:ext cx="3686372" cy="3223260"/>
          </a:xfrm>
        </p:spPr>
        <p:txBody>
          <a:bodyPr>
            <a:normAutofit/>
          </a:bodyPr>
          <a:lstStyle>
            <a:lvl1pPr marL="0" indent="0">
              <a:spcBef>
                <a:spcPts val="750"/>
              </a:spcBef>
              <a:spcAft>
                <a:spcPts val="600"/>
              </a:spcAft>
              <a:buNone/>
              <a:defRPr sz="1500"/>
            </a:lvl1pPr>
            <a:lvl2pPr marL="171450" indent="-171450">
              <a:spcBef>
                <a:spcPts val="750"/>
              </a:spcBef>
              <a:spcAft>
                <a:spcPts val="600"/>
              </a:spcAft>
              <a:buClr>
                <a:schemeClr val="accent2"/>
              </a:buClr>
              <a:buFont typeface="Arial" panose="020B0604020202020204" pitchFamily="34" charset="0"/>
              <a:buChar char="•"/>
              <a:defRPr sz="1500"/>
            </a:lvl2pPr>
            <a:lvl3pPr marL="445770" indent="-171450">
              <a:spcBef>
                <a:spcPts val="750"/>
              </a:spcBef>
              <a:spcAft>
                <a:spcPts val="600"/>
              </a:spcAft>
              <a:buClr>
                <a:schemeClr val="accent2"/>
              </a:buClr>
              <a:buFont typeface="Arial" panose="020B0604020202020204" pitchFamily="34" charset="0"/>
              <a:buChar char="•"/>
              <a:defRPr sz="1500"/>
            </a:lvl3pPr>
            <a:lvl4pPr marL="651510" indent="-171450">
              <a:spcBef>
                <a:spcPts val="750"/>
              </a:spcBef>
              <a:spcAft>
                <a:spcPts val="600"/>
              </a:spcAft>
              <a:buClr>
                <a:schemeClr val="accent2"/>
              </a:buClr>
              <a:buFont typeface="Arial" panose="020B0604020202020204" pitchFamily="34" charset="0"/>
              <a:buChar char="•"/>
              <a:defRPr sz="1500"/>
            </a:lvl4pPr>
            <a:lvl5pPr marL="857250" indent="-171450">
              <a:spcBef>
                <a:spcPts val="750"/>
              </a:spcBef>
              <a:spcAft>
                <a:spcPts val="600"/>
              </a:spcAft>
              <a:buClr>
                <a:schemeClr val="accent2"/>
              </a:buClr>
              <a:buFont typeface="Arial" panose="020B0604020202020204" pitchFamily="34" charset="0"/>
              <a:buChar char="•"/>
              <a:defRPr sz="15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2">
            <a:extLst>
              <a:ext uri="{FF2B5EF4-FFF2-40B4-BE49-F238E27FC236}">
                <a16:creationId xmlns:a16="http://schemas.microsoft.com/office/drawing/2014/main" id="{5FB01ADF-164A-96FB-0129-C2A0F0ED0A85}"/>
              </a:ext>
            </a:extLst>
          </p:cNvPr>
          <p:cNvSpPr>
            <a:spLocks noGrp="1"/>
          </p:cNvSpPr>
          <p:nvPr>
            <p:ph sz="half" idx="15" hasCustomPrompt="1"/>
          </p:nvPr>
        </p:nvSpPr>
        <p:spPr>
          <a:xfrm>
            <a:off x="4610922" y="1362687"/>
            <a:ext cx="3909060" cy="3223260"/>
          </a:xfrm>
        </p:spPr>
        <p:txBody>
          <a:bodyPr>
            <a:normAutofit/>
          </a:bodyPr>
          <a:lstStyle>
            <a:lvl1pPr marL="0" indent="0">
              <a:spcBef>
                <a:spcPts val="750"/>
              </a:spcBef>
              <a:spcAft>
                <a:spcPts val="600"/>
              </a:spcAft>
              <a:buNone/>
              <a:defRPr sz="1500"/>
            </a:lvl1pPr>
            <a:lvl2pPr marL="171450" indent="-171450">
              <a:spcBef>
                <a:spcPts val="750"/>
              </a:spcBef>
              <a:spcAft>
                <a:spcPts val="600"/>
              </a:spcAft>
              <a:buClr>
                <a:schemeClr val="accent2"/>
              </a:buClr>
              <a:buFont typeface="Arial" panose="020B0604020202020204" pitchFamily="34" charset="0"/>
              <a:buChar char="•"/>
              <a:defRPr sz="1500"/>
            </a:lvl2pPr>
            <a:lvl3pPr marL="445770" indent="-171450">
              <a:spcBef>
                <a:spcPts val="750"/>
              </a:spcBef>
              <a:spcAft>
                <a:spcPts val="600"/>
              </a:spcAft>
              <a:buClr>
                <a:schemeClr val="accent2"/>
              </a:buClr>
              <a:buFont typeface="Arial" panose="020B0604020202020204" pitchFamily="34" charset="0"/>
              <a:buChar char="•"/>
              <a:defRPr sz="1500"/>
            </a:lvl3pPr>
            <a:lvl4pPr marL="651510" indent="-171450">
              <a:spcBef>
                <a:spcPts val="750"/>
              </a:spcBef>
              <a:spcAft>
                <a:spcPts val="600"/>
              </a:spcAft>
              <a:buClr>
                <a:schemeClr val="accent2"/>
              </a:buClr>
              <a:buFont typeface="Arial" panose="020B0604020202020204" pitchFamily="34" charset="0"/>
              <a:buChar char="•"/>
              <a:defRPr sz="1500"/>
            </a:lvl4pPr>
            <a:lvl5pPr marL="857250" indent="-171450">
              <a:spcBef>
                <a:spcPts val="750"/>
              </a:spcBef>
              <a:spcAft>
                <a:spcPts val="600"/>
              </a:spcAft>
              <a:buClr>
                <a:schemeClr val="accent2"/>
              </a:buClr>
              <a:buFont typeface="Arial" panose="020B0604020202020204" pitchFamily="34" charset="0"/>
              <a:buChar char="•"/>
              <a:defRPr sz="15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1" name="Group 10">
            <a:extLst>
              <a:ext uri="{FF2B5EF4-FFF2-40B4-BE49-F238E27FC236}">
                <a16:creationId xmlns:a16="http://schemas.microsoft.com/office/drawing/2014/main" id="{C263F0DD-A38B-64B8-7412-087B487E6D47}"/>
              </a:ext>
              <a:ext uri="{C183D7F6-B498-43B3-948B-1728B52AA6E4}">
                <adec:decorative xmlns:adec="http://schemas.microsoft.com/office/drawing/2017/decorative" val="1"/>
              </a:ext>
            </a:extLst>
          </p:cNvPr>
          <p:cNvGrpSpPr/>
          <p:nvPr userDrawn="1"/>
        </p:nvGrpSpPr>
        <p:grpSpPr>
          <a:xfrm>
            <a:off x="92652" y="1"/>
            <a:ext cx="9051348" cy="5143499"/>
            <a:chOff x="123536" y="2"/>
            <a:chExt cx="12068464" cy="6857998"/>
          </a:xfrm>
        </p:grpSpPr>
        <p:sp>
          <p:nvSpPr>
            <p:cNvPr id="12" name="Freeform: Shape 9">
              <a:extLst>
                <a:ext uri="{FF2B5EF4-FFF2-40B4-BE49-F238E27FC236}">
                  <a16:creationId xmlns:a16="http://schemas.microsoft.com/office/drawing/2014/main" id="{44CE2FB7-A856-E3C3-9798-73AAFB7901B8}"/>
                </a:ext>
              </a:extLst>
            </p:cNvPr>
            <p:cNvSpPr/>
            <p:nvPr userDrawn="1"/>
          </p:nvSpPr>
          <p:spPr>
            <a:xfrm>
              <a:off x="5671336"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Freeform: Shape 10">
              <a:extLst>
                <a:ext uri="{FF2B5EF4-FFF2-40B4-BE49-F238E27FC236}">
                  <a16:creationId xmlns:a16="http://schemas.microsoft.com/office/drawing/2014/main" id="{47ED62E5-894A-A8F9-A6DC-4A5C147CDE78}"/>
                </a:ext>
              </a:extLst>
            </p:cNvPr>
            <p:cNvSpPr/>
            <p:nvPr userDrawn="1"/>
          </p:nvSpPr>
          <p:spPr>
            <a:xfrm flipH="1">
              <a:off x="123536"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Freeform: Shape 11">
              <a:extLst>
                <a:ext uri="{FF2B5EF4-FFF2-40B4-BE49-F238E27FC236}">
                  <a16:creationId xmlns:a16="http://schemas.microsoft.com/office/drawing/2014/main" id="{5C181CD4-C69B-2826-AF23-060D677248A9}"/>
                </a:ext>
              </a:extLst>
            </p:cNvPr>
            <p:cNvSpPr/>
            <p:nvPr userDrawn="1"/>
          </p:nvSpPr>
          <p:spPr>
            <a:xfrm rot="5400000">
              <a:off x="11328915" y="3872201"/>
              <a:ext cx="1214656" cy="511514"/>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505290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p:txBody>
          <a:bodyPr anchor="ctr" anchorCtr="0">
            <a:noAutofit/>
          </a:bodyPr>
          <a:lstStyle/>
          <a:p>
            <a:r>
              <a:rPr lang="en-US" dirty="0"/>
              <a:t>Click to add title</a:t>
            </a:r>
          </a:p>
        </p:txBody>
      </p:sp>
      <p:sp>
        <p:nvSpPr>
          <p:cNvPr id="11" name="Content Placeholder 2">
            <a:extLst>
              <a:ext uri="{FF2B5EF4-FFF2-40B4-BE49-F238E27FC236}">
                <a16:creationId xmlns:a16="http://schemas.microsoft.com/office/drawing/2014/main" id="{60538251-2B75-FA20-0F29-FB58583E6125}"/>
              </a:ext>
            </a:extLst>
          </p:cNvPr>
          <p:cNvSpPr>
            <a:spLocks noGrp="1"/>
          </p:cNvSpPr>
          <p:nvPr>
            <p:ph sz="half" idx="1" hasCustomPrompt="1"/>
          </p:nvPr>
        </p:nvSpPr>
        <p:spPr>
          <a:xfrm>
            <a:off x="628651" y="1369219"/>
            <a:ext cx="2331719" cy="3223260"/>
          </a:xfrm>
        </p:spPr>
        <p:txBody>
          <a:bodyPr>
            <a:normAutofit/>
          </a:bodyPr>
          <a:lstStyle>
            <a:lvl1pPr marL="171450" indent="-171450">
              <a:spcBef>
                <a:spcPts val="750"/>
              </a:spcBef>
              <a:spcAft>
                <a:spcPts val="600"/>
              </a:spcAft>
              <a:buClr>
                <a:schemeClr val="accent2"/>
              </a:buClr>
              <a:buFont typeface="Arial" panose="020B0604020202020204" pitchFamily="34" charset="0"/>
              <a:buChar char="•"/>
              <a:defRPr sz="1400"/>
            </a:lvl1pPr>
            <a:lvl2pPr marL="214313" indent="-214313">
              <a:spcBef>
                <a:spcPts val="750"/>
              </a:spcBef>
              <a:spcAft>
                <a:spcPts val="600"/>
              </a:spcAft>
              <a:buClr>
                <a:schemeClr val="accent2"/>
              </a:buClr>
              <a:buFont typeface="Arial" panose="020B0604020202020204" pitchFamily="34" charset="0"/>
              <a:buChar char="•"/>
              <a:defRPr sz="1400"/>
            </a:lvl2pPr>
            <a:lvl3pPr marL="488633" indent="-214313">
              <a:spcBef>
                <a:spcPts val="750"/>
              </a:spcBef>
              <a:spcAft>
                <a:spcPts val="600"/>
              </a:spcAft>
              <a:buClr>
                <a:schemeClr val="accent2"/>
              </a:buClr>
              <a:buFont typeface="Arial" panose="020B0604020202020204" pitchFamily="34" charset="0"/>
              <a:buChar char="•"/>
              <a:defRPr sz="1400"/>
            </a:lvl3pPr>
            <a:lvl4pPr marL="694373" indent="-214313">
              <a:spcBef>
                <a:spcPts val="750"/>
              </a:spcBef>
              <a:spcAft>
                <a:spcPts val="600"/>
              </a:spcAft>
              <a:buClr>
                <a:schemeClr val="accent2"/>
              </a:buClr>
              <a:buFont typeface="Arial" panose="020B0604020202020204" pitchFamily="34" charset="0"/>
              <a:buChar char="•"/>
              <a:defRPr sz="1400"/>
            </a:lvl4pPr>
            <a:lvl5pPr marL="900113" indent="-214313">
              <a:spcBef>
                <a:spcPts val="750"/>
              </a:spcBef>
              <a:spcAft>
                <a:spcPts val="600"/>
              </a:spcAft>
              <a:buClr>
                <a:schemeClr val="accent2"/>
              </a:buClr>
              <a:buFont typeface="Arial" panose="020B0604020202020204" pitchFamily="34" charset="0"/>
              <a:buChar char="•"/>
              <a:defRPr sz="14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A06C49DD-8C29-93EA-04F4-22F84080DF5C}"/>
              </a:ext>
            </a:extLst>
          </p:cNvPr>
          <p:cNvSpPr>
            <a:spLocks noGrp="1"/>
          </p:cNvSpPr>
          <p:nvPr>
            <p:ph sz="half" idx="15" hasCustomPrompt="1"/>
          </p:nvPr>
        </p:nvSpPr>
        <p:spPr>
          <a:xfrm>
            <a:off x="3496365" y="1362687"/>
            <a:ext cx="5023617" cy="3223260"/>
          </a:xfrm>
        </p:spPr>
        <p:txBody>
          <a:bodyPr>
            <a:normAutofit/>
          </a:bodyPr>
          <a:lstStyle>
            <a:lvl1pPr marL="0" indent="0">
              <a:spcBef>
                <a:spcPts val="750"/>
              </a:spcBef>
              <a:spcAft>
                <a:spcPts val="600"/>
              </a:spcAft>
              <a:buNone/>
              <a:defRPr sz="1400"/>
            </a:lvl1pPr>
            <a:lvl2pPr marL="171450" indent="-171450">
              <a:spcBef>
                <a:spcPts val="750"/>
              </a:spcBef>
              <a:spcAft>
                <a:spcPts val="600"/>
              </a:spcAft>
              <a:buClr>
                <a:schemeClr val="accent2"/>
              </a:buClr>
              <a:buFont typeface="Arial" panose="020B0604020202020204" pitchFamily="34" charset="0"/>
              <a:buChar char="•"/>
              <a:defRPr sz="1400"/>
            </a:lvl2pPr>
            <a:lvl3pPr marL="445770" indent="-171450">
              <a:spcBef>
                <a:spcPts val="750"/>
              </a:spcBef>
              <a:spcAft>
                <a:spcPts val="600"/>
              </a:spcAft>
              <a:buClr>
                <a:schemeClr val="accent2"/>
              </a:buClr>
              <a:buFont typeface="Arial" panose="020B0604020202020204" pitchFamily="34" charset="0"/>
              <a:buChar char="•"/>
              <a:defRPr sz="1400"/>
            </a:lvl3pPr>
            <a:lvl4pPr marL="651510" indent="-171450">
              <a:spcBef>
                <a:spcPts val="750"/>
              </a:spcBef>
              <a:spcAft>
                <a:spcPts val="600"/>
              </a:spcAft>
              <a:buClr>
                <a:schemeClr val="accent2"/>
              </a:buClr>
              <a:buFont typeface="Arial" panose="020B0604020202020204" pitchFamily="34" charset="0"/>
              <a:buChar char="•"/>
              <a:defRPr sz="1400"/>
            </a:lvl4pPr>
            <a:lvl5pPr marL="857250" indent="-171450">
              <a:spcBef>
                <a:spcPts val="750"/>
              </a:spcBef>
              <a:spcAft>
                <a:spcPts val="600"/>
              </a:spcAft>
              <a:buClr>
                <a:schemeClr val="accent2"/>
              </a:buClr>
              <a:buFont typeface="Arial" panose="020B0604020202020204" pitchFamily="34" charset="0"/>
              <a:buChar char="•"/>
              <a:defRPr sz="14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pPr/>
              <a:t>‹#›</a:t>
            </a:fld>
            <a:endParaRPr lang="en-US" dirty="0"/>
          </a:p>
        </p:txBody>
      </p:sp>
      <p:sp>
        <p:nvSpPr>
          <p:cNvPr id="8" name="Freeform: Shape 11">
            <a:extLst>
              <a:ext uri="{FF2B5EF4-FFF2-40B4-BE49-F238E27FC236}">
                <a16:creationId xmlns:a16="http://schemas.microsoft.com/office/drawing/2014/main" id="{1E75594D-82D2-74F6-56EC-46FCD28CBE68}"/>
              </a:ext>
              <a:ext uri="{C183D7F6-B498-43B3-948B-1728B52AA6E4}">
                <adec:decorative xmlns:adec="http://schemas.microsoft.com/office/drawing/2017/decorative" val="1"/>
              </a:ext>
            </a:extLst>
          </p:cNvPr>
          <p:cNvSpPr/>
          <p:nvPr userDrawn="1"/>
        </p:nvSpPr>
        <p:spPr>
          <a:xfrm>
            <a:off x="7496225" y="0"/>
            <a:ext cx="910992" cy="383636"/>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68580" tIns="34290" rIns="68580" bIns="34290"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Freeform: Shape 13">
            <a:extLst>
              <a:ext uri="{FF2B5EF4-FFF2-40B4-BE49-F238E27FC236}">
                <a16:creationId xmlns:a16="http://schemas.microsoft.com/office/drawing/2014/main" id="{FF4E0F5B-0892-2688-EFD3-284369DA50CD}"/>
              </a:ext>
              <a:ext uri="{C183D7F6-B498-43B3-948B-1728B52AA6E4}">
                <adec:decorative xmlns:adec="http://schemas.microsoft.com/office/drawing/2017/decorative" val="1"/>
              </a:ext>
            </a:extLst>
          </p:cNvPr>
          <p:cNvSpPr/>
          <p:nvPr userDrawn="1"/>
        </p:nvSpPr>
        <p:spPr>
          <a:xfrm rot="10800000">
            <a:off x="6073147" y="4192662"/>
            <a:ext cx="1709807" cy="950839"/>
          </a:xfrm>
          <a:custGeom>
            <a:avLst/>
            <a:gdLst>
              <a:gd name="connsiteX0" fmla="*/ 0 w 2279742"/>
              <a:gd name="connsiteY0" fmla="*/ 0 h 1267785"/>
              <a:gd name="connsiteX1" fmla="*/ 138700 w 2279742"/>
              <a:gd name="connsiteY1" fmla="*/ 0 h 1267785"/>
              <a:gd name="connsiteX2" fmla="*/ 138700 w 2279742"/>
              <a:gd name="connsiteY2" fmla="*/ 1078193 h 1267785"/>
              <a:gd name="connsiteX3" fmla="*/ 2002733 w 2279742"/>
              <a:gd name="connsiteY3" fmla="*/ 0 h 1267785"/>
              <a:gd name="connsiteX4" fmla="*/ 2279742 w 2279742"/>
              <a:gd name="connsiteY4" fmla="*/ 0 h 1267785"/>
              <a:gd name="connsiteX5" fmla="*/ 104026 w 2279742"/>
              <a:gd name="connsiteY5" fmla="*/ 1258503 h 1267785"/>
              <a:gd name="connsiteX6" fmla="*/ 69351 w 2279742"/>
              <a:gd name="connsiteY6" fmla="*/ 1267785 h 1267785"/>
              <a:gd name="connsiteX7" fmla="*/ 0 w 2279742"/>
              <a:gd name="connsiteY7" fmla="*/ 1198436 h 1267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79742" h="1267785">
                <a:moveTo>
                  <a:pt x="0" y="0"/>
                </a:moveTo>
                <a:lnTo>
                  <a:pt x="138700" y="0"/>
                </a:lnTo>
                <a:lnTo>
                  <a:pt x="138700" y="1078193"/>
                </a:lnTo>
                <a:lnTo>
                  <a:pt x="2002733" y="0"/>
                </a:lnTo>
                <a:lnTo>
                  <a:pt x="2279742" y="0"/>
                </a:lnTo>
                <a:lnTo>
                  <a:pt x="104026" y="1258503"/>
                </a:lnTo>
                <a:cubicBezTo>
                  <a:pt x="93484" y="1264595"/>
                  <a:pt x="81523" y="1267796"/>
                  <a:pt x="69351" y="1267785"/>
                </a:cubicBezTo>
                <a:cubicBezTo>
                  <a:pt x="31049" y="1267785"/>
                  <a:pt x="0" y="1236737"/>
                  <a:pt x="0" y="1198436"/>
                </a:cubicBezTo>
                <a:close/>
              </a:path>
            </a:pathLst>
          </a:custGeom>
          <a:solidFill>
            <a:schemeClr val="accent6"/>
          </a:solidFill>
          <a:ln w="9525" cap="flat">
            <a:noFill/>
            <a:prstDash val="solid"/>
            <a:miter/>
          </a:ln>
        </p:spPr>
        <p:txBody>
          <a:bodyPr lIns="68580" tIns="34290" rIns="68580" bIns="34290"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71D8715A-3067-732D-C410-868C7CCCF750}"/>
              </a:ext>
              <a:ext uri="{C183D7F6-B498-43B3-948B-1728B52AA6E4}">
                <adec:decorative xmlns:adec="http://schemas.microsoft.com/office/drawing/2017/decorative" val="1"/>
              </a:ext>
            </a:extLst>
          </p:cNvPr>
          <p:cNvCxnSpPr>
            <a:cxnSpLocks/>
          </p:cNvCxnSpPr>
          <p:nvPr userDrawn="1"/>
        </p:nvCxnSpPr>
        <p:spPr>
          <a:xfrm rot="16200000">
            <a:off x="736784" y="4134092"/>
            <a:ext cx="0" cy="1198281"/>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7852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807BCF9-2F5B-200E-2E6C-E177DB56ECB0}"/>
              </a:ext>
              <a:ext uri="{C183D7F6-B498-43B3-948B-1728B52AA6E4}">
                <adec:decorative xmlns:adec="http://schemas.microsoft.com/office/drawing/2017/decorative" val="1"/>
              </a:ext>
            </a:extLst>
          </p:cNvPr>
          <p:cNvGrpSpPr/>
          <p:nvPr userDrawn="1"/>
        </p:nvGrpSpPr>
        <p:grpSpPr>
          <a:xfrm>
            <a:off x="0" y="5593"/>
            <a:ext cx="5312800" cy="4636652"/>
            <a:chOff x="0" y="7460"/>
            <a:chExt cx="7083733" cy="6182202"/>
          </a:xfrm>
        </p:grpSpPr>
        <p:sp>
          <p:nvSpPr>
            <p:cNvPr id="9" name="Freeform: Shape 14">
              <a:extLst>
                <a:ext uri="{FF2B5EF4-FFF2-40B4-BE49-F238E27FC236}">
                  <a16:creationId xmlns:a16="http://schemas.microsoft.com/office/drawing/2014/main" id="{7A624B2B-50FD-9351-987F-2E5A5472CAB6}"/>
                </a:ext>
              </a:extLst>
            </p:cNvPr>
            <p:cNvSpPr/>
            <p:nvPr userDrawn="1"/>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Freeform: Shape 13">
              <a:extLst>
                <a:ext uri="{FF2B5EF4-FFF2-40B4-BE49-F238E27FC236}">
                  <a16:creationId xmlns:a16="http://schemas.microsoft.com/office/drawing/2014/main" id="{51E534EE-E0F1-2BD9-9A82-7656B90A2D9D}"/>
                </a:ext>
              </a:extLst>
            </p:cNvPr>
            <p:cNvSpPr/>
            <p:nvPr userDrawn="1"/>
          </p:nvSpPr>
          <p:spPr>
            <a:xfrm>
              <a:off x="6234405" y="7460"/>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628650" y="148828"/>
            <a:ext cx="3943350" cy="1743035"/>
          </a:xfrm>
        </p:spPr>
        <p:txBody>
          <a:bodyPr anchor="b" anchorCtr="0">
            <a:noAutofit/>
          </a:bodyPr>
          <a:lstStyle>
            <a:lvl1pPr>
              <a:defRPr/>
            </a:lvl1pPr>
          </a:lstStyle>
          <a:p>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hasCustomPrompt="1"/>
          </p:nvPr>
        </p:nvSpPr>
        <p:spPr>
          <a:xfrm>
            <a:off x="628650" y="1992987"/>
            <a:ext cx="3943350" cy="2527394"/>
          </a:xfrm>
        </p:spPr>
        <p:txBody>
          <a:bodyPr>
            <a:normAutofit/>
          </a:bodyPr>
          <a:lstStyle>
            <a:lvl1pPr marL="0" indent="0">
              <a:spcBef>
                <a:spcPts val="750"/>
              </a:spcBef>
              <a:spcAft>
                <a:spcPts val="600"/>
              </a:spcAft>
              <a:buNone/>
              <a:defRPr sz="1400"/>
            </a:lvl1pPr>
            <a:lvl2pPr marL="557213" indent="-214313">
              <a:spcBef>
                <a:spcPts val="750"/>
              </a:spcBef>
              <a:spcAft>
                <a:spcPts val="600"/>
              </a:spcAft>
              <a:buClr>
                <a:schemeClr val="accent2"/>
              </a:buClr>
              <a:buFont typeface="Arial" panose="020B0604020202020204" pitchFamily="34" charset="0"/>
              <a:buChar char="•"/>
              <a:defRPr sz="1200"/>
            </a:lvl2pPr>
            <a:lvl3pPr marL="900113" indent="-214313">
              <a:spcBef>
                <a:spcPts val="750"/>
              </a:spcBef>
              <a:spcAft>
                <a:spcPts val="600"/>
              </a:spcAft>
              <a:buClr>
                <a:schemeClr val="accent2"/>
              </a:buClr>
              <a:buFont typeface="Arial" panose="020B0604020202020204" pitchFamily="34" charset="0"/>
              <a:buChar char="•"/>
              <a:defRPr sz="1100"/>
            </a:lvl3pPr>
            <a:lvl4pPr marL="1157288" indent="-128588">
              <a:spcBef>
                <a:spcPts val="750"/>
              </a:spcBef>
              <a:spcAft>
                <a:spcPts val="600"/>
              </a:spcAft>
              <a:buClr>
                <a:schemeClr val="accent2"/>
              </a:buClr>
              <a:buFont typeface="Arial" panose="020B0604020202020204" pitchFamily="34" charset="0"/>
              <a:buChar char="•"/>
              <a:defRPr sz="900"/>
            </a:lvl4pPr>
            <a:lvl5pPr marL="1500188" indent="-128588">
              <a:spcBef>
                <a:spcPts val="750"/>
              </a:spcBef>
              <a:spcAft>
                <a:spcPts val="600"/>
              </a:spcAft>
              <a:buClr>
                <a:schemeClr val="accent2"/>
              </a:buClr>
              <a:buFont typeface="Arial" panose="020B0604020202020204" pitchFamily="34" charset="0"/>
              <a:buChar char="•"/>
              <a:defRPr sz="9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7">
            <a:extLst>
              <a:ext uri="{FF2B5EF4-FFF2-40B4-BE49-F238E27FC236}">
                <a16:creationId xmlns:a16="http://schemas.microsoft.com/office/drawing/2014/main" id="{BC013AD6-0EF3-2B25-DDBD-2DF706123AEE}"/>
              </a:ext>
            </a:extLst>
          </p:cNvPr>
          <p:cNvSpPr>
            <a:spLocks noGrp="1"/>
          </p:cNvSpPr>
          <p:nvPr>
            <p:ph type="pic" sz="quarter" idx="13"/>
          </p:nvPr>
        </p:nvSpPr>
        <p:spPr>
          <a:xfrm>
            <a:off x="4809836" y="633801"/>
            <a:ext cx="3895344" cy="3895344"/>
          </a:xfrm>
          <a:prstGeom prst="ellipse">
            <a:avLst/>
          </a:prstGeom>
        </p:spPr>
        <p:txBody>
          <a:bodyPr/>
          <a:lstStyle>
            <a:lvl1pPr marL="0" indent="0" algn="ctr">
              <a:buNone/>
              <a:defRPr/>
            </a:lvl1pPr>
          </a:lstStyle>
          <a:p>
            <a:r>
              <a:rPr lang="en-US" dirty="0"/>
              <a:t>Click icon to add picture</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28454381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Table">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21BD3DB-6F51-C1AE-FF0E-D0BDCB55F30B}"/>
              </a:ext>
              <a:ext uri="{C183D7F6-B498-43B3-948B-1728B52AA6E4}">
                <adec:decorative xmlns:adec="http://schemas.microsoft.com/office/drawing/2017/decorative" val="1"/>
              </a:ext>
            </a:extLst>
          </p:cNvPr>
          <p:cNvGrpSpPr/>
          <p:nvPr userDrawn="1"/>
        </p:nvGrpSpPr>
        <p:grpSpPr>
          <a:xfrm>
            <a:off x="92652" y="1"/>
            <a:ext cx="8415169" cy="5143499"/>
            <a:chOff x="123536" y="2"/>
            <a:chExt cx="11220225" cy="6857998"/>
          </a:xfrm>
        </p:grpSpPr>
        <p:sp>
          <p:nvSpPr>
            <p:cNvPr id="12" name="Freeform: Shape 7">
              <a:extLst>
                <a:ext uri="{FF2B5EF4-FFF2-40B4-BE49-F238E27FC236}">
                  <a16:creationId xmlns:a16="http://schemas.microsoft.com/office/drawing/2014/main" id="{59903C17-0733-BE0C-7392-283FEC2E98B0}"/>
                </a:ext>
              </a:extLst>
            </p:cNvPr>
            <p:cNvSpPr/>
            <p:nvPr/>
          </p:nvSpPr>
          <p:spPr>
            <a:xfrm flipH="1">
              <a:off x="123536"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5"/>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Freeform: Shape 1">
              <a:extLst>
                <a:ext uri="{FF2B5EF4-FFF2-40B4-BE49-F238E27FC236}">
                  <a16:creationId xmlns:a16="http://schemas.microsoft.com/office/drawing/2014/main" id="{898A3450-9C87-13ED-79CC-F4F65D14FF72}"/>
                </a:ext>
              </a:extLst>
            </p:cNvPr>
            <p:cNvSpPr/>
            <p:nvPr userDrawn="1"/>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p:txBody>
          <a:bodyPr anchor="ctr" anchorCtr="0">
            <a:noAutofit/>
          </a:bodyPr>
          <a:lstStyle>
            <a:lvl1pPr>
              <a:defRPr/>
            </a:lvl1pPr>
          </a:lstStyle>
          <a:p>
            <a:r>
              <a:rPr lang="en-US" dirty="0"/>
              <a:t>Click to add title</a:t>
            </a:r>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hasCustomPrompt="1"/>
          </p:nvPr>
        </p:nvSpPr>
        <p:spPr>
          <a:xfrm>
            <a:off x="628650" y="1369219"/>
            <a:ext cx="2161847" cy="3223259"/>
          </a:xfrm>
        </p:spPr>
        <p:txBody>
          <a:bodyPr>
            <a:normAutofit/>
          </a:bodyPr>
          <a:lstStyle>
            <a:lvl1pPr marL="0" indent="0">
              <a:spcBef>
                <a:spcPts val="750"/>
              </a:spcBef>
              <a:spcAft>
                <a:spcPts val="600"/>
              </a:spcAft>
              <a:buNone/>
              <a:defRPr sz="1400"/>
            </a:lvl1pPr>
            <a:lvl2pPr marL="557213" indent="-214313">
              <a:spcBef>
                <a:spcPts val="750"/>
              </a:spcBef>
              <a:spcAft>
                <a:spcPts val="600"/>
              </a:spcAft>
              <a:buClr>
                <a:schemeClr val="accent2"/>
              </a:buClr>
              <a:buFont typeface="Arial" panose="020B0604020202020204" pitchFamily="34" charset="0"/>
              <a:buChar char="•"/>
              <a:defRPr sz="1200"/>
            </a:lvl2pPr>
            <a:lvl3pPr marL="900113" indent="-214313">
              <a:spcBef>
                <a:spcPts val="750"/>
              </a:spcBef>
              <a:spcAft>
                <a:spcPts val="600"/>
              </a:spcAft>
              <a:buClr>
                <a:schemeClr val="accent2"/>
              </a:buClr>
              <a:buFont typeface="Arial" panose="020B0604020202020204" pitchFamily="34" charset="0"/>
              <a:buChar char="•"/>
              <a:defRPr sz="1100"/>
            </a:lvl3pPr>
            <a:lvl4pPr marL="1157288" indent="-128588">
              <a:spcBef>
                <a:spcPts val="750"/>
              </a:spcBef>
              <a:spcAft>
                <a:spcPts val="600"/>
              </a:spcAft>
              <a:buClr>
                <a:schemeClr val="accent2"/>
              </a:buClr>
              <a:buFont typeface="Arial" panose="020B0604020202020204" pitchFamily="34" charset="0"/>
              <a:buChar char="•"/>
              <a:defRPr sz="900"/>
            </a:lvl4pPr>
            <a:lvl5pPr marL="1500188" indent="-128588">
              <a:spcBef>
                <a:spcPts val="750"/>
              </a:spcBef>
              <a:spcAft>
                <a:spcPts val="600"/>
              </a:spcAft>
              <a:buClr>
                <a:schemeClr val="accent2"/>
              </a:buClr>
              <a:buFont typeface="Arial" panose="020B0604020202020204" pitchFamily="34" charset="0"/>
              <a:buChar char="•"/>
              <a:defRPr sz="9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423FEB60-8FB5-7F10-EDD7-8AB4B3139EF6}"/>
              </a:ext>
            </a:extLst>
          </p:cNvPr>
          <p:cNvSpPr>
            <a:spLocks noGrp="1"/>
          </p:cNvSpPr>
          <p:nvPr>
            <p:ph type="tbl" sz="quarter" idx="13"/>
          </p:nvPr>
        </p:nvSpPr>
        <p:spPr>
          <a:xfrm>
            <a:off x="3028950" y="1369219"/>
            <a:ext cx="5486399" cy="3223260"/>
          </a:xfrm>
        </p:spPr>
        <p:txBody>
          <a:bodyPr>
            <a:normAutofit/>
          </a:bodyPr>
          <a:lstStyle>
            <a:lvl1pPr marL="0" indent="0">
              <a:buNone/>
              <a:defRPr sz="1800"/>
            </a:lvl1pPr>
          </a:lstStyle>
          <a:p>
            <a:r>
              <a:rPr lang="en-US" dirty="0"/>
              <a:t>Click icon to add table</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28081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9FE4C84-13A1-72EA-6541-7C8FDDEA71C0}"/>
              </a:ext>
              <a:ext uri="{C183D7F6-B498-43B3-948B-1728B52AA6E4}">
                <adec:decorative xmlns:adec="http://schemas.microsoft.com/office/drawing/2017/decorative" val="1"/>
              </a:ext>
            </a:extLst>
          </p:cNvPr>
          <p:cNvSpPr/>
          <p:nvPr userDrawn="1"/>
        </p:nvSpPr>
        <p:spPr>
          <a:xfrm>
            <a:off x="271172" y="4350644"/>
            <a:ext cx="519012" cy="519012"/>
          </a:xfrm>
          <a:prstGeom prst="rect">
            <a:avLst/>
          </a:prstGeom>
          <a:noFill/>
          <a:ln w="127000">
            <a:solidFill>
              <a:schemeClr val="accent6"/>
            </a:solidFill>
            <a:round/>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2" name="Arc 11">
            <a:extLst>
              <a:ext uri="{FF2B5EF4-FFF2-40B4-BE49-F238E27FC236}">
                <a16:creationId xmlns:a16="http://schemas.microsoft.com/office/drawing/2014/main" id="{30468883-4E51-D3BD-E1C6-601ED9B6EF0E}"/>
              </a:ext>
              <a:ext uri="{C183D7F6-B498-43B3-948B-1728B52AA6E4}">
                <adec:decorative xmlns:adec="http://schemas.microsoft.com/office/drawing/2017/decorative" val="1"/>
              </a:ext>
            </a:extLst>
          </p:cNvPr>
          <p:cNvSpPr/>
          <p:nvPr userDrawn="1"/>
        </p:nvSpPr>
        <p:spPr>
          <a:xfrm rot="21438747" flipV="1">
            <a:off x="5975269" y="1898247"/>
            <a:ext cx="3015895" cy="3015895"/>
          </a:xfrm>
          <a:prstGeom prst="arc">
            <a:avLst>
              <a:gd name="adj1" fmla="val 16200000"/>
              <a:gd name="adj2" fmla="val 20093138"/>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lIns="68580" tIns="34290" rIns="68580" bIns="34290"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Freeform 9">
            <a:extLst>
              <a:ext uri="{FF2B5EF4-FFF2-40B4-BE49-F238E27FC236}">
                <a16:creationId xmlns:a16="http://schemas.microsoft.com/office/drawing/2014/main" id="{111AEF3F-9A86-45CE-4817-E3E6863DC09A}"/>
              </a:ext>
              <a:ext uri="{C183D7F6-B498-43B3-948B-1728B52AA6E4}">
                <adec:decorative xmlns:adec="http://schemas.microsoft.com/office/drawing/2017/decorative" val="1"/>
              </a:ext>
            </a:extLst>
          </p:cNvPr>
          <p:cNvSpPr/>
          <p:nvPr userDrawn="1"/>
        </p:nvSpPr>
        <p:spPr>
          <a:xfrm flipH="1">
            <a:off x="8823592" y="292927"/>
            <a:ext cx="328291" cy="597809"/>
          </a:xfrm>
          <a:custGeom>
            <a:avLst/>
            <a:gdLst>
              <a:gd name="connsiteX0" fmla="*/ 28069 w 437721"/>
              <a:gd name="connsiteY0" fmla="*/ 0 h 797078"/>
              <a:gd name="connsiteX1" fmla="*/ 437721 w 437721"/>
              <a:gd name="connsiteY1" fmla="*/ 398539 h 797078"/>
              <a:gd name="connsiteX2" fmla="*/ 28069 w 437721"/>
              <a:gd name="connsiteY2" fmla="*/ 797078 h 797078"/>
              <a:gd name="connsiteX3" fmla="*/ 0 w 437721"/>
              <a:gd name="connsiteY3" fmla="*/ 794325 h 797078"/>
              <a:gd name="connsiteX4" fmla="*/ 0 w 437721"/>
              <a:gd name="connsiteY4" fmla="*/ 2753 h 797078"/>
              <a:gd name="connsiteX5" fmla="*/ 28069 w 437721"/>
              <a:gd name="connsiteY5" fmla="*/ 0 h 797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7721" h="797078">
                <a:moveTo>
                  <a:pt x="28069" y="0"/>
                </a:moveTo>
                <a:cubicBezTo>
                  <a:pt x="254314" y="0"/>
                  <a:pt x="437721" y="178432"/>
                  <a:pt x="437721" y="398539"/>
                </a:cubicBezTo>
                <a:cubicBezTo>
                  <a:pt x="437721" y="618646"/>
                  <a:pt x="254314" y="797078"/>
                  <a:pt x="28069" y="797078"/>
                </a:cubicBezTo>
                <a:lnTo>
                  <a:pt x="0" y="794325"/>
                </a:lnTo>
                <a:lnTo>
                  <a:pt x="0" y="2753"/>
                </a:lnTo>
                <a:lnTo>
                  <a:pt x="28069" y="0"/>
                </a:lnTo>
                <a:close/>
              </a:path>
            </a:pathLst>
          </a:cu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68580" tIns="34290" rIns="68580" bIns="34290" rtlCol="0" anchor="ctr">
            <a:noAutofit/>
          </a:bodyPr>
          <a:lstStyle/>
          <a:p>
            <a:pPr algn="ctr"/>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p:txBody>
          <a:bodyPr anchor="ctr" anchorCtr="0">
            <a:noAutofit/>
          </a:bodyPr>
          <a:lstStyle>
            <a:lvl1pPr>
              <a:defRPr/>
            </a:lvl1pPr>
          </a:lstStyle>
          <a:p>
            <a:r>
              <a:rPr lang="en-US" dirty="0"/>
              <a:t>Click to add title</a:t>
            </a:r>
          </a:p>
        </p:txBody>
      </p:sp>
      <p:sp>
        <p:nvSpPr>
          <p:cNvPr id="9" name="Content Placeholder 2">
            <a:extLst>
              <a:ext uri="{FF2B5EF4-FFF2-40B4-BE49-F238E27FC236}">
                <a16:creationId xmlns:a16="http://schemas.microsoft.com/office/drawing/2014/main" id="{F5A792C8-BB21-CDAF-668C-C1EFF45540C6}"/>
              </a:ext>
            </a:extLst>
          </p:cNvPr>
          <p:cNvSpPr>
            <a:spLocks noGrp="1"/>
          </p:cNvSpPr>
          <p:nvPr>
            <p:ph sz="half" idx="13" hasCustomPrompt="1"/>
          </p:nvPr>
        </p:nvSpPr>
        <p:spPr>
          <a:xfrm>
            <a:off x="628650" y="1369219"/>
            <a:ext cx="5200650" cy="3223260"/>
          </a:xfrm>
          <a:noFill/>
        </p:spPr>
        <p:txBody>
          <a:bodyPr vert="horz" lIns="68580" tIns="34290" rIns="68580" bIns="34290" rtlCol="0" anchor="t">
            <a:normAutofit/>
          </a:bodyPr>
          <a:lstStyle>
            <a:lvl1pPr marL="0" indent="0">
              <a:spcBef>
                <a:spcPts val="750"/>
              </a:spcBef>
              <a:spcAft>
                <a:spcPts val="600"/>
              </a:spcAft>
              <a:buNone/>
              <a:defRPr sz="1400"/>
            </a:lvl1pPr>
            <a:lvl2pPr>
              <a:spcBef>
                <a:spcPts val="375"/>
              </a:spcBef>
              <a:spcAft>
                <a:spcPts val="600"/>
              </a:spcAft>
              <a:buClr>
                <a:schemeClr val="accent2"/>
              </a:buClr>
              <a:defRPr sz="1400"/>
            </a:lvl2pPr>
            <a:lvl3pPr>
              <a:spcBef>
                <a:spcPts val="750"/>
              </a:spcBef>
              <a:buClr>
                <a:schemeClr val="accent2"/>
              </a:buClr>
              <a:defRPr sz="1400"/>
            </a:lvl3pPr>
            <a:lvl4pPr>
              <a:spcBef>
                <a:spcPts val="750"/>
              </a:spcBef>
              <a:buClr>
                <a:schemeClr val="accent2"/>
              </a:buClr>
              <a:defRPr sz="1400"/>
            </a:lvl4pPr>
            <a:lvl5pPr>
              <a:spcBef>
                <a:spcPts val="750"/>
              </a:spcBef>
              <a:buClr>
                <a:schemeClr val="accent2"/>
              </a:buClr>
              <a:defRPr sz="14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endParaRPr lang="en-US" sz="1400" dirty="0">
              <a:latin typeface="Avenir Next LT Pro" panose="020B0504020202020204" pitchFamily="34" charset="77"/>
            </a:endParaRPr>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hasCustomPrompt="1"/>
          </p:nvPr>
        </p:nvSpPr>
        <p:spPr>
          <a:xfrm>
            <a:off x="5927272" y="1369219"/>
            <a:ext cx="2588078" cy="3223260"/>
          </a:xfrm>
        </p:spPr>
        <p:txBody>
          <a:bodyPr>
            <a:normAutofit/>
          </a:bodyPr>
          <a:lstStyle>
            <a:lvl1pPr marL="0" indent="0">
              <a:spcBef>
                <a:spcPts val="750"/>
              </a:spcBef>
              <a:spcAft>
                <a:spcPts val="600"/>
              </a:spcAft>
              <a:buNone/>
              <a:defRPr sz="1400"/>
            </a:lvl1pPr>
            <a:lvl2pPr marL="557213" indent="-214313">
              <a:spcBef>
                <a:spcPts val="750"/>
              </a:spcBef>
              <a:spcAft>
                <a:spcPts val="600"/>
              </a:spcAft>
              <a:buClr>
                <a:schemeClr val="accent2"/>
              </a:buClr>
              <a:buFont typeface="Arial" panose="020B0604020202020204" pitchFamily="34" charset="0"/>
              <a:buChar char="•"/>
              <a:defRPr sz="1200"/>
            </a:lvl2pPr>
            <a:lvl3pPr marL="900113" indent="-214313">
              <a:spcBef>
                <a:spcPts val="750"/>
              </a:spcBef>
              <a:spcAft>
                <a:spcPts val="600"/>
              </a:spcAft>
              <a:buClr>
                <a:schemeClr val="accent2"/>
              </a:buClr>
              <a:buFont typeface="Arial" panose="020B0604020202020204" pitchFamily="34" charset="0"/>
              <a:buChar char="•"/>
              <a:defRPr sz="1100"/>
            </a:lvl3pPr>
            <a:lvl4pPr marL="1157288" indent="-128588">
              <a:spcBef>
                <a:spcPts val="750"/>
              </a:spcBef>
              <a:spcAft>
                <a:spcPts val="600"/>
              </a:spcAft>
              <a:buClr>
                <a:schemeClr val="accent2"/>
              </a:buClr>
              <a:buFont typeface="Arial" panose="020B0604020202020204" pitchFamily="34" charset="0"/>
              <a:buChar char="•"/>
              <a:defRPr sz="900"/>
            </a:lvl4pPr>
            <a:lvl5pPr marL="1500188" indent="-128588">
              <a:spcBef>
                <a:spcPts val="750"/>
              </a:spcBef>
              <a:spcAft>
                <a:spcPts val="600"/>
              </a:spcAft>
              <a:buClr>
                <a:schemeClr val="accent2"/>
              </a:buClr>
              <a:buFont typeface="Arial" panose="020B0604020202020204" pitchFamily="34" charset="0"/>
              <a:buChar char="•"/>
              <a:defRPr sz="9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137703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p:txBody>
          <a:bodyPr anchor="ctr" anchorCtr="0">
            <a:noAutofit/>
          </a:bodyPr>
          <a:lstStyle/>
          <a:p>
            <a:r>
              <a:rPr lang="en-US" dirty="0"/>
              <a:t>Click to add title</a:t>
            </a:r>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pPr/>
              <a:t>‹#›</a:t>
            </a:fld>
            <a:endParaRPr lang="en-US" dirty="0"/>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628649" y="1369219"/>
            <a:ext cx="7886700" cy="3223260"/>
          </a:xfrm>
        </p:spPr>
        <p:txBody>
          <a:bodyPr>
            <a:normAutofit/>
          </a:bodyPr>
          <a:lstStyle>
            <a:lvl1pPr>
              <a:defRPr sz="1800"/>
            </a:lvl1pPr>
          </a:lstStyle>
          <a:p>
            <a:r>
              <a:rPr lang="en-US" dirty="0"/>
              <a:t>Click icon to add table</a:t>
            </a:r>
          </a:p>
        </p:txBody>
      </p:sp>
    </p:spTree>
    <p:extLst>
      <p:ext uri="{BB962C8B-B14F-4D97-AF65-F5344CB8AC3E}">
        <p14:creationId xmlns:p14="http://schemas.microsoft.com/office/powerpoint/2010/main" val="26260992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7B7232D-F1A6-B6C3-3BBF-E834CC7CDC8E}"/>
              </a:ext>
              <a:ext uri="{C183D7F6-B498-43B3-948B-1728B52AA6E4}">
                <adec:decorative xmlns:adec="http://schemas.microsoft.com/office/drawing/2017/decorative" val="1"/>
              </a:ext>
            </a:extLst>
          </p:cNvPr>
          <p:cNvGrpSpPr/>
          <p:nvPr userDrawn="1"/>
        </p:nvGrpSpPr>
        <p:grpSpPr>
          <a:xfrm>
            <a:off x="0" y="0"/>
            <a:ext cx="4447604" cy="5143501"/>
            <a:chOff x="0" y="-1"/>
            <a:chExt cx="5930138" cy="6858001"/>
          </a:xfrm>
        </p:grpSpPr>
        <p:sp>
          <p:nvSpPr>
            <p:cNvPr id="8" name="Oval 7">
              <a:extLst>
                <a:ext uri="{FF2B5EF4-FFF2-40B4-BE49-F238E27FC236}">
                  <a16:creationId xmlns:a16="http://schemas.microsoft.com/office/drawing/2014/main" id="{0D306340-6BFD-FE3D-535B-B59C1C44EDDA}"/>
                </a:ext>
              </a:extLst>
            </p:cNvPr>
            <p:cNvSpPr/>
            <p:nvPr userDrawn="1"/>
          </p:nvSpPr>
          <p:spPr>
            <a:xfrm>
              <a:off x="383877" y="778462"/>
              <a:ext cx="5315035" cy="531503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Freeform: Shape 11">
              <a:extLst>
                <a:ext uri="{FF2B5EF4-FFF2-40B4-BE49-F238E27FC236}">
                  <a16:creationId xmlns:a16="http://schemas.microsoft.com/office/drawing/2014/main" id="{338E6C4B-ABF3-8B7E-8DCF-A93F69C712B1}"/>
                </a:ext>
              </a:extLst>
            </p:cNvPr>
            <p:cNvSpPr/>
            <p:nvPr userDrawn="1"/>
          </p:nvSpPr>
          <p:spPr>
            <a:xfrm flipH="1">
              <a:off x="530529" y="0"/>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Freeform: Shape 13">
              <a:extLst>
                <a:ext uri="{FF2B5EF4-FFF2-40B4-BE49-F238E27FC236}">
                  <a16:creationId xmlns:a16="http://schemas.microsoft.com/office/drawing/2014/main" id="{6F90F99F-B12A-E8F9-5A86-D76B201D6308}"/>
                </a:ext>
              </a:extLst>
            </p:cNvPr>
            <p:cNvSpPr/>
            <p:nvPr userDrawn="1"/>
          </p:nvSpPr>
          <p:spPr>
            <a:xfrm flipH="1">
              <a:off x="3961511" y="-1"/>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Freeform: Shape 15">
              <a:extLst>
                <a:ext uri="{FF2B5EF4-FFF2-40B4-BE49-F238E27FC236}">
                  <a16:creationId xmlns:a16="http://schemas.microsoft.com/office/drawing/2014/main" id="{BFA99EFE-81BC-95EA-FA61-B7199AD98A74}"/>
                </a:ext>
              </a:extLst>
            </p:cNvPr>
            <p:cNvSpPr/>
            <p:nvPr userDrawn="1"/>
          </p:nvSpPr>
          <p:spPr>
            <a:xfrm flipH="1">
              <a:off x="0" y="2936831"/>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Freeform: Shape 17">
              <a:extLst>
                <a:ext uri="{FF2B5EF4-FFF2-40B4-BE49-F238E27FC236}">
                  <a16:creationId xmlns:a16="http://schemas.microsoft.com/office/drawing/2014/main" id="{DD9FC028-D877-28FE-C646-DBD85D932641}"/>
                </a:ext>
              </a:extLst>
            </p:cNvPr>
            <p:cNvSpPr/>
            <p:nvPr userDrawn="1"/>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Freeform: Shape 21">
              <a:extLst>
                <a:ext uri="{FF2B5EF4-FFF2-40B4-BE49-F238E27FC236}">
                  <a16:creationId xmlns:a16="http://schemas.microsoft.com/office/drawing/2014/main" id="{AA0AFFE9-F0C2-BDA0-BF87-9977706AB6A8}"/>
                </a:ext>
              </a:extLst>
            </p:cNvPr>
            <p:cNvSpPr/>
            <p:nvPr userDrawn="1"/>
          </p:nvSpPr>
          <p:spPr>
            <a:xfrm flipH="1">
              <a:off x="4364198" y="6258755"/>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287907" y="573377"/>
            <a:ext cx="3986276" cy="3996747"/>
          </a:xfrm>
        </p:spPr>
        <p:txBody>
          <a:bodyPr>
            <a:noAutofit/>
          </a:bodyPr>
          <a:lstStyle>
            <a:lvl1pPr algn="ctr">
              <a:defRPr sz="3300">
                <a:solidFill>
                  <a:schemeClr val="bg1"/>
                </a:solidFill>
              </a:defRPr>
            </a:lvl1pPr>
          </a:lstStyle>
          <a:p>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4954092" y="566379"/>
            <a:ext cx="3464953" cy="3986276"/>
          </a:xfrm>
        </p:spPr>
        <p:txBody>
          <a:bodyPr anchor="ctr" anchorCtr="0">
            <a:normAutofit/>
          </a:bodyPr>
          <a:lstStyle>
            <a:lvl1pPr marL="0" indent="0">
              <a:spcBef>
                <a:spcPts val="750"/>
              </a:spcBef>
              <a:spcAft>
                <a:spcPts val="600"/>
              </a:spcAft>
              <a:buNone/>
              <a:defRPr sz="1800"/>
            </a:lvl1pPr>
            <a:lvl2pPr marL="600075" indent="-257175">
              <a:spcBef>
                <a:spcPts val="750"/>
              </a:spcBef>
              <a:spcAft>
                <a:spcPts val="600"/>
              </a:spcAft>
              <a:buClr>
                <a:schemeClr val="accent2"/>
              </a:buClr>
              <a:buFont typeface="Arial" panose="020B0604020202020204" pitchFamily="34" charset="0"/>
              <a:buChar char="•"/>
              <a:defRPr sz="1500"/>
            </a:lvl2pPr>
            <a:lvl3pPr marL="900113" indent="-214313">
              <a:spcBef>
                <a:spcPts val="750"/>
              </a:spcBef>
              <a:spcAft>
                <a:spcPts val="600"/>
              </a:spcAft>
              <a:buClr>
                <a:schemeClr val="accent2"/>
              </a:buClr>
              <a:buFont typeface="Arial" panose="020B0604020202020204" pitchFamily="34" charset="0"/>
              <a:buChar char="•"/>
              <a:defRPr sz="1400"/>
            </a:lvl3pPr>
            <a:lvl4pPr marL="1243013" indent="-214313">
              <a:spcBef>
                <a:spcPts val="750"/>
              </a:spcBef>
              <a:spcAft>
                <a:spcPts val="600"/>
              </a:spcAft>
              <a:buClr>
                <a:schemeClr val="accent2"/>
              </a:buClr>
              <a:buFont typeface="Arial" panose="020B0604020202020204" pitchFamily="34" charset="0"/>
              <a:buChar char="•"/>
              <a:defRPr sz="1200"/>
            </a:lvl4pPr>
            <a:lvl5pPr marL="1585913" indent="-214313">
              <a:spcBef>
                <a:spcPts val="750"/>
              </a:spcBef>
              <a:spcAft>
                <a:spcPts val="600"/>
              </a:spcAft>
              <a:buClr>
                <a:schemeClr val="accent2"/>
              </a:buClr>
              <a:buFont typeface="Arial" panose="020B0604020202020204" pitchFamily="34" charset="0"/>
              <a:buChar cha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fld id="{D6D8061D-18C3-4F4F-85EF-561633F58754}" type="datetimeFigureOut">
              <a:rPr lang="en-US" smtClean="0"/>
              <a:pPr/>
              <a:t>4/9/2026</a:t>
            </a:fld>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21629670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D97564-C310-6E8C-8689-CE18881B4A17}"/>
              </a:ext>
            </a:extLst>
          </p:cNvPr>
          <p:cNvSpPr>
            <a:spLocks noGrp="1"/>
          </p:cNvSpPr>
          <p:nvPr>
            <p:ph type="title"/>
          </p:nvPr>
        </p:nvSpPr>
        <p:spPr>
          <a:xfrm>
            <a:off x="628650" y="273844"/>
            <a:ext cx="7886700" cy="994172"/>
          </a:xfrm>
          <a:prstGeom prst="rect">
            <a:avLst/>
          </a:prstGeom>
        </p:spPr>
        <p:txBody>
          <a:bodyPr vert="horz" lIns="68580" tIns="34290" rIns="68580" bIns="3429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FAD99FA-26D9-873B-BE7F-26FEC5C233A2}"/>
              </a:ext>
            </a:extLst>
          </p:cNvPr>
          <p:cNvSpPr>
            <a:spLocks noGrp="1"/>
          </p:cNvSpPr>
          <p:nvPr>
            <p:ph type="body" idx="1"/>
          </p:nvPr>
        </p:nvSpPr>
        <p:spPr>
          <a:xfrm>
            <a:off x="628650" y="1369218"/>
            <a:ext cx="7886700" cy="3263504"/>
          </a:xfrm>
          <a:prstGeom prst="rect">
            <a:avLst/>
          </a:prstGeom>
        </p:spPr>
        <p:txBody>
          <a:bodyPr vert="horz" lIns="68580" tIns="34290" rIns="68580" bIns="3429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19819E-0266-97DD-DFD1-BAAA06AE3236}"/>
              </a:ext>
            </a:extLst>
          </p:cNvPr>
          <p:cNvSpPr>
            <a:spLocks noGrp="1"/>
          </p:cNvSpPr>
          <p:nvPr>
            <p:ph type="dt" sz="half" idx="2"/>
          </p:nvPr>
        </p:nvSpPr>
        <p:spPr>
          <a:xfrm>
            <a:off x="628650" y="4767263"/>
            <a:ext cx="2057400" cy="273844"/>
          </a:xfrm>
          <a:prstGeom prst="rect">
            <a:avLst/>
          </a:prstGeom>
        </p:spPr>
        <p:txBody>
          <a:bodyPr vert="horz" lIns="68580" tIns="34290" rIns="68580" bIns="34290" rtlCol="0" anchor="ctr"/>
          <a:lstStyle>
            <a:lvl1pPr algn="l">
              <a:defRPr sz="900">
                <a:solidFill>
                  <a:schemeClr val="tx1">
                    <a:tint val="82000"/>
                  </a:schemeClr>
                </a:solidFill>
              </a:defRPr>
            </a:lvl1pPr>
          </a:lstStyle>
          <a:p>
            <a:fld id="{D6D8061D-18C3-4F4F-85EF-561633F58754}" type="datetimeFigureOut">
              <a:rPr lang="en-US" smtClean="0"/>
              <a:pPr/>
              <a:t>4/9/2026</a:t>
            </a:fld>
            <a:endParaRPr lang="en-US" dirty="0"/>
          </a:p>
        </p:txBody>
      </p:sp>
      <p:sp>
        <p:nvSpPr>
          <p:cNvPr id="5" name="Footer Placeholder 4">
            <a:extLst>
              <a:ext uri="{FF2B5EF4-FFF2-40B4-BE49-F238E27FC236}">
                <a16:creationId xmlns:a16="http://schemas.microsoft.com/office/drawing/2014/main" id="{2BFD19C9-01CE-9E2A-CDA5-C15940F055F7}"/>
              </a:ext>
            </a:extLst>
          </p:cNvPr>
          <p:cNvSpPr>
            <a:spLocks noGrp="1"/>
          </p:cNvSpPr>
          <p:nvPr>
            <p:ph type="ftr" sz="quarter" idx="3"/>
          </p:nvPr>
        </p:nvSpPr>
        <p:spPr>
          <a:xfrm>
            <a:off x="3028950" y="4767263"/>
            <a:ext cx="3086100" cy="273844"/>
          </a:xfrm>
          <a:prstGeom prst="rect">
            <a:avLst/>
          </a:prstGeom>
        </p:spPr>
        <p:txBody>
          <a:bodyPr vert="horz" lIns="68580" tIns="34290" rIns="68580" bIns="34290" rtlCol="0" anchor="ctr"/>
          <a:lstStyle>
            <a:lvl1pPr algn="ctr">
              <a:defRPr sz="9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A1801085-7B28-048D-E3D3-9C3614268DA7}"/>
              </a:ext>
            </a:extLst>
          </p:cNvPr>
          <p:cNvSpPr>
            <a:spLocks noGrp="1"/>
          </p:cNvSpPr>
          <p:nvPr>
            <p:ph type="sldNum" sz="quarter" idx="4"/>
          </p:nvPr>
        </p:nvSpPr>
        <p:spPr>
          <a:xfrm>
            <a:off x="6457950" y="4767263"/>
            <a:ext cx="2057400" cy="273844"/>
          </a:xfrm>
          <a:prstGeom prst="rect">
            <a:avLst/>
          </a:prstGeom>
        </p:spPr>
        <p:txBody>
          <a:bodyPr vert="horz" lIns="68580" tIns="34290" rIns="68580" bIns="34290" rtlCol="0" anchor="ctr"/>
          <a:lstStyle>
            <a:lvl1pPr algn="r">
              <a:defRPr sz="900">
                <a:solidFill>
                  <a:schemeClr val="tx1">
                    <a:tint val="82000"/>
                  </a:schemeClr>
                </a:solidFill>
              </a:defRPr>
            </a:lvl1pPr>
          </a:lstStyle>
          <a:p>
            <a:fld id="{CBD12358-51D2-46B3-9BDE-DF29528B9454}" type="slidenum">
              <a:rPr lang="en-US" smtClean="0"/>
              <a:pPr/>
              <a:t>‹#›</a:t>
            </a:fld>
            <a:endParaRPr lang="en-US" dirty="0"/>
          </a:p>
        </p:txBody>
      </p:sp>
    </p:spTree>
    <p:extLst>
      <p:ext uri="{BB962C8B-B14F-4D97-AF65-F5344CB8AC3E}">
        <p14:creationId xmlns:p14="http://schemas.microsoft.com/office/powerpoint/2010/main" val="1965934658"/>
      </p:ext>
    </p:extLst>
  </p:cSld>
  <p:clrMap bg1="lt1" tx1="dk1" bg2="lt2" tx2="dk2" accent1="accent1" accent2="accent2" accent3="accent3" accent4="accent4" accent5="accent5" accent6="accent6" hlink="hlink" folHlink="folHlink"/>
  <p:sldLayoutIdLst>
    <p:sldLayoutId id="2147483654" r:id="rId1"/>
    <p:sldLayoutId id="2147483660" r:id="rId2"/>
    <p:sldLayoutId id="2147483658" r:id="rId3"/>
    <p:sldLayoutId id="2147483650" r:id="rId4"/>
    <p:sldLayoutId id="2147483649" r:id="rId5"/>
    <p:sldLayoutId id="2147483662" r:id="rId6"/>
    <p:sldLayoutId id="2147483663" r:id="rId7"/>
    <p:sldLayoutId id="2147483652" r:id="rId8"/>
    <p:sldLayoutId id="2147483666" r:id="rId9"/>
    <p:sldLayoutId id="2147483664" r:id="rId10"/>
    <p:sldLayoutId id="2147483665" r:id="rId11"/>
    <p:sldLayoutId id="2147483661"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685800" rtl="0" eaLnBrk="1" latinLnBrk="0" hangingPunct="1">
        <a:defRPr sz="1400" kern="1200">
          <a:solidFill>
            <a:schemeClr val="tx1"/>
          </a:solidFill>
          <a:latin typeface="+mn-lt"/>
          <a:ea typeface="+mn-ea"/>
          <a:cs typeface="+mn-cs"/>
        </a:defRPr>
      </a:lvl1pPr>
      <a:lvl2pPr marL="342900" algn="l" defTabSz="685800" rtl="0" eaLnBrk="1" latinLnBrk="0" hangingPunct="1">
        <a:defRPr sz="1400" kern="1200">
          <a:solidFill>
            <a:schemeClr val="tx1"/>
          </a:solidFill>
          <a:latin typeface="+mn-lt"/>
          <a:ea typeface="+mn-ea"/>
          <a:cs typeface="+mn-cs"/>
        </a:defRPr>
      </a:lvl2pPr>
      <a:lvl3pPr marL="685800" algn="l" defTabSz="685800" rtl="0" eaLnBrk="1" latinLnBrk="0" hangingPunct="1">
        <a:defRPr sz="1400" kern="1200">
          <a:solidFill>
            <a:schemeClr val="tx1"/>
          </a:solidFill>
          <a:latin typeface="+mn-lt"/>
          <a:ea typeface="+mn-ea"/>
          <a:cs typeface="+mn-cs"/>
        </a:defRPr>
      </a:lvl3pPr>
      <a:lvl4pPr marL="1028700" algn="l" defTabSz="685800" rtl="0" eaLnBrk="1" latinLnBrk="0" hangingPunct="1">
        <a:defRPr sz="1400" kern="1200">
          <a:solidFill>
            <a:schemeClr val="tx1"/>
          </a:solidFill>
          <a:latin typeface="+mn-lt"/>
          <a:ea typeface="+mn-ea"/>
          <a:cs typeface="+mn-cs"/>
        </a:defRPr>
      </a:lvl4pPr>
      <a:lvl5pPr marL="1371600" algn="l" defTabSz="685800" rtl="0" eaLnBrk="1" latinLnBrk="0" hangingPunct="1">
        <a:defRPr sz="1400" kern="1200">
          <a:solidFill>
            <a:schemeClr val="tx1"/>
          </a:solidFill>
          <a:latin typeface="+mn-lt"/>
          <a:ea typeface="+mn-ea"/>
          <a:cs typeface="+mn-cs"/>
        </a:defRPr>
      </a:lvl5pPr>
      <a:lvl6pPr marL="1714500" algn="l" defTabSz="685800" rtl="0" eaLnBrk="1" latinLnBrk="0" hangingPunct="1">
        <a:defRPr sz="1400" kern="1200">
          <a:solidFill>
            <a:schemeClr val="tx1"/>
          </a:solidFill>
          <a:latin typeface="+mn-lt"/>
          <a:ea typeface="+mn-ea"/>
          <a:cs typeface="+mn-cs"/>
        </a:defRPr>
      </a:lvl6pPr>
      <a:lvl7pPr marL="2057400" algn="l" defTabSz="685800" rtl="0" eaLnBrk="1" latinLnBrk="0" hangingPunct="1">
        <a:defRPr sz="1400" kern="1200">
          <a:solidFill>
            <a:schemeClr val="tx1"/>
          </a:solidFill>
          <a:latin typeface="+mn-lt"/>
          <a:ea typeface="+mn-ea"/>
          <a:cs typeface="+mn-cs"/>
        </a:defRPr>
      </a:lvl7pPr>
      <a:lvl8pPr marL="2400300" algn="l" defTabSz="685800" rtl="0" eaLnBrk="1" latinLnBrk="0" hangingPunct="1">
        <a:defRPr sz="1400" kern="1200">
          <a:solidFill>
            <a:schemeClr val="tx1"/>
          </a:solidFill>
          <a:latin typeface="+mn-lt"/>
          <a:ea typeface="+mn-ea"/>
          <a:cs typeface="+mn-cs"/>
        </a:defRPr>
      </a:lvl8pPr>
      <a:lvl9pPr marL="2743200" algn="l" defTabSz="685800" rtl="0" eaLnBrk="1" latinLnBrk="0" hangingPunct="1">
        <a:defRPr sz="1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56.xml"/><Relationship Id="rId1" Type="http://schemas.openxmlformats.org/officeDocument/2006/relationships/slideLayout" Target="../slideLayouts/slideLayout1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8.xml"/><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0.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0.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0.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047101-8D42-6100-9CEA-AEC0FAEAB606}"/>
              </a:ext>
            </a:extLst>
          </p:cNvPr>
          <p:cNvSpPr>
            <a:spLocks noGrp="1"/>
          </p:cNvSpPr>
          <p:nvPr>
            <p:ph type="ctrTitle"/>
          </p:nvPr>
        </p:nvSpPr>
        <p:spPr>
          <a:xfrm>
            <a:off x="2924175" y="2212304"/>
            <a:ext cx="6126957" cy="2683546"/>
          </a:xfrm>
          <a:noFill/>
        </p:spPr>
        <p:txBody>
          <a:bodyPr anchor="b">
            <a:noAutofit/>
          </a:bodyPr>
          <a:lstStyle/>
          <a:p>
            <a:r>
              <a:rPr lang="en-IN" sz="4400" dirty="0"/>
              <a:t>Introduction to </a:t>
            </a:r>
            <a:br>
              <a:rPr lang="en-IN" sz="4400" dirty="0"/>
            </a:br>
            <a:r>
              <a:rPr lang="en-IN" sz="4400" dirty="0"/>
              <a:t>Large Language Models</a:t>
            </a:r>
            <a:br>
              <a:rPr lang="en-IN" dirty="0"/>
            </a:br>
            <a:r>
              <a:rPr lang="en-IN" sz="2400" dirty="0"/>
              <a:t>From Foundation to Real World Applications</a:t>
            </a:r>
            <a:br>
              <a:rPr lang="en-IN" sz="2100" dirty="0"/>
            </a:br>
            <a:br>
              <a:rPr lang="en-IN" sz="2100" dirty="0"/>
            </a:br>
            <a:r>
              <a:rPr lang="en-IN" sz="2400" dirty="0"/>
              <a:t>Computer Division, BARC and</a:t>
            </a:r>
            <a:br>
              <a:rPr lang="en-IN" sz="2400" dirty="0"/>
            </a:br>
            <a:r>
              <a:rPr lang="en-US" sz="2400" dirty="0"/>
              <a:t>Centre for Excellence in Basic Sciences</a:t>
            </a:r>
            <a:r>
              <a:rPr lang="en-IN" sz="2400" dirty="0"/>
              <a:t> (CEBS)</a:t>
            </a:r>
            <a:endParaRPr lang="en-US" sz="2400" dirty="0"/>
          </a:p>
        </p:txBody>
      </p:sp>
    </p:spTree>
    <p:extLst>
      <p:ext uri="{BB962C8B-B14F-4D97-AF65-F5344CB8AC3E}">
        <p14:creationId xmlns:p14="http://schemas.microsoft.com/office/powerpoint/2010/main" val="517426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cstate="print">
            <a:lum/>
          </a:blip>
          <a:srcRect/>
          <a:stretch>
            <a:fillRect t="-3000" b="-3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263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457468" y="839273"/>
            <a:ext cx="3288552" cy="3464954"/>
          </a:xfrm>
          <a:noFill/>
        </p:spPr>
        <p:txBody>
          <a:bodyPr>
            <a:noAutofit/>
          </a:bodyPr>
          <a:lstStyle/>
          <a:p>
            <a:r>
              <a:rPr lang="en-US" sz="4400" dirty="0"/>
              <a:t>Agenda</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4351282" y="416207"/>
            <a:ext cx="4164068" cy="4326165"/>
          </a:xfrm>
          <a:noFill/>
        </p:spPr>
        <p:txBody>
          <a:bodyPr>
            <a:normAutofit/>
          </a:bodyPr>
          <a:lstStyle/>
          <a:p>
            <a:r>
              <a:rPr lang="en-IN" b="1" dirty="0"/>
              <a:t>Introduction</a:t>
            </a:r>
          </a:p>
          <a:p>
            <a:r>
              <a:rPr lang="en-IN" b="1" dirty="0"/>
              <a:t>Large Language Models</a:t>
            </a:r>
          </a:p>
          <a:p>
            <a:r>
              <a:rPr lang="en-IN" b="1" dirty="0"/>
              <a:t>Prompt Engineering</a:t>
            </a:r>
          </a:p>
          <a:p>
            <a:r>
              <a:rPr lang="en-IN" b="1" dirty="0"/>
              <a:t>In Context Learning</a:t>
            </a:r>
          </a:p>
          <a:p>
            <a:r>
              <a:rPr lang="en-IN" b="1" dirty="0"/>
              <a:t>Training LLMs</a:t>
            </a:r>
          </a:p>
          <a:p>
            <a:r>
              <a:rPr lang="en-IN" b="1" dirty="0"/>
              <a:t>LLM Applications</a:t>
            </a:r>
          </a:p>
          <a:p>
            <a:r>
              <a:rPr lang="en-IN" b="1" dirty="0"/>
              <a:t>Deploying LLMs</a:t>
            </a:r>
          </a:p>
          <a:p>
            <a:r>
              <a:rPr lang="en-IN" b="1" dirty="0"/>
              <a:t>Conclusions</a:t>
            </a:r>
            <a:endParaRPr lang="en-US" b="1" dirty="0"/>
          </a:p>
        </p:txBody>
      </p:sp>
    </p:spTree>
    <p:extLst>
      <p:ext uri="{BB962C8B-B14F-4D97-AF65-F5344CB8AC3E}">
        <p14:creationId xmlns:p14="http://schemas.microsoft.com/office/powerpoint/2010/main" val="3920724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Introduction</a:t>
            </a:r>
          </a:p>
        </p:txBody>
      </p:sp>
      <p:sp>
        <p:nvSpPr>
          <p:cNvPr id="26"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marL="171450" lvl="1" indent="-171450"/>
            <a:r>
              <a:rPr lang="pt-BR" sz="2000" b="1" dirty="0"/>
              <a:t>OpenAI</a:t>
            </a:r>
          </a:p>
          <a:p>
            <a:pPr marL="514350" lvl="2" indent="-171450"/>
            <a:r>
              <a:rPr lang="pt-BR" sz="1900" dirty="0"/>
              <a:t>GPT 4, GPT 5.4</a:t>
            </a:r>
          </a:p>
          <a:p>
            <a:pPr marL="514350" lvl="2" indent="-171450"/>
            <a:r>
              <a:rPr lang="pt-BR" sz="1900" dirty="0"/>
              <a:t>GPT 5.4 mini, GPT 5.4 nano</a:t>
            </a:r>
          </a:p>
          <a:p>
            <a:pPr marL="171450" lvl="1" indent="-171450"/>
            <a:r>
              <a:rPr lang="en-US" sz="2000" dirty="0"/>
              <a:t>Access – API</a:t>
            </a:r>
            <a:endParaRPr lang="pt-BR" sz="2000" dirty="0"/>
          </a:p>
          <a:p>
            <a:pPr marL="171450" lvl="1" indent="-171450"/>
            <a:r>
              <a:rPr lang="pt-BR" sz="2000" dirty="0"/>
              <a:t>Multimodal</a:t>
            </a:r>
          </a:p>
          <a:p>
            <a:pPr marL="514350" lvl="2" indent="-171450"/>
            <a:r>
              <a:rPr lang="pt-BR" sz="1900" dirty="0"/>
              <a:t>Text, Image, Code, Audio</a:t>
            </a:r>
            <a:endParaRPr lang="en-US" sz="1900" dirty="0"/>
          </a:p>
        </p:txBody>
      </p:sp>
      <p:sp>
        <p:nvSpPr>
          <p:cNvPr id="7" name="Content Placeholder 2">
            <a:extLst>
              <a:ext uri="{FF2B5EF4-FFF2-40B4-BE49-F238E27FC236}">
                <a16:creationId xmlns:a16="http://schemas.microsoft.com/office/drawing/2014/main" id="{68A5FD2B-E3E5-1C2B-0151-21F216B14A33}"/>
              </a:ext>
            </a:extLst>
          </p:cNvPr>
          <p:cNvSpPr txBox="1">
            <a:spLocks/>
          </p:cNvSpPr>
          <p:nvPr/>
        </p:nvSpPr>
        <p:spPr>
          <a:xfrm>
            <a:off x="4810126" y="1369219"/>
            <a:ext cx="3686372" cy="3223260"/>
          </a:xfrm>
          <a:prstGeom prst="rect">
            <a:avLst/>
          </a:prstGeom>
          <a:noFill/>
        </p:spPr>
        <p:txBody>
          <a:bodyPr vert="horz" lIns="68580" tIns="34290" rIns="68580" bIns="34290" rtlCol="0">
            <a:normAutofit/>
          </a:bodyPr>
          <a:lstStyle/>
          <a:p>
            <a:pPr marL="171450" lvl="1" indent="-171450">
              <a:lnSpc>
                <a:spcPct val="90000"/>
              </a:lnSpc>
              <a:spcBef>
                <a:spcPts val="750"/>
              </a:spcBef>
              <a:spcAft>
                <a:spcPts val="600"/>
              </a:spcAft>
              <a:buClr>
                <a:schemeClr val="accent2"/>
              </a:buClr>
              <a:buFont typeface="Arial" panose="020B0604020202020204" pitchFamily="34" charset="0"/>
              <a:buChar char="•"/>
            </a:pPr>
            <a:r>
              <a:rPr lang="en-US" sz="2000" b="1" dirty="0"/>
              <a:t>Google</a:t>
            </a:r>
          </a:p>
          <a:p>
            <a:pPr marL="514350" lvl="2" indent="-171450">
              <a:lnSpc>
                <a:spcPct val="90000"/>
              </a:lnSpc>
              <a:spcBef>
                <a:spcPts val="750"/>
              </a:spcBef>
              <a:spcAft>
                <a:spcPts val="600"/>
              </a:spcAft>
              <a:buClr>
                <a:schemeClr val="accent2"/>
              </a:buClr>
              <a:buFont typeface="Arial" panose="020B0604020202020204" pitchFamily="34" charset="0"/>
              <a:buChar char="•"/>
            </a:pPr>
            <a:r>
              <a:rPr lang="en-US" sz="2000" dirty="0"/>
              <a:t>Gemini 2, Gemini 3.1</a:t>
            </a:r>
          </a:p>
          <a:p>
            <a:pPr marL="514350" lvl="2" indent="-171450">
              <a:lnSpc>
                <a:spcPct val="90000"/>
              </a:lnSpc>
              <a:spcBef>
                <a:spcPts val="750"/>
              </a:spcBef>
              <a:spcAft>
                <a:spcPts val="600"/>
              </a:spcAft>
              <a:buClr>
                <a:schemeClr val="accent2"/>
              </a:buClr>
              <a:buFont typeface="Arial" panose="020B0604020202020204" pitchFamily="34" charset="0"/>
              <a:buChar char="•"/>
            </a:pPr>
            <a:r>
              <a:rPr lang="en-US" sz="2000" dirty="0"/>
              <a:t>Gemini 3.1 Flash–Lite </a:t>
            </a:r>
          </a:p>
          <a:p>
            <a:pPr marL="171450" lvl="1" indent="-171450">
              <a:lnSpc>
                <a:spcPct val="90000"/>
              </a:lnSpc>
              <a:spcBef>
                <a:spcPts val="750"/>
              </a:spcBef>
              <a:spcAft>
                <a:spcPts val="600"/>
              </a:spcAft>
              <a:buClr>
                <a:schemeClr val="accent2"/>
              </a:buClr>
              <a:buFont typeface="Arial" panose="020B0604020202020204" pitchFamily="34" charset="0"/>
              <a:buChar char="•"/>
            </a:pPr>
            <a:r>
              <a:rPr lang="en-US" sz="2000" dirty="0"/>
              <a:t>Access – API  </a:t>
            </a:r>
          </a:p>
          <a:p>
            <a:pPr marL="171450" lvl="1" indent="-171450">
              <a:lnSpc>
                <a:spcPct val="90000"/>
              </a:lnSpc>
              <a:spcBef>
                <a:spcPts val="750"/>
              </a:spcBef>
              <a:spcAft>
                <a:spcPts val="600"/>
              </a:spcAft>
              <a:buClr>
                <a:schemeClr val="accent2"/>
              </a:buClr>
              <a:buFont typeface="Arial" panose="020B0604020202020204" pitchFamily="34" charset="0"/>
              <a:buChar char="•"/>
            </a:pPr>
            <a:r>
              <a:rPr lang="pt-BR" sz="2000" dirty="0"/>
              <a:t>Multimodal</a:t>
            </a:r>
          </a:p>
          <a:p>
            <a:pPr marL="514350" lvl="2" indent="-171450">
              <a:lnSpc>
                <a:spcPct val="90000"/>
              </a:lnSpc>
              <a:spcBef>
                <a:spcPts val="750"/>
              </a:spcBef>
              <a:spcAft>
                <a:spcPts val="600"/>
              </a:spcAft>
              <a:buClr>
                <a:schemeClr val="accent2"/>
              </a:buClr>
              <a:buFont typeface="Arial" panose="020B0604020202020204" pitchFamily="34" charset="0"/>
              <a:buChar char="•"/>
            </a:pPr>
            <a:r>
              <a:rPr lang="pt-BR" sz="1900" dirty="0"/>
              <a:t>Text, Image, Code, Audio</a:t>
            </a: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7372412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Introduction</a:t>
            </a:r>
          </a:p>
        </p:txBody>
      </p:sp>
      <p:sp>
        <p:nvSpPr>
          <p:cNvPr id="26"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marL="171450" lvl="1" indent="-171450"/>
            <a:r>
              <a:rPr lang="pt-BR" sz="2000" b="1" dirty="0"/>
              <a:t>Anthropic</a:t>
            </a:r>
          </a:p>
          <a:p>
            <a:pPr marL="514350" lvl="2" indent="-171450"/>
            <a:r>
              <a:rPr lang="pt-BR" sz="1900" dirty="0"/>
              <a:t>Claude 3.7 Sonnet</a:t>
            </a:r>
          </a:p>
          <a:p>
            <a:pPr marL="514350" lvl="2" indent="-171450"/>
            <a:r>
              <a:rPr lang="pt-BR" sz="1900" dirty="0"/>
              <a:t>Claude Opus 4.6</a:t>
            </a:r>
          </a:p>
          <a:p>
            <a:pPr marL="171450" lvl="1" indent="-171450"/>
            <a:r>
              <a:rPr lang="en-US" sz="2000" dirty="0"/>
              <a:t>Access – API</a:t>
            </a:r>
            <a:endParaRPr lang="pt-BR" sz="2000" dirty="0"/>
          </a:p>
          <a:p>
            <a:pPr marL="171450" lvl="1" indent="-171450"/>
            <a:r>
              <a:rPr lang="pt-BR" sz="2000" dirty="0"/>
              <a:t>Multimodal</a:t>
            </a:r>
          </a:p>
          <a:p>
            <a:pPr marL="514350" lvl="2" indent="-171450"/>
            <a:r>
              <a:rPr lang="pt-BR" sz="1900" dirty="0"/>
              <a:t>Text, Image, Code, Audio</a:t>
            </a:r>
            <a:endParaRPr lang="en-US" sz="1900" dirty="0"/>
          </a:p>
        </p:txBody>
      </p:sp>
      <p:sp>
        <p:nvSpPr>
          <p:cNvPr id="7" name="Content Placeholder 2">
            <a:extLst>
              <a:ext uri="{FF2B5EF4-FFF2-40B4-BE49-F238E27FC236}">
                <a16:creationId xmlns:a16="http://schemas.microsoft.com/office/drawing/2014/main" id="{68A5FD2B-E3E5-1C2B-0151-21F216B14A33}"/>
              </a:ext>
            </a:extLst>
          </p:cNvPr>
          <p:cNvSpPr txBox="1">
            <a:spLocks/>
          </p:cNvSpPr>
          <p:nvPr/>
        </p:nvSpPr>
        <p:spPr>
          <a:xfrm>
            <a:off x="4810126" y="1369219"/>
            <a:ext cx="3686372" cy="3223260"/>
          </a:xfrm>
          <a:prstGeom prst="rect">
            <a:avLst/>
          </a:prstGeom>
          <a:noFill/>
        </p:spPr>
        <p:txBody>
          <a:bodyPr vert="horz" lIns="68580" tIns="34290" rIns="68580" bIns="34290" rtlCol="0">
            <a:normAutofit/>
          </a:bodyPr>
          <a:lstStyle/>
          <a:p>
            <a:pPr marL="171450" lvl="1" indent="-171450">
              <a:lnSpc>
                <a:spcPct val="90000"/>
              </a:lnSpc>
              <a:spcBef>
                <a:spcPts val="750"/>
              </a:spcBef>
              <a:spcAft>
                <a:spcPts val="600"/>
              </a:spcAft>
              <a:buClr>
                <a:schemeClr val="accent2"/>
              </a:buClr>
              <a:buFont typeface="Arial" panose="020B0604020202020204" pitchFamily="34" charset="0"/>
              <a:buChar char="•"/>
            </a:pPr>
            <a:r>
              <a:rPr lang="en-US" sz="2000" b="1" dirty="0" err="1"/>
              <a:t>xAI</a:t>
            </a:r>
            <a:endParaRPr lang="en-US" sz="2000" b="1" dirty="0"/>
          </a:p>
          <a:p>
            <a:pPr marL="514350" lvl="2" indent="-171450">
              <a:lnSpc>
                <a:spcPct val="90000"/>
              </a:lnSpc>
              <a:spcBef>
                <a:spcPts val="750"/>
              </a:spcBef>
              <a:spcAft>
                <a:spcPts val="600"/>
              </a:spcAft>
              <a:buClr>
                <a:schemeClr val="accent2"/>
              </a:buClr>
              <a:buFont typeface="Arial" panose="020B0604020202020204" pitchFamily="34" charset="0"/>
              <a:buChar char="•"/>
            </a:pPr>
            <a:r>
              <a:rPr lang="en-US" sz="2000" dirty="0"/>
              <a:t>Grok 3</a:t>
            </a:r>
          </a:p>
          <a:p>
            <a:pPr marL="514350" lvl="2" indent="-171450">
              <a:lnSpc>
                <a:spcPct val="90000"/>
              </a:lnSpc>
              <a:spcBef>
                <a:spcPts val="750"/>
              </a:spcBef>
              <a:spcAft>
                <a:spcPts val="600"/>
              </a:spcAft>
              <a:buClr>
                <a:schemeClr val="accent2"/>
              </a:buClr>
              <a:buFont typeface="Arial" panose="020B0604020202020204" pitchFamily="34" charset="0"/>
              <a:buChar char="•"/>
            </a:pPr>
            <a:r>
              <a:rPr lang="en-US" sz="2000" dirty="0"/>
              <a:t>Grok 4.20 </a:t>
            </a:r>
          </a:p>
          <a:p>
            <a:pPr marL="171450" lvl="1" indent="-171450">
              <a:lnSpc>
                <a:spcPct val="90000"/>
              </a:lnSpc>
              <a:spcBef>
                <a:spcPts val="750"/>
              </a:spcBef>
              <a:spcAft>
                <a:spcPts val="600"/>
              </a:spcAft>
              <a:buClr>
                <a:schemeClr val="accent2"/>
              </a:buClr>
              <a:buFont typeface="Arial" panose="020B0604020202020204" pitchFamily="34" charset="0"/>
              <a:buChar char="•"/>
            </a:pPr>
            <a:r>
              <a:rPr lang="en-US" sz="2000" dirty="0"/>
              <a:t>Access – API  </a:t>
            </a:r>
          </a:p>
          <a:p>
            <a:pPr marL="171450" lvl="1" indent="-171450">
              <a:lnSpc>
                <a:spcPct val="90000"/>
              </a:lnSpc>
              <a:spcBef>
                <a:spcPts val="750"/>
              </a:spcBef>
              <a:spcAft>
                <a:spcPts val="600"/>
              </a:spcAft>
              <a:buClr>
                <a:schemeClr val="accent2"/>
              </a:buClr>
              <a:buFont typeface="Arial" panose="020B0604020202020204" pitchFamily="34" charset="0"/>
              <a:buChar char="•"/>
            </a:pPr>
            <a:r>
              <a:rPr lang="pt-BR" sz="2000" dirty="0"/>
              <a:t>Multimodal</a:t>
            </a:r>
          </a:p>
          <a:p>
            <a:pPr marL="514350" lvl="2" indent="-171450">
              <a:lnSpc>
                <a:spcPct val="90000"/>
              </a:lnSpc>
              <a:spcBef>
                <a:spcPts val="750"/>
              </a:spcBef>
              <a:spcAft>
                <a:spcPts val="600"/>
              </a:spcAft>
              <a:buClr>
                <a:schemeClr val="accent2"/>
              </a:buClr>
              <a:buFont typeface="Arial" panose="020B0604020202020204" pitchFamily="34" charset="0"/>
              <a:buChar char="•"/>
            </a:pPr>
            <a:r>
              <a:rPr lang="pt-BR" sz="1900" dirty="0"/>
              <a:t>Text, Image, Code, Audio</a:t>
            </a: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6384910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Introduction</a:t>
            </a:r>
          </a:p>
        </p:txBody>
      </p:sp>
      <p:sp>
        <p:nvSpPr>
          <p:cNvPr id="26"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marL="171450" lvl="1" indent="-171450"/>
            <a:r>
              <a:rPr lang="es-ES" sz="2000" b="1" dirty="0"/>
              <a:t>Meta</a:t>
            </a:r>
          </a:p>
          <a:p>
            <a:pPr marL="514350" lvl="2" indent="-171450"/>
            <a:r>
              <a:rPr lang="es-ES" sz="1900" dirty="0"/>
              <a:t>Llama 2, Llama 3</a:t>
            </a:r>
          </a:p>
          <a:p>
            <a:pPr marL="514350" lvl="2" indent="-171450"/>
            <a:r>
              <a:rPr lang="en-US" sz="1900" dirty="0"/>
              <a:t>Llama 4 (Scout and Maverick)</a:t>
            </a:r>
            <a:endParaRPr lang="es-ES" sz="1900" dirty="0"/>
          </a:p>
          <a:p>
            <a:pPr marL="171450" lvl="1" indent="-171450"/>
            <a:r>
              <a:rPr lang="en-US" sz="2000" dirty="0"/>
              <a:t>Access – </a:t>
            </a:r>
            <a:r>
              <a:rPr lang="es-ES" sz="2000" dirty="0"/>
              <a:t>Open </a:t>
            </a:r>
            <a:r>
              <a:rPr lang="en-US" sz="2000" dirty="0"/>
              <a:t>Source</a:t>
            </a:r>
          </a:p>
          <a:p>
            <a:pPr marL="171450" lvl="1" indent="-171450"/>
            <a:r>
              <a:rPr lang="pt-BR" sz="2000" dirty="0"/>
              <a:t> Multimodal</a:t>
            </a:r>
          </a:p>
          <a:p>
            <a:pPr marL="514350" lvl="2" indent="-171450"/>
            <a:r>
              <a:rPr lang="pt-BR" sz="1900" dirty="0"/>
              <a:t>Text, Image, Code, Audio</a:t>
            </a:r>
            <a:endParaRPr lang="en-US" sz="1900" dirty="0"/>
          </a:p>
          <a:p>
            <a:pPr marL="171450" lvl="1" indent="-171450"/>
            <a:endParaRPr lang="en-US" sz="2000" dirty="0"/>
          </a:p>
        </p:txBody>
      </p:sp>
      <p:sp>
        <p:nvSpPr>
          <p:cNvPr id="7" name="Content Placeholder 2">
            <a:extLst>
              <a:ext uri="{FF2B5EF4-FFF2-40B4-BE49-F238E27FC236}">
                <a16:creationId xmlns:a16="http://schemas.microsoft.com/office/drawing/2014/main" id="{68A5FD2B-E3E5-1C2B-0151-21F216B14A33}"/>
              </a:ext>
            </a:extLst>
          </p:cNvPr>
          <p:cNvSpPr txBox="1">
            <a:spLocks/>
          </p:cNvSpPr>
          <p:nvPr/>
        </p:nvSpPr>
        <p:spPr>
          <a:xfrm>
            <a:off x="4810126" y="1369219"/>
            <a:ext cx="3686372" cy="3223260"/>
          </a:xfrm>
          <a:prstGeom prst="rect">
            <a:avLst/>
          </a:prstGeom>
          <a:noFill/>
        </p:spPr>
        <p:txBody>
          <a:bodyPr vert="horz" lIns="68580" tIns="34290" rIns="68580" bIns="34290" rtlCol="0">
            <a:normAutofit/>
          </a:bodyPr>
          <a:lstStyle/>
          <a:p>
            <a:pPr marL="171450" lvl="1" indent="-171450">
              <a:lnSpc>
                <a:spcPct val="90000"/>
              </a:lnSpc>
              <a:spcBef>
                <a:spcPts val="750"/>
              </a:spcBef>
              <a:spcAft>
                <a:spcPts val="600"/>
              </a:spcAft>
              <a:buClr>
                <a:schemeClr val="accent2"/>
              </a:buClr>
              <a:buFont typeface="Arial" panose="020B0604020202020204" pitchFamily="34" charset="0"/>
              <a:buChar char="•"/>
            </a:pPr>
            <a:r>
              <a:rPr lang="nl-NL" sz="2000" b="1" dirty="0"/>
              <a:t>Google</a:t>
            </a:r>
          </a:p>
          <a:p>
            <a:pPr marL="514350" lvl="2" indent="-171450">
              <a:lnSpc>
                <a:spcPct val="90000"/>
              </a:lnSpc>
              <a:spcBef>
                <a:spcPts val="750"/>
              </a:spcBef>
              <a:spcAft>
                <a:spcPts val="600"/>
              </a:spcAft>
              <a:buClr>
                <a:schemeClr val="accent2"/>
              </a:buClr>
              <a:buFont typeface="Arial" panose="020B0604020202020204" pitchFamily="34" charset="0"/>
              <a:buChar char="•"/>
            </a:pPr>
            <a:r>
              <a:rPr lang="nl-NL" sz="2000" dirty="0"/>
              <a:t>Gemma 2, Gemma 3</a:t>
            </a:r>
          </a:p>
          <a:p>
            <a:pPr marL="514350" lvl="2" indent="-171450">
              <a:lnSpc>
                <a:spcPct val="90000"/>
              </a:lnSpc>
              <a:spcBef>
                <a:spcPts val="750"/>
              </a:spcBef>
              <a:spcAft>
                <a:spcPts val="600"/>
              </a:spcAft>
              <a:buClr>
                <a:schemeClr val="accent2"/>
              </a:buClr>
              <a:buFont typeface="Arial" panose="020B0604020202020204" pitchFamily="34" charset="0"/>
              <a:buChar char="•"/>
            </a:pPr>
            <a:r>
              <a:rPr lang="nl-NL" sz="2000" dirty="0"/>
              <a:t>Gemma 4</a:t>
            </a:r>
          </a:p>
          <a:p>
            <a:pPr marL="171450" lvl="1" indent="-171450">
              <a:lnSpc>
                <a:spcPct val="90000"/>
              </a:lnSpc>
              <a:spcBef>
                <a:spcPts val="750"/>
              </a:spcBef>
              <a:spcAft>
                <a:spcPts val="600"/>
              </a:spcAft>
              <a:buClr>
                <a:schemeClr val="accent2"/>
              </a:buClr>
              <a:buFont typeface="Arial" panose="020B0604020202020204" pitchFamily="34" charset="0"/>
              <a:buChar char="•"/>
            </a:pPr>
            <a:r>
              <a:rPr lang="en-US" sz="2000" dirty="0"/>
              <a:t>Access – </a:t>
            </a:r>
            <a:r>
              <a:rPr lang="nl-NL" sz="2000" dirty="0"/>
              <a:t>Open Source</a:t>
            </a:r>
          </a:p>
          <a:p>
            <a:pPr marL="171450" lvl="1" indent="-171450">
              <a:lnSpc>
                <a:spcPct val="90000"/>
              </a:lnSpc>
              <a:spcBef>
                <a:spcPts val="750"/>
              </a:spcBef>
              <a:spcAft>
                <a:spcPts val="600"/>
              </a:spcAft>
              <a:buClr>
                <a:schemeClr val="accent2"/>
              </a:buClr>
              <a:buFont typeface="Arial" panose="020B0604020202020204" pitchFamily="34" charset="0"/>
              <a:buChar char="•"/>
            </a:pPr>
            <a:r>
              <a:rPr lang="pt-BR" sz="2000" dirty="0"/>
              <a:t>Multimodal</a:t>
            </a:r>
          </a:p>
          <a:p>
            <a:pPr marL="514350" lvl="2" indent="-171450">
              <a:lnSpc>
                <a:spcPct val="90000"/>
              </a:lnSpc>
              <a:spcBef>
                <a:spcPts val="750"/>
              </a:spcBef>
              <a:spcAft>
                <a:spcPts val="600"/>
              </a:spcAft>
              <a:buClr>
                <a:schemeClr val="accent2"/>
              </a:buClr>
              <a:buFont typeface="Arial" panose="020B0604020202020204" pitchFamily="34" charset="0"/>
              <a:buChar char="•"/>
            </a:pPr>
            <a:r>
              <a:rPr lang="pt-BR" sz="1900" dirty="0"/>
              <a:t>Text, Image, Code, Audio</a:t>
            </a:r>
            <a:endParaRPr lang="en-US" sz="19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lang="nl-NL"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lang="en-US" sz="2000" dirty="0"/>
          </a:p>
          <a:p>
            <a:pPr marL="171450" lvl="1" indent="-171450">
              <a:lnSpc>
                <a:spcPct val="90000"/>
              </a:lnSpc>
              <a:spcBef>
                <a:spcPts val="750"/>
              </a:spcBef>
              <a:spcAft>
                <a:spcPts val="600"/>
              </a:spcAft>
              <a:buClr>
                <a:schemeClr val="accent2"/>
              </a:buClr>
              <a:buFont typeface="Arial" panose="020B0604020202020204" pitchFamily="34" charset="0"/>
              <a:buChar char="•"/>
            </a:pP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7372412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Large Language Models</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lnSpcReduction="10000"/>
          </a:bodyPr>
          <a:lstStyle/>
          <a:p>
            <a:pPr marL="171450" lvl="1">
              <a:spcBef>
                <a:spcPts val="750"/>
              </a:spcBef>
              <a:spcAft>
                <a:spcPts val="600"/>
              </a:spcAft>
              <a:buClr>
                <a:schemeClr val="accent2"/>
              </a:buClr>
            </a:pPr>
            <a:r>
              <a:rPr lang="en-US" sz="2000" dirty="0"/>
              <a:t>Next word or token prediction</a:t>
            </a:r>
          </a:p>
          <a:p>
            <a:pPr marL="171450" lvl="1">
              <a:spcBef>
                <a:spcPts val="750"/>
              </a:spcBef>
              <a:spcAft>
                <a:spcPts val="600"/>
              </a:spcAft>
              <a:buClr>
                <a:schemeClr val="accent2"/>
              </a:buClr>
              <a:buNone/>
            </a:pPr>
            <a:r>
              <a:rPr lang="en-IN" sz="1700" b="1" dirty="0">
                <a:solidFill>
                  <a:srgbClr val="0070C0"/>
                </a:solidFill>
              </a:rPr>
              <a:t>I love eating </a:t>
            </a:r>
            <a:r>
              <a:rPr lang="en-IN" sz="1700" b="1" dirty="0">
                <a:solidFill>
                  <a:srgbClr val="00B050"/>
                </a:solidFill>
              </a:rPr>
              <a:t>ice</a:t>
            </a:r>
          </a:p>
          <a:p>
            <a:pPr marL="171450" lvl="1">
              <a:spcBef>
                <a:spcPts val="750"/>
              </a:spcBef>
              <a:spcAft>
                <a:spcPts val="600"/>
              </a:spcAft>
              <a:buClr>
                <a:schemeClr val="accent2"/>
              </a:buClr>
              <a:buNone/>
            </a:pPr>
            <a:r>
              <a:rPr lang="en-IN" sz="1700" b="1" dirty="0">
                <a:solidFill>
                  <a:srgbClr val="0070C0"/>
                </a:solidFill>
              </a:rPr>
              <a:t>I love eating ice</a:t>
            </a:r>
            <a:r>
              <a:rPr lang="en-IN" sz="1700" b="1" dirty="0"/>
              <a:t> </a:t>
            </a:r>
            <a:r>
              <a:rPr lang="en-IN" sz="1700" b="1" dirty="0">
                <a:solidFill>
                  <a:srgbClr val="00B050"/>
                </a:solidFill>
              </a:rPr>
              <a:t>cream</a:t>
            </a:r>
            <a:endParaRPr lang="en-IN" sz="1700" b="1" dirty="0">
              <a:solidFill>
                <a:srgbClr val="0070C0"/>
              </a:solidFill>
            </a:endParaRPr>
          </a:p>
          <a:p>
            <a:pPr marL="171450" lvl="1">
              <a:spcBef>
                <a:spcPts val="750"/>
              </a:spcBef>
              <a:spcAft>
                <a:spcPts val="600"/>
              </a:spcAft>
              <a:buClr>
                <a:schemeClr val="accent2"/>
              </a:buClr>
              <a:buNone/>
            </a:pPr>
            <a:r>
              <a:rPr lang="en-IN" sz="1700" b="1" dirty="0">
                <a:solidFill>
                  <a:srgbClr val="0070C0"/>
                </a:solidFill>
              </a:rPr>
              <a:t>I love eating ice cream </a:t>
            </a:r>
            <a:r>
              <a:rPr lang="en-IN" sz="1700" b="1" dirty="0">
                <a:solidFill>
                  <a:srgbClr val="00B050"/>
                </a:solidFill>
              </a:rPr>
              <a:t>with</a:t>
            </a:r>
          </a:p>
          <a:p>
            <a:pPr marL="171450" lvl="1">
              <a:spcBef>
                <a:spcPts val="750"/>
              </a:spcBef>
              <a:spcAft>
                <a:spcPts val="600"/>
              </a:spcAft>
              <a:buClr>
                <a:schemeClr val="accent2"/>
              </a:buClr>
              <a:buNone/>
            </a:pPr>
            <a:r>
              <a:rPr lang="en-IN" sz="1700" b="1" dirty="0">
                <a:solidFill>
                  <a:srgbClr val="0070C0"/>
                </a:solidFill>
              </a:rPr>
              <a:t>I love eating ice cream with </a:t>
            </a:r>
            <a:r>
              <a:rPr lang="en-IN" sz="1700" b="1" dirty="0">
                <a:solidFill>
                  <a:srgbClr val="00B050"/>
                </a:solidFill>
              </a:rPr>
              <a:t>my</a:t>
            </a:r>
            <a:endParaRPr lang="en-IN" sz="1700" b="1" dirty="0">
              <a:solidFill>
                <a:srgbClr val="0070C0"/>
              </a:solidFill>
            </a:endParaRPr>
          </a:p>
          <a:p>
            <a:pPr marL="171450" lvl="1">
              <a:spcBef>
                <a:spcPts val="750"/>
              </a:spcBef>
              <a:spcAft>
                <a:spcPts val="600"/>
              </a:spcAft>
              <a:buClr>
                <a:schemeClr val="accent2"/>
              </a:buClr>
              <a:buNone/>
            </a:pPr>
            <a:r>
              <a:rPr lang="en-IN" sz="1700" b="1" dirty="0">
                <a:solidFill>
                  <a:srgbClr val="0070C0"/>
                </a:solidFill>
              </a:rPr>
              <a:t>I love eating ice cream with my</a:t>
            </a:r>
            <a:r>
              <a:rPr lang="en-IN" sz="1700" b="1" dirty="0">
                <a:solidFill>
                  <a:srgbClr val="00B050"/>
                </a:solidFill>
              </a:rPr>
              <a:t> friends</a:t>
            </a:r>
          </a:p>
          <a:p>
            <a:pPr marL="171450" lvl="1">
              <a:spcBef>
                <a:spcPts val="750"/>
              </a:spcBef>
              <a:spcAft>
                <a:spcPts val="600"/>
              </a:spcAft>
              <a:buClr>
                <a:schemeClr val="accent2"/>
              </a:buClr>
              <a:buNone/>
            </a:pPr>
            <a:r>
              <a:rPr lang="en-IN" sz="1700" b="1" dirty="0">
                <a:solidFill>
                  <a:srgbClr val="0070C0"/>
                </a:solidFill>
              </a:rPr>
              <a:t>I love eating ice cream with my</a:t>
            </a:r>
            <a:r>
              <a:rPr lang="en-IN" sz="1700" b="1" dirty="0">
                <a:solidFill>
                  <a:srgbClr val="00B050"/>
                </a:solidFill>
              </a:rPr>
              <a:t> </a:t>
            </a:r>
            <a:r>
              <a:rPr lang="en-IN" sz="1700" b="1">
                <a:solidFill>
                  <a:srgbClr val="0070C0"/>
                </a:solidFill>
              </a:rPr>
              <a:t>friends </a:t>
            </a:r>
            <a:r>
              <a:rPr lang="en-IN" sz="1700" b="1">
                <a:solidFill>
                  <a:srgbClr val="00B050"/>
                </a:solidFill>
              </a:rPr>
              <a:t>at</a:t>
            </a:r>
            <a:endParaRPr lang="en-IN" sz="1700" b="1" dirty="0">
              <a:solidFill>
                <a:srgbClr val="0070C0"/>
              </a:solidFill>
            </a:endParaRPr>
          </a:p>
          <a:p>
            <a:pPr marL="171450" lvl="1">
              <a:spcBef>
                <a:spcPts val="750"/>
              </a:spcBef>
              <a:spcAft>
                <a:spcPts val="600"/>
              </a:spcAft>
              <a:buClr>
                <a:schemeClr val="accent2"/>
              </a:buClr>
              <a:buNone/>
            </a:pPr>
            <a:r>
              <a:rPr lang="en-IN" sz="1700" b="1" dirty="0">
                <a:solidFill>
                  <a:srgbClr val="0070C0"/>
                </a:solidFill>
              </a:rPr>
              <a:t>I love eating ice cream with my</a:t>
            </a:r>
            <a:r>
              <a:rPr lang="en-IN" sz="1700" b="1" dirty="0">
                <a:solidFill>
                  <a:srgbClr val="00B050"/>
                </a:solidFill>
              </a:rPr>
              <a:t> </a:t>
            </a:r>
            <a:r>
              <a:rPr lang="en-IN" sz="1700" b="1" dirty="0">
                <a:solidFill>
                  <a:srgbClr val="0070C0"/>
                </a:solidFill>
              </a:rPr>
              <a:t>friends at </a:t>
            </a:r>
            <a:r>
              <a:rPr lang="en-IN" sz="1700" b="1" dirty="0">
                <a:solidFill>
                  <a:srgbClr val="00B050"/>
                </a:solidFill>
              </a:rPr>
              <a:t>beach.</a:t>
            </a:r>
            <a:endParaRPr lang="en-US" sz="1700" b="1" dirty="0">
              <a:solidFill>
                <a:srgbClr val="00B050"/>
              </a:solidFill>
            </a:endParaRPr>
          </a:p>
        </p:txBody>
      </p:sp>
    </p:spTree>
    <p:extLst>
      <p:ext uri="{BB962C8B-B14F-4D97-AF65-F5344CB8AC3E}">
        <p14:creationId xmlns:p14="http://schemas.microsoft.com/office/powerpoint/2010/main" val="1127649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Word v/s Token</a:t>
            </a:r>
          </a:p>
        </p:txBody>
      </p:sp>
      <p:sp>
        <p:nvSpPr>
          <p:cNvPr id="9"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61767"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Token – Word or sub-word</a:t>
            </a:r>
          </a:p>
          <a:p>
            <a:pPr marL="171450" lvl="1">
              <a:spcBef>
                <a:spcPts val="750"/>
              </a:spcBef>
              <a:spcAft>
                <a:spcPts val="600"/>
              </a:spcAft>
              <a:buClr>
                <a:schemeClr val="accent2"/>
              </a:buClr>
            </a:pPr>
            <a:r>
              <a:rPr lang="en-IN" sz="2000" dirty="0"/>
              <a:t>LLM inference cost</a:t>
            </a:r>
          </a:p>
          <a:p>
            <a:pPr marL="514350" lvl="2">
              <a:spcBef>
                <a:spcPts val="750"/>
              </a:spcBef>
              <a:spcAft>
                <a:spcPts val="600"/>
              </a:spcAft>
              <a:buClr>
                <a:schemeClr val="accent2"/>
              </a:buClr>
            </a:pPr>
            <a:r>
              <a:rPr lang="en-IN" sz="1700" dirty="0"/>
              <a:t>Number of tokens</a:t>
            </a:r>
          </a:p>
          <a:p>
            <a:pPr marL="514350" lvl="2">
              <a:spcBef>
                <a:spcPts val="750"/>
              </a:spcBef>
              <a:spcAft>
                <a:spcPts val="600"/>
              </a:spcAft>
              <a:buClr>
                <a:schemeClr val="accent2"/>
              </a:buClr>
            </a:pPr>
            <a:r>
              <a:rPr lang="en-IN" sz="1700" dirty="0"/>
              <a:t>Input tokens</a:t>
            </a:r>
          </a:p>
          <a:p>
            <a:pPr marL="857250" lvl="3">
              <a:spcBef>
                <a:spcPts val="750"/>
              </a:spcBef>
              <a:spcAft>
                <a:spcPts val="600"/>
              </a:spcAft>
              <a:buClr>
                <a:schemeClr val="accent2"/>
              </a:buClr>
            </a:pPr>
            <a:r>
              <a:rPr lang="en-IN" sz="1600" dirty="0"/>
              <a:t>Less cost</a:t>
            </a:r>
          </a:p>
          <a:p>
            <a:pPr marL="514350" lvl="2">
              <a:spcBef>
                <a:spcPts val="750"/>
              </a:spcBef>
              <a:spcAft>
                <a:spcPts val="600"/>
              </a:spcAft>
              <a:buClr>
                <a:schemeClr val="accent2"/>
              </a:buClr>
            </a:pPr>
            <a:r>
              <a:rPr lang="en-IN" sz="1700" dirty="0"/>
              <a:t>Output tokens</a:t>
            </a:r>
          </a:p>
          <a:p>
            <a:pPr marL="857250" lvl="3">
              <a:spcBef>
                <a:spcPts val="750"/>
              </a:spcBef>
              <a:spcAft>
                <a:spcPts val="600"/>
              </a:spcAft>
              <a:buClr>
                <a:schemeClr val="accent2"/>
              </a:buClr>
            </a:pPr>
            <a:r>
              <a:rPr lang="en-IN" sz="1600" dirty="0"/>
              <a:t>More cost</a:t>
            </a:r>
            <a:endParaRPr lang="en-US" sz="20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04475" y="1381819"/>
            <a:ext cx="3761767"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Words with single token</a:t>
            </a:r>
          </a:p>
          <a:p>
            <a:pPr marL="514350" lvl="2">
              <a:spcBef>
                <a:spcPts val="750"/>
              </a:spcBef>
              <a:spcAft>
                <a:spcPts val="600"/>
              </a:spcAft>
              <a:buClr>
                <a:schemeClr val="accent2"/>
              </a:buClr>
            </a:pPr>
            <a:r>
              <a:rPr lang="en-IN" sz="1700" dirty="0"/>
              <a:t>Atomic or Primitive tokens</a:t>
            </a:r>
          </a:p>
          <a:p>
            <a:pPr marL="514350" lvl="2">
              <a:spcBef>
                <a:spcPts val="750"/>
              </a:spcBef>
              <a:spcAft>
                <a:spcPts val="600"/>
              </a:spcAft>
              <a:buClr>
                <a:schemeClr val="accent2"/>
              </a:buClr>
            </a:pPr>
            <a:r>
              <a:rPr lang="en-IN" sz="1700" dirty="0">
                <a:solidFill>
                  <a:srgbClr val="7030A0"/>
                </a:solidFill>
              </a:rPr>
              <a:t>yes</a:t>
            </a:r>
            <a:r>
              <a:rPr lang="en-IN" sz="1700" dirty="0"/>
              <a:t>, </a:t>
            </a:r>
            <a:r>
              <a:rPr lang="en-IN" sz="1700" dirty="0">
                <a:solidFill>
                  <a:srgbClr val="7030A0"/>
                </a:solidFill>
              </a:rPr>
              <a:t>no</a:t>
            </a:r>
            <a:r>
              <a:rPr lang="en-IN" sz="1700" dirty="0"/>
              <a:t>, </a:t>
            </a:r>
            <a:r>
              <a:rPr lang="en-IN" sz="1700" dirty="0">
                <a:solidFill>
                  <a:srgbClr val="7030A0"/>
                </a:solidFill>
              </a:rPr>
              <a:t>run</a:t>
            </a:r>
            <a:r>
              <a:rPr lang="en-IN" sz="1700" dirty="0"/>
              <a:t>, </a:t>
            </a:r>
            <a:r>
              <a:rPr lang="en-IN" sz="1700" dirty="0">
                <a:solidFill>
                  <a:srgbClr val="7030A0"/>
                </a:solidFill>
              </a:rPr>
              <a:t>red</a:t>
            </a:r>
            <a:r>
              <a:rPr lang="en-IN" sz="1700" dirty="0"/>
              <a:t>, </a:t>
            </a:r>
            <a:r>
              <a:rPr lang="en-IN" sz="1700" dirty="0">
                <a:solidFill>
                  <a:srgbClr val="7030A0"/>
                </a:solidFill>
              </a:rPr>
              <a:t>blue</a:t>
            </a:r>
            <a:r>
              <a:rPr lang="en-IN" sz="1700" dirty="0"/>
              <a:t>, </a:t>
            </a:r>
            <a:r>
              <a:rPr lang="en-IN" sz="1700" dirty="0">
                <a:solidFill>
                  <a:srgbClr val="7030A0"/>
                </a:solidFill>
              </a:rPr>
              <a:t>love</a:t>
            </a:r>
            <a:endParaRPr lang="en-IN" sz="2000" dirty="0"/>
          </a:p>
          <a:p>
            <a:pPr marL="171450" lvl="1">
              <a:spcBef>
                <a:spcPts val="750"/>
              </a:spcBef>
              <a:spcAft>
                <a:spcPts val="600"/>
              </a:spcAft>
              <a:buClr>
                <a:schemeClr val="accent2"/>
              </a:buClr>
            </a:pPr>
            <a:r>
              <a:rPr lang="en-IN" sz="2000" dirty="0"/>
              <a:t>Words with two tokens</a:t>
            </a:r>
          </a:p>
          <a:p>
            <a:pPr marL="514350" lvl="2">
              <a:spcBef>
                <a:spcPts val="750"/>
              </a:spcBef>
              <a:spcAft>
                <a:spcPts val="600"/>
              </a:spcAft>
              <a:buClr>
                <a:schemeClr val="accent2"/>
              </a:buClr>
            </a:pPr>
            <a:r>
              <a:rPr lang="en-IN" sz="1700" dirty="0"/>
              <a:t>Compound words</a:t>
            </a:r>
            <a:endParaRPr lang="en-IN" sz="1700" dirty="0">
              <a:solidFill>
                <a:srgbClr val="00B050"/>
              </a:solidFill>
            </a:endParaRPr>
          </a:p>
          <a:p>
            <a:pPr marL="514350" lvl="2">
              <a:spcBef>
                <a:spcPts val="750"/>
              </a:spcBef>
              <a:spcAft>
                <a:spcPts val="600"/>
              </a:spcAft>
              <a:buClr>
                <a:schemeClr val="accent2"/>
              </a:buClr>
            </a:pPr>
            <a:r>
              <a:rPr lang="en-IN" sz="1700" dirty="0">
                <a:solidFill>
                  <a:srgbClr val="00B050"/>
                </a:solidFill>
              </a:rPr>
              <a:t>un</a:t>
            </a:r>
            <a:r>
              <a:rPr lang="en-IN" sz="1700" dirty="0">
                <a:solidFill>
                  <a:srgbClr val="7030A0"/>
                </a:solidFill>
              </a:rPr>
              <a:t>happy</a:t>
            </a:r>
            <a:r>
              <a:rPr lang="en-IN" sz="1700" dirty="0"/>
              <a:t>, </a:t>
            </a:r>
            <a:r>
              <a:rPr lang="en-IN" sz="1700" dirty="0">
                <a:solidFill>
                  <a:srgbClr val="00B050"/>
                </a:solidFill>
              </a:rPr>
              <a:t>dis</a:t>
            </a:r>
            <a:r>
              <a:rPr lang="en-IN" sz="1700" dirty="0">
                <a:solidFill>
                  <a:srgbClr val="7030A0"/>
                </a:solidFill>
              </a:rPr>
              <a:t>like</a:t>
            </a:r>
            <a:r>
              <a:rPr lang="en-IN" sz="1700" dirty="0"/>
              <a:t>, </a:t>
            </a:r>
            <a:r>
              <a:rPr lang="en-IN" sz="1700" dirty="0">
                <a:solidFill>
                  <a:srgbClr val="00B050"/>
                </a:solidFill>
              </a:rPr>
              <a:t>re</a:t>
            </a:r>
            <a:r>
              <a:rPr lang="en-IN" sz="1700" dirty="0">
                <a:solidFill>
                  <a:srgbClr val="7030A0"/>
                </a:solidFill>
              </a:rPr>
              <a:t>play</a:t>
            </a:r>
            <a:r>
              <a:rPr lang="en-IN" sz="1700" dirty="0"/>
              <a:t>, </a:t>
            </a:r>
            <a:r>
              <a:rPr lang="en-IN" sz="1700" dirty="0">
                <a:solidFill>
                  <a:srgbClr val="00B050"/>
                </a:solidFill>
              </a:rPr>
              <a:t>sun</a:t>
            </a:r>
            <a:r>
              <a:rPr lang="en-IN" sz="1700" dirty="0">
                <a:solidFill>
                  <a:srgbClr val="7030A0"/>
                </a:solidFill>
              </a:rPr>
              <a:t>set</a:t>
            </a:r>
            <a:endParaRPr lang="en-IN" sz="2000" dirty="0"/>
          </a:p>
          <a:p>
            <a:pPr marL="171450" lvl="1">
              <a:spcBef>
                <a:spcPts val="750"/>
              </a:spcBef>
              <a:spcAft>
                <a:spcPts val="600"/>
              </a:spcAft>
              <a:buClr>
                <a:schemeClr val="accent2"/>
              </a:buClr>
            </a:pPr>
            <a:r>
              <a:rPr lang="en-IN" sz="2000" dirty="0"/>
              <a:t>300 Words – 400 Tokens</a:t>
            </a:r>
          </a:p>
          <a:p>
            <a:pPr marL="171450" lvl="1">
              <a:spcBef>
                <a:spcPts val="750"/>
              </a:spcBef>
              <a:spcAft>
                <a:spcPts val="600"/>
              </a:spcAft>
              <a:buClr>
                <a:schemeClr val="accent2"/>
              </a:buClr>
            </a:pPr>
            <a:endParaRPr lang="en-US" sz="2000" dirty="0"/>
          </a:p>
        </p:txBody>
      </p:sp>
    </p:spTree>
    <p:extLst>
      <p:ext uri="{BB962C8B-B14F-4D97-AF65-F5344CB8AC3E}">
        <p14:creationId xmlns:p14="http://schemas.microsoft.com/office/powerpoint/2010/main" val="408698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Large Language Models</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Natural Language Processing (NLP)</a:t>
            </a:r>
          </a:p>
          <a:p>
            <a:pPr marL="171450" lvl="1">
              <a:spcBef>
                <a:spcPts val="750"/>
              </a:spcBef>
              <a:spcAft>
                <a:spcPts val="600"/>
              </a:spcAft>
              <a:buClr>
                <a:schemeClr val="accent2"/>
              </a:buClr>
            </a:pPr>
            <a:r>
              <a:rPr lang="en-IN" sz="2000" dirty="0"/>
              <a:t>Understand, Interpret, and Generate human language</a:t>
            </a:r>
          </a:p>
          <a:p>
            <a:pPr marL="171450" lvl="1">
              <a:spcBef>
                <a:spcPts val="750"/>
              </a:spcBef>
              <a:spcAft>
                <a:spcPts val="600"/>
              </a:spcAft>
              <a:buClr>
                <a:schemeClr val="accent2"/>
              </a:buClr>
            </a:pPr>
            <a:r>
              <a:rPr lang="en-US" sz="2000" dirty="0"/>
              <a:t>Sentiment analysis</a:t>
            </a:r>
          </a:p>
          <a:p>
            <a:pPr marL="171450" lvl="1">
              <a:spcBef>
                <a:spcPts val="750"/>
              </a:spcBef>
              <a:spcAft>
                <a:spcPts val="600"/>
              </a:spcAft>
              <a:buClr>
                <a:schemeClr val="accent2"/>
              </a:buClr>
            </a:pPr>
            <a:r>
              <a:rPr lang="en-US" sz="2000" dirty="0"/>
              <a:t>Text summarization</a:t>
            </a:r>
          </a:p>
          <a:p>
            <a:pPr marL="171450" lvl="1">
              <a:spcBef>
                <a:spcPts val="750"/>
              </a:spcBef>
              <a:spcAft>
                <a:spcPts val="600"/>
              </a:spcAft>
              <a:buClr>
                <a:schemeClr val="accent2"/>
              </a:buClr>
            </a:pPr>
            <a:r>
              <a:rPr lang="en-US" sz="2000" dirty="0"/>
              <a:t>Machine translation</a:t>
            </a:r>
          </a:p>
          <a:p>
            <a:pPr marL="171450" lvl="1">
              <a:spcBef>
                <a:spcPts val="750"/>
              </a:spcBef>
              <a:spcAft>
                <a:spcPts val="600"/>
              </a:spcAft>
              <a:buClr>
                <a:schemeClr val="accent2"/>
              </a:buClr>
            </a:pPr>
            <a:endParaRPr lang="en-IN" sz="1700" dirty="0"/>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1127649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Large Language Models</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Large number of parameters</a:t>
            </a:r>
          </a:p>
          <a:p>
            <a:pPr marL="514350" lvl="2">
              <a:spcBef>
                <a:spcPts val="750"/>
              </a:spcBef>
              <a:spcAft>
                <a:spcPts val="600"/>
              </a:spcAft>
              <a:buClr>
                <a:schemeClr val="accent2"/>
              </a:buClr>
            </a:pPr>
            <a:r>
              <a:rPr lang="en-US" sz="1700" dirty="0"/>
              <a:t>ChatGPT–4 – ~1.8 Trillion parameters</a:t>
            </a:r>
            <a:endParaRPr lang="en-IN" sz="2000" dirty="0"/>
          </a:p>
          <a:p>
            <a:pPr marL="171450" lvl="1">
              <a:spcBef>
                <a:spcPts val="750"/>
              </a:spcBef>
              <a:spcAft>
                <a:spcPts val="600"/>
              </a:spcAft>
              <a:buClr>
                <a:schemeClr val="accent2"/>
              </a:buClr>
            </a:pPr>
            <a:r>
              <a:rPr lang="en-IN" sz="2000" dirty="0"/>
              <a:t>Trained using large amount of dataset</a:t>
            </a:r>
          </a:p>
          <a:p>
            <a:pPr marL="514350" lvl="2">
              <a:spcBef>
                <a:spcPts val="750"/>
              </a:spcBef>
              <a:spcAft>
                <a:spcPts val="600"/>
              </a:spcAft>
              <a:buClr>
                <a:schemeClr val="accent2"/>
              </a:buClr>
            </a:pPr>
            <a:r>
              <a:rPr lang="en-US" sz="1700" dirty="0"/>
              <a:t>ChatGPT–4 – </a:t>
            </a:r>
            <a:r>
              <a:rPr lang="en-IN" sz="1700" dirty="0"/>
              <a:t>570 GB or 300 Billion words</a:t>
            </a:r>
          </a:p>
          <a:p>
            <a:pPr marL="171450" lvl="1">
              <a:spcBef>
                <a:spcPts val="750"/>
              </a:spcBef>
              <a:spcAft>
                <a:spcPts val="600"/>
              </a:spcAft>
              <a:buClr>
                <a:schemeClr val="accent2"/>
              </a:buClr>
            </a:pPr>
            <a:endParaRPr lang="en-US" sz="1700" dirty="0"/>
          </a:p>
        </p:txBody>
      </p:sp>
      <p:sp>
        <p:nvSpPr>
          <p:cNvPr id="4" name="TextBox 3"/>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a:t>
            </a:r>
            <a:r>
              <a:rPr lang="en-IN" b="1" dirty="0" err="1">
                <a:solidFill>
                  <a:schemeClr val="accent2">
                    <a:lumMod val="50000"/>
                  </a:schemeClr>
                </a:solidFill>
              </a:rPr>
              <a:t>OpenAI</a:t>
            </a:r>
            <a:r>
              <a:rPr lang="en-IN" b="1" dirty="0">
                <a:solidFill>
                  <a:schemeClr val="accent2">
                    <a:lumMod val="50000"/>
                  </a:schemeClr>
                </a:solidFill>
              </a:rPr>
              <a:t>  </a:t>
            </a:r>
            <a:r>
              <a:rPr lang="en-IN" b="1" dirty="0" err="1">
                <a:solidFill>
                  <a:schemeClr val="accent2">
                    <a:lumMod val="50000"/>
                  </a:schemeClr>
                </a:solidFill>
              </a:rPr>
              <a:t>ChatGPT</a:t>
            </a:r>
            <a:r>
              <a:rPr lang="en-IN" b="1" dirty="0">
                <a:solidFill>
                  <a:schemeClr val="accent2">
                    <a:lumMod val="50000"/>
                  </a:schemeClr>
                </a:solidFill>
              </a:rPr>
              <a:t> 4</a:t>
            </a:r>
          </a:p>
        </p:txBody>
      </p:sp>
    </p:spTree>
    <p:extLst>
      <p:ext uri="{BB962C8B-B14F-4D97-AF65-F5344CB8AC3E}">
        <p14:creationId xmlns:p14="http://schemas.microsoft.com/office/powerpoint/2010/main" val="1127649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Large Language Models</a:t>
            </a:r>
          </a:p>
        </p:txBody>
      </p:sp>
      <p:sp>
        <p:nvSpPr>
          <p:cNvPr id="26"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marL="171450" lvl="1" indent="-171450"/>
            <a:r>
              <a:rPr lang="en-US" sz="2000" dirty="0"/>
              <a:t>Model name</a:t>
            </a:r>
          </a:p>
          <a:p>
            <a:pPr marL="171450" lvl="1" indent="-171450"/>
            <a:r>
              <a:rPr lang="en-US" sz="2000" dirty="0"/>
              <a:t>Company</a:t>
            </a:r>
          </a:p>
          <a:p>
            <a:pPr marL="171450" lvl="1" indent="-171450"/>
            <a:r>
              <a:rPr lang="en-US" sz="2000" dirty="0"/>
              <a:t>Access</a:t>
            </a:r>
          </a:p>
          <a:p>
            <a:pPr marL="171450" lvl="1" indent="-171450"/>
            <a:r>
              <a:rPr lang="en-US" sz="2000" dirty="0"/>
              <a:t>Number of parameters</a:t>
            </a:r>
          </a:p>
          <a:p>
            <a:pPr marL="171450" lvl="1" indent="-171450"/>
            <a:r>
              <a:rPr lang="en-US" sz="2000" dirty="0"/>
              <a:t>Context size</a:t>
            </a:r>
          </a:p>
          <a:p>
            <a:pPr marL="171450" lvl="1" indent="-171450"/>
            <a:r>
              <a:rPr lang="en-US" sz="2000" dirty="0"/>
              <a:t>LLM type</a:t>
            </a:r>
          </a:p>
        </p:txBody>
      </p:sp>
      <p:sp>
        <p:nvSpPr>
          <p:cNvPr id="7" name="Content Placeholder 2">
            <a:extLst>
              <a:ext uri="{FF2B5EF4-FFF2-40B4-BE49-F238E27FC236}">
                <a16:creationId xmlns:a16="http://schemas.microsoft.com/office/drawing/2014/main" id="{68A5FD2B-E3E5-1C2B-0151-21F216B14A33}"/>
              </a:ext>
            </a:extLst>
          </p:cNvPr>
          <p:cNvSpPr txBox="1">
            <a:spLocks/>
          </p:cNvSpPr>
          <p:nvPr/>
        </p:nvSpPr>
        <p:spPr>
          <a:xfrm>
            <a:off x="4810126" y="1369219"/>
            <a:ext cx="3686372" cy="3223260"/>
          </a:xfrm>
          <a:prstGeom prst="rect">
            <a:avLst/>
          </a:prstGeom>
          <a:noFill/>
        </p:spPr>
        <p:txBody>
          <a:bodyPr vert="horz" lIns="68580" tIns="34290" rIns="68580" bIns="34290" rtlCol="0">
            <a:normAutofit/>
          </a:bodyPr>
          <a:lstStyle/>
          <a:p>
            <a:pPr marL="171450" lvl="1" indent="-171450">
              <a:lnSpc>
                <a:spcPct val="90000"/>
              </a:lnSpc>
              <a:spcBef>
                <a:spcPts val="750"/>
              </a:spcBef>
              <a:spcAft>
                <a:spcPts val="600"/>
              </a:spcAft>
              <a:buClr>
                <a:schemeClr val="accent2"/>
              </a:buClr>
            </a:pPr>
            <a:r>
              <a:rPr kumimoji="0" lang="en-US" sz="2000" b="0" i="0" u="none" strike="noStrike" kern="1200" cap="none" spc="0" normalizeH="0" baseline="0" noProof="0" dirty="0">
                <a:ln>
                  <a:noFill/>
                </a:ln>
                <a:solidFill>
                  <a:schemeClr val="tx1"/>
                </a:solidFill>
                <a:effectLst/>
                <a:uLnTx/>
                <a:uFillTx/>
                <a:latin typeface="+mn-lt"/>
                <a:ea typeface="+mn-ea"/>
                <a:cs typeface="+mn-cs"/>
              </a:rPr>
              <a:t>Llama 3.1</a:t>
            </a:r>
            <a:r>
              <a:rPr lang="en-US" sz="2000" dirty="0"/>
              <a:t> 405B Instruct</a:t>
            </a:r>
            <a:endParaRPr kumimoji="0" lang="en-US" sz="2000" b="0" i="0" u="none" strike="noStrike" kern="1200" cap="none" spc="0" normalizeH="0" baseline="0" noProof="0" dirty="0">
              <a:ln>
                <a:noFill/>
              </a:ln>
              <a:solidFill>
                <a:schemeClr val="tx1"/>
              </a:solidFill>
              <a:effectLst/>
              <a:uLnTx/>
              <a:uFillTx/>
              <a:latin typeface="+mn-lt"/>
              <a:ea typeface="+mn-ea"/>
              <a:cs typeface="+mn-cs"/>
            </a:endParaRPr>
          </a:p>
          <a:p>
            <a:pPr marL="171450" marR="0" lvl="1" indent="-171450" algn="l" defTabSz="685800" rtl="0" eaLnBrk="1" fontAlgn="auto" latinLnBrk="0" hangingPunct="1">
              <a:lnSpc>
                <a:spcPct val="90000"/>
              </a:lnSpc>
              <a:spcBef>
                <a:spcPts val="750"/>
              </a:spcBef>
              <a:spcAft>
                <a:spcPts val="600"/>
              </a:spcAft>
              <a:buClr>
                <a:schemeClr val="accent2"/>
              </a:buClr>
              <a:buSzTx/>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Meta</a:t>
            </a:r>
          </a:p>
          <a:p>
            <a:pPr marL="171450" marR="0" lvl="1" indent="-171450" algn="l" defTabSz="685800" rtl="0" eaLnBrk="1" fontAlgn="auto" latinLnBrk="0" hangingPunct="1">
              <a:lnSpc>
                <a:spcPct val="90000"/>
              </a:lnSpc>
              <a:spcBef>
                <a:spcPts val="750"/>
              </a:spcBef>
              <a:spcAft>
                <a:spcPts val="600"/>
              </a:spcAft>
              <a:buClr>
                <a:schemeClr val="accent2"/>
              </a:buClr>
              <a:buSzTx/>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Open source</a:t>
            </a:r>
          </a:p>
          <a:p>
            <a:pPr marL="171450" marR="0" lvl="1" indent="-171450" algn="l" defTabSz="685800" rtl="0" eaLnBrk="1" fontAlgn="auto" latinLnBrk="0" hangingPunct="1">
              <a:lnSpc>
                <a:spcPct val="90000"/>
              </a:lnSpc>
              <a:spcBef>
                <a:spcPts val="750"/>
              </a:spcBef>
              <a:spcAft>
                <a:spcPts val="600"/>
              </a:spcAft>
              <a:buClr>
                <a:schemeClr val="accent2"/>
              </a:buClr>
              <a:buSzTx/>
              <a:tabLst/>
              <a:defRPr/>
            </a:pPr>
            <a:r>
              <a:rPr lang="en-US" sz="2000" dirty="0"/>
              <a:t>405 Billion parameters</a:t>
            </a:r>
          </a:p>
          <a:p>
            <a:pPr marL="171450" lvl="1" indent="-171450">
              <a:lnSpc>
                <a:spcPct val="90000"/>
              </a:lnSpc>
              <a:spcBef>
                <a:spcPts val="750"/>
              </a:spcBef>
              <a:spcAft>
                <a:spcPts val="600"/>
              </a:spcAft>
              <a:buClr>
                <a:schemeClr val="accent2"/>
              </a:buClr>
            </a:pPr>
            <a:r>
              <a:rPr lang="en-US" sz="2000" dirty="0"/>
              <a:t>128,000 (128K) tokens</a:t>
            </a:r>
          </a:p>
          <a:p>
            <a:pPr marL="171450" lvl="1" indent="-171450">
              <a:lnSpc>
                <a:spcPct val="90000"/>
              </a:lnSpc>
              <a:spcBef>
                <a:spcPts val="750"/>
              </a:spcBef>
              <a:spcAft>
                <a:spcPts val="600"/>
              </a:spcAft>
              <a:buClr>
                <a:schemeClr val="accent2"/>
              </a:buClr>
            </a:pPr>
            <a:r>
              <a:rPr lang="en-US" sz="2000" dirty="0"/>
              <a:t>Instruction fine-tuned</a:t>
            </a: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 Llama 3.1 405B Instruct</a:t>
            </a:r>
          </a:p>
        </p:txBody>
      </p:sp>
    </p:spTree>
    <p:extLst>
      <p:ext uri="{BB962C8B-B14F-4D97-AF65-F5344CB8AC3E}">
        <p14:creationId xmlns:p14="http://schemas.microsoft.com/office/powerpoint/2010/main" val="2737241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Sentiment Analysis</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sz="1800" b="1" dirty="0">
                <a:solidFill>
                  <a:schemeClr val="accent5">
                    <a:lumMod val="50000"/>
                  </a:schemeClr>
                </a:solidFill>
              </a:rPr>
              <a:t>Identify sentiment of following sentence as either positive or negative.</a:t>
            </a:r>
            <a:r>
              <a:rPr lang="en-IN" sz="1800" dirty="0">
                <a:solidFill>
                  <a:schemeClr val="accent5">
                    <a:lumMod val="50000"/>
                  </a:schemeClr>
                </a:solidFill>
              </a:rPr>
              <a:t> </a:t>
            </a:r>
          </a:p>
          <a:p>
            <a:pPr algn="just"/>
            <a:r>
              <a:rPr lang="en-IN" sz="1800" dirty="0">
                <a:solidFill>
                  <a:schemeClr val="accent5">
                    <a:lumMod val="50000"/>
                  </a:schemeClr>
                </a:solidFill>
              </a:rPr>
              <a:t>I like “Harry Potter and the Goblet of Fire” book very much. </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800" dirty="0">
                <a:solidFill>
                  <a:schemeClr val="accent4">
                    <a:lumMod val="50000"/>
                  </a:schemeClr>
                </a:solidFill>
              </a:rPr>
              <a:t>The sentiment of the sentence “I like ‘Harry Potter and the Goblet of Fire’ book very much” is </a:t>
            </a:r>
            <a:r>
              <a:rPr lang="en-IN" sz="1800" b="1" dirty="0">
                <a:solidFill>
                  <a:schemeClr val="accent4">
                    <a:lumMod val="50000"/>
                  </a:schemeClr>
                </a:solidFill>
              </a:rPr>
              <a:t>Positive</a:t>
            </a:r>
            <a:r>
              <a:rPr lang="en-IN" sz="1800" dirty="0">
                <a:solidFill>
                  <a:schemeClr val="accent4">
                    <a:lumMod val="50000"/>
                  </a:schemeClr>
                </a:solidFill>
              </a:rPr>
              <a:t>.</a:t>
            </a:r>
          </a:p>
          <a:p>
            <a:pPr algn="just"/>
            <a:r>
              <a:rPr lang="en-IN" sz="1800" dirty="0">
                <a:solidFill>
                  <a:schemeClr val="accent4">
                    <a:lumMod val="50000"/>
                  </a:schemeClr>
                </a:solidFill>
              </a:rPr>
              <a:t>The word </a:t>
            </a:r>
            <a:r>
              <a:rPr lang="en-IN" sz="1800" b="1" dirty="0">
                <a:solidFill>
                  <a:schemeClr val="accent4">
                    <a:lumMod val="50000"/>
                  </a:schemeClr>
                </a:solidFill>
              </a:rPr>
              <a:t>“like”</a:t>
            </a:r>
            <a:r>
              <a:rPr lang="en-IN" sz="1800" dirty="0">
                <a:solidFill>
                  <a:schemeClr val="accent4">
                    <a:lumMod val="50000"/>
                  </a:schemeClr>
                </a:solidFill>
              </a:rPr>
              <a:t> and the phrase </a:t>
            </a:r>
            <a:r>
              <a:rPr lang="en-IN" sz="1800" b="1" dirty="0">
                <a:solidFill>
                  <a:schemeClr val="accent4">
                    <a:lumMod val="50000"/>
                  </a:schemeClr>
                </a:solidFill>
              </a:rPr>
              <a:t>“very much”</a:t>
            </a:r>
            <a:r>
              <a:rPr lang="en-IN" sz="1800" dirty="0">
                <a:solidFill>
                  <a:schemeClr val="accent4">
                    <a:lumMod val="50000"/>
                  </a:schemeClr>
                </a:solidFill>
              </a:rPr>
              <a:t> both indicate a </a:t>
            </a:r>
            <a:r>
              <a:rPr lang="en-IN" sz="1800" b="1" dirty="0">
                <a:solidFill>
                  <a:schemeClr val="accent4">
                    <a:lumMod val="50000"/>
                  </a:schemeClr>
                </a:solidFill>
              </a:rPr>
              <a:t>strong positive sentiment</a:t>
            </a:r>
            <a:r>
              <a:rPr lang="en-IN" sz="1800" dirty="0">
                <a:solidFill>
                  <a:schemeClr val="accent4">
                    <a:lumMod val="50000"/>
                  </a:schemeClr>
                </a:solidFill>
              </a:rPr>
              <a:t>, suggesting that the speaker has a very positive opinion of the book.</a:t>
            </a:r>
            <a:r>
              <a:rPr lang="hi-IN" sz="1800" dirty="0"/>
              <a:t> </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Summarization</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fontScale="85000" lnSpcReduction="20000"/>
          </a:bodyPr>
          <a:lstStyle/>
          <a:p>
            <a:pPr algn="just"/>
            <a:r>
              <a:rPr lang="en-IN" sz="1900" b="1" dirty="0">
                <a:solidFill>
                  <a:schemeClr val="accent5">
                    <a:lumMod val="50000"/>
                  </a:schemeClr>
                </a:solidFill>
              </a:rPr>
              <a:t>Summarize the following paragraph.</a:t>
            </a:r>
          </a:p>
          <a:p>
            <a:pPr algn="just"/>
            <a:r>
              <a:rPr lang="en-IN" sz="1900" dirty="0">
                <a:solidFill>
                  <a:schemeClr val="accent5">
                    <a:lumMod val="50000"/>
                  </a:schemeClr>
                </a:solidFill>
              </a:rPr>
              <a:t>A chemical reaction is a process that leads to the chemical transformation of one set of chemical substances to another. When chemical reactions occur, the atoms are rearranged and the reaction is accompanied by an energy change as new products are generated. Classically, chemical reactions encompass changes that only involve the positions of electrons in the forming and breaking of chemical bonds between atoms, with no change to the nuclei (no change to the elements present), and can often be described by a chemical equation. </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600" dirty="0">
                <a:solidFill>
                  <a:schemeClr val="accent4">
                    <a:lumMod val="50000"/>
                  </a:schemeClr>
                </a:solidFill>
              </a:rPr>
              <a:t>A chemical reaction transforms one set of substances into another by rearranging atoms and changing energy levels. This process typically involves changes in electron positions and chemical bonds without altering the elements themselves, and is often represented by a chemical equation.</a:t>
            </a:r>
            <a:r>
              <a:rPr lang="hi-IN" sz="1600" dirty="0"/>
              <a:t> </a:t>
            </a:r>
            <a:endParaRPr lang="en-US" sz="16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Machine Translation</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sz="1800" b="1" dirty="0">
                <a:solidFill>
                  <a:schemeClr val="accent5">
                    <a:lumMod val="50000"/>
                  </a:schemeClr>
                </a:solidFill>
              </a:rPr>
              <a:t>Translate following English sentences in Hindi sentences.</a:t>
            </a:r>
          </a:p>
          <a:p>
            <a:pPr algn="just"/>
            <a:r>
              <a:rPr lang="en-IN" sz="1800" dirty="0">
                <a:solidFill>
                  <a:schemeClr val="accent5">
                    <a:lumMod val="50000"/>
                  </a:schemeClr>
                </a:solidFill>
              </a:rPr>
              <a:t>Particle accelerator is a machine that uses electromagnetic fields to propel charged particles to very high speeds and energies to contain them in well defined beams.</a:t>
            </a:r>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hi-IN" sz="1800" dirty="0">
                <a:solidFill>
                  <a:schemeClr val="accent4">
                    <a:lumMod val="50000"/>
                  </a:schemeClr>
                </a:solidFill>
              </a:rPr>
              <a:t>कण त्वरक एक मशीन है जो विद्युत चुम्बकीय क्षेत्रों का उपयोग करके आवेशित कणों को बहुत अधिक गति और ऊर्जा प्रदान करती है और उन्हें अच्छी तरह से परिभाषित किरणों में सीमित रखने के लिए।</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628650" y="273844"/>
            <a:ext cx="7886700" cy="994172"/>
          </a:xfrm>
          <a:noFill/>
        </p:spPr>
        <p:txBody>
          <a:bodyPr anchor="ctr"/>
          <a:lstStyle/>
          <a:p>
            <a:r>
              <a:rPr lang="en-US" dirty="0"/>
              <a:t>Code Generation</a:t>
            </a:r>
          </a:p>
        </p:txBody>
      </p:sp>
      <p:sp>
        <p:nvSpPr>
          <p:cNvPr id="7" name="Content Placeholder 2">
            <a:extLst>
              <a:ext uri="{FF2B5EF4-FFF2-40B4-BE49-F238E27FC236}">
                <a16:creationId xmlns:a16="http://schemas.microsoft.com/office/drawing/2014/main" id="{68A5FD2B-E3E5-1C2B-0151-21F216B14A33}"/>
              </a:ext>
            </a:extLst>
          </p:cNvPr>
          <p:cNvSpPr>
            <a:spLocks noGrp="1"/>
          </p:cNvSpPr>
          <p:nvPr>
            <p:ph sz="half" idx="4294967295"/>
          </p:nvPr>
        </p:nvSpPr>
        <p:spPr>
          <a:xfrm>
            <a:off x="628651" y="1369219"/>
            <a:ext cx="3686372" cy="3223260"/>
          </a:xfrm>
          <a:prstGeom prst="rect">
            <a:avLst/>
          </a:prstGeom>
          <a:noFill/>
        </p:spPr>
        <p:txBody>
          <a:bodyPr>
            <a:normAutofit/>
          </a:bodyPr>
          <a:lstStyle/>
          <a:p>
            <a:pPr marL="0" indent="0" algn="just">
              <a:spcAft>
                <a:spcPts val="600"/>
              </a:spcAft>
              <a:buNone/>
            </a:pPr>
            <a:r>
              <a:rPr lang="en-IN" sz="1800" b="1" dirty="0">
                <a:solidFill>
                  <a:schemeClr val="accent5">
                    <a:lumMod val="50000"/>
                  </a:schemeClr>
                </a:solidFill>
              </a:rPr>
              <a:t>Write Python function to find a factorial of an input number.</a:t>
            </a:r>
          </a:p>
          <a:p>
            <a:pPr algn="just"/>
            <a:endParaRPr lang="en-US" sz="1800" dirty="0">
              <a:solidFill>
                <a:schemeClr val="accent5">
                  <a:lumMod val="50000"/>
                </a:schemeClr>
              </a:solidFill>
            </a:endParaRPr>
          </a:p>
        </p:txBody>
      </p:sp>
      <p:sp>
        <p:nvSpPr>
          <p:cNvPr id="9" name="TextBox 8"/>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4294967295"/>
          </p:nvPr>
        </p:nvSpPr>
        <p:spPr>
          <a:xfrm>
            <a:off x="4610922" y="1362687"/>
            <a:ext cx="3909060" cy="3223260"/>
          </a:xfrm>
          <a:prstGeom prst="rect">
            <a:avLst/>
          </a:prstGeom>
          <a:noFill/>
        </p:spPr>
        <p:txBody>
          <a:bodyPr>
            <a:normAutofit/>
          </a:bodyPr>
          <a:lstStyle/>
          <a:p>
            <a:pPr marL="0" indent="0" algn="just">
              <a:lnSpc>
                <a:spcPct val="100000"/>
              </a:lnSpc>
              <a:spcBef>
                <a:spcPts val="300"/>
              </a:spcBef>
              <a:spcAft>
                <a:spcPts val="300"/>
              </a:spcAft>
              <a:buNone/>
            </a:pPr>
            <a:r>
              <a:rPr lang="en-IN" sz="1600" b="1" dirty="0">
                <a:solidFill>
                  <a:schemeClr val="accent4">
                    <a:lumMod val="50000"/>
                  </a:schemeClr>
                </a:solidFill>
              </a:rPr>
              <a:t>def factorial(n):</a:t>
            </a:r>
          </a:p>
          <a:p>
            <a:pPr marL="0" indent="0" algn="just">
              <a:lnSpc>
                <a:spcPct val="100000"/>
              </a:lnSpc>
              <a:spcBef>
                <a:spcPts val="300"/>
              </a:spcBef>
              <a:spcAft>
                <a:spcPts val="300"/>
              </a:spcAft>
              <a:buNone/>
            </a:pPr>
            <a:r>
              <a:rPr lang="en-IN" sz="1600" b="1" dirty="0">
                <a:solidFill>
                  <a:schemeClr val="accent4">
                    <a:lumMod val="50000"/>
                  </a:schemeClr>
                </a:solidFill>
              </a:rPr>
              <a:t>    if n &lt; 0:</a:t>
            </a:r>
          </a:p>
          <a:p>
            <a:pPr marL="0" indent="0" algn="just">
              <a:lnSpc>
                <a:spcPct val="100000"/>
              </a:lnSpc>
              <a:spcBef>
                <a:spcPts val="300"/>
              </a:spcBef>
              <a:spcAft>
                <a:spcPts val="300"/>
              </a:spcAft>
              <a:buNone/>
            </a:pPr>
            <a:r>
              <a:rPr lang="en-IN" sz="1600" b="1" dirty="0">
                <a:solidFill>
                  <a:schemeClr val="accent4">
                    <a:lumMod val="50000"/>
                  </a:schemeClr>
                </a:solidFill>
              </a:rPr>
              <a:t>        raise </a:t>
            </a:r>
            <a:r>
              <a:rPr lang="en-IN" sz="1600" b="1" dirty="0" err="1">
                <a:solidFill>
                  <a:schemeClr val="accent4">
                    <a:lumMod val="50000"/>
                  </a:schemeClr>
                </a:solidFill>
              </a:rPr>
              <a:t>ValueError</a:t>
            </a:r>
            <a:r>
              <a:rPr lang="en-IN" sz="1600" b="1" dirty="0">
                <a:solidFill>
                  <a:schemeClr val="accent4">
                    <a:lumMod val="50000"/>
                  </a:schemeClr>
                </a:solidFill>
              </a:rPr>
              <a:t>("Factorial is not defined for negative numbers")</a:t>
            </a:r>
          </a:p>
          <a:p>
            <a:pPr marL="0" indent="0" algn="just">
              <a:lnSpc>
                <a:spcPct val="100000"/>
              </a:lnSpc>
              <a:spcBef>
                <a:spcPts val="300"/>
              </a:spcBef>
              <a:spcAft>
                <a:spcPts val="300"/>
              </a:spcAft>
              <a:buNone/>
            </a:pPr>
            <a:r>
              <a:rPr lang="en-IN" sz="1600" b="1" dirty="0">
                <a:solidFill>
                  <a:schemeClr val="accent4">
                    <a:lumMod val="50000"/>
                  </a:schemeClr>
                </a:solidFill>
              </a:rPr>
              <a:t>    </a:t>
            </a:r>
            <a:r>
              <a:rPr lang="en-IN" sz="1600" b="1" dirty="0" err="1">
                <a:solidFill>
                  <a:schemeClr val="accent4">
                    <a:lumMod val="50000"/>
                  </a:schemeClr>
                </a:solidFill>
              </a:rPr>
              <a:t>elif</a:t>
            </a:r>
            <a:r>
              <a:rPr lang="en-IN" sz="1600" b="1" dirty="0">
                <a:solidFill>
                  <a:schemeClr val="accent4">
                    <a:lumMod val="50000"/>
                  </a:schemeClr>
                </a:solidFill>
              </a:rPr>
              <a:t> n == 0 or n == 1:</a:t>
            </a:r>
          </a:p>
          <a:p>
            <a:pPr marL="0" indent="0" algn="just">
              <a:lnSpc>
                <a:spcPct val="100000"/>
              </a:lnSpc>
              <a:spcBef>
                <a:spcPts val="300"/>
              </a:spcBef>
              <a:spcAft>
                <a:spcPts val="300"/>
              </a:spcAft>
              <a:buNone/>
            </a:pPr>
            <a:r>
              <a:rPr lang="en-IN" sz="1600" b="1" dirty="0">
                <a:solidFill>
                  <a:schemeClr val="accent4">
                    <a:lumMod val="50000"/>
                  </a:schemeClr>
                </a:solidFill>
              </a:rPr>
              <a:t>        return 1</a:t>
            </a:r>
          </a:p>
          <a:p>
            <a:pPr marL="0" indent="0" algn="just">
              <a:lnSpc>
                <a:spcPct val="100000"/>
              </a:lnSpc>
              <a:spcBef>
                <a:spcPts val="300"/>
              </a:spcBef>
              <a:spcAft>
                <a:spcPts val="300"/>
              </a:spcAft>
              <a:buNone/>
            </a:pPr>
            <a:r>
              <a:rPr lang="en-IN" sz="1600" b="1" dirty="0">
                <a:solidFill>
                  <a:schemeClr val="accent4">
                    <a:lumMod val="50000"/>
                  </a:schemeClr>
                </a:solidFill>
              </a:rPr>
              <a:t>    else:</a:t>
            </a:r>
          </a:p>
          <a:p>
            <a:pPr marL="0" indent="0" algn="just">
              <a:lnSpc>
                <a:spcPct val="100000"/>
              </a:lnSpc>
              <a:spcBef>
                <a:spcPts val="300"/>
              </a:spcBef>
              <a:spcAft>
                <a:spcPts val="300"/>
              </a:spcAft>
              <a:buNone/>
            </a:pPr>
            <a:r>
              <a:rPr lang="en-IN" sz="1600" b="1" dirty="0">
                <a:solidFill>
                  <a:schemeClr val="accent4">
                    <a:lumMod val="50000"/>
                  </a:schemeClr>
                </a:solidFill>
              </a:rPr>
              <a:t>        return n * factorial(n-1)</a:t>
            </a:r>
            <a:endParaRPr lang="en-US" sz="1600" b="1" dirty="0">
              <a:solidFill>
                <a:schemeClr val="accent4">
                  <a:lumMod val="50000"/>
                </a:schemeClr>
              </a:solidFill>
            </a:endParaRPr>
          </a:p>
        </p:txBody>
      </p:sp>
    </p:spTree>
    <p:extLst>
      <p:ext uri="{BB962C8B-B14F-4D97-AF65-F5344CB8AC3E}">
        <p14:creationId xmlns:p14="http://schemas.microsoft.com/office/powerpoint/2010/main" val="1094820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628650" y="273844"/>
            <a:ext cx="7886700" cy="994172"/>
          </a:xfrm>
          <a:noFill/>
        </p:spPr>
        <p:txBody>
          <a:bodyPr anchor="ctr"/>
          <a:lstStyle/>
          <a:p>
            <a:r>
              <a:rPr lang="en-US" dirty="0"/>
              <a:t>Code Generation</a:t>
            </a:r>
          </a:p>
        </p:txBody>
      </p:sp>
      <p:sp>
        <p:nvSpPr>
          <p:cNvPr id="7" name="Content Placeholder 2">
            <a:extLst>
              <a:ext uri="{FF2B5EF4-FFF2-40B4-BE49-F238E27FC236}">
                <a16:creationId xmlns:a16="http://schemas.microsoft.com/office/drawing/2014/main" id="{68A5FD2B-E3E5-1C2B-0151-21F216B14A33}"/>
              </a:ext>
            </a:extLst>
          </p:cNvPr>
          <p:cNvSpPr>
            <a:spLocks noGrp="1"/>
          </p:cNvSpPr>
          <p:nvPr>
            <p:ph sz="half" idx="4294967295"/>
          </p:nvPr>
        </p:nvSpPr>
        <p:spPr>
          <a:xfrm>
            <a:off x="628651" y="1369219"/>
            <a:ext cx="3686372" cy="3223260"/>
          </a:xfrm>
          <a:prstGeom prst="rect">
            <a:avLst/>
          </a:prstGeom>
          <a:noFill/>
        </p:spPr>
        <p:txBody>
          <a:bodyPr>
            <a:normAutofit/>
          </a:bodyPr>
          <a:lstStyle/>
          <a:p>
            <a:pPr marL="0" indent="0" algn="just">
              <a:spcAft>
                <a:spcPts val="600"/>
              </a:spcAft>
              <a:buNone/>
            </a:pPr>
            <a:r>
              <a:rPr lang="en-IN" sz="1800" b="1" dirty="0">
                <a:solidFill>
                  <a:schemeClr val="accent5">
                    <a:lumMod val="50000"/>
                  </a:schemeClr>
                </a:solidFill>
              </a:rPr>
              <a:t>Correct following Python code.</a:t>
            </a:r>
          </a:p>
          <a:p>
            <a:pPr marL="0" indent="0" algn="just">
              <a:spcBef>
                <a:spcPts val="300"/>
              </a:spcBef>
              <a:spcAft>
                <a:spcPts val="300"/>
              </a:spcAft>
              <a:buNone/>
            </a:pPr>
            <a:r>
              <a:rPr lang="en-IN" sz="1800" dirty="0">
                <a:solidFill>
                  <a:schemeClr val="accent6">
                    <a:lumMod val="75000"/>
                  </a:schemeClr>
                </a:solidFill>
              </a:rPr>
              <a:t>def factorial(n):</a:t>
            </a:r>
          </a:p>
          <a:p>
            <a:pPr marL="0" indent="0" algn="just">
              <a:spcBef>
                <a:spcPts val="300"/>
              </a:spcBef>
              <a:spcAft>
                <a:spcPts val="300"/>
              </a:spcAft>
              <a:buNone/>
            </a:pPr>
            <a:r>
              <a:rPr lang="en-IN" sz="1800" dirty="0">
                <a:solidFill>
                  <a:schemeClr val="accent6">
                    <a:lumMod val="75000"/>
                  </a:schemeClr>
                </a:solidFill>
              </a:rPr>
              <a:t>    if n == 0 or n == 1:</a:t>
            </a:r>
          </a:p>
          <a:p>
            <a:pPr marL="0" indent="0" algn="just">
              <a:spcBef>
                <a:spcPts val="300"/>
              </a:spcBef>
              <a:spcAft>
                <a:spcPts val="300"/>
              </a:spcAft>
              <a:buNone/>
            </a:pPr>
            <a:r>
              <a:rPr lang="en-IN" sz="1800" dirty="0">
                <a:solidFill>
                  <a:schemeClr val="accent6">
                    <a:lumMod val="75000"/>
                  </a:schemeClr>
                </a:solidFill>
              </a:rPr>
              <a:t>        return 1</a:t>
            </a:r>
          </a:p>
          <a:p>
            <a:pPr marL="0" indent="0" algn="just">
              <a:spcBef>
                <a:spcPts val="300"/>
              </a:spcBef>
              <a:spcAft>
                <a:spcPts val="300"/>
              </a:spcAft>
              <a:buNone/>
            </a:pPr>
            <a:r>
              <a:rPr lang="en-IN" sz="1800" dirty="0">
                <a:solidFill>
                  <a:schemeClr val="accent6">
                    <a:lumMod val="75000"/>
                  </a:schemeClr>
                </a:solidFill>
              </a:rPr>
              <a:t>    else:</a:t>
            </a:r>
          </a:p>
          <a:p>
            <a:pPr marL="0" indent="0" algn="just">
              <a:spcBef>
                <a:spcPts val="300"/>
              </a:spcBef>
              <a:spcAft>
                <a:spcPts val="300"/>
              </a:spcAft>
              <a:buNone/>
            </a:pPr>
            <a:r>
              <a:rPr lang="en-IN" sz="1800" dirty="0">
                <a:solidFill>
                  <a:schemeClr val="accent6">
                    <a:lumMod val="75000"/>
                  </a:schemeClr>
                </a:solidFill>
              </a:rPr>
              <a:t>        result = 1</a:t>
            </a:r>
          </a:p>
          <a:p>
            <a:pPr marL="0" indent="0" algn="just">
              <a:spcBef>
                <a:spcPts val="300"/>
              </a:spcBef>
              <a:spcAft>
                <a:spcPts val="300"/>
              </a:spcAft>
              <a:buNone/>
            </a:pPr>
            <a:r>
              <a:rPr lang="en-IN" sz="1800" dirty="0">
                <a:solidFill>
                  <a:schemeClr val="accent6">
                    <a:lumMod val="75000"/>
                  </a:schemeClr>
                </a:solidFill>
              </a:rPr>
              <a:t>        for </a:t>
            </a:r>
            <a:r>
              <a:rPr lang="en-IN" sz="1800" dirty="0" err="1">
                <a:solidFill>
                  <a:schemeClr val="accent6">
                    <a:lumMod val="75000"/>
                  </a:schemeClr>
                </a:solidFill>
              </a:rPr>
              <a:t>i</a:t>
            </a:r>
            <a:r>
              <a:rPr lang="en-IN" sz="1800" dirty="0">
                <a:solidFill>
                  <a:schemeClr val="accent6">
                    <a:lumMod val="75000"/>
                  </a:schemeClr>
                </a:solidFill>
              </a:rPr>
              <a:t> in range(2, n + 1):</a:t>
            </a:r>
          </a:p>
          <a:p>
            <a:pPr marL="0" indent="0" algn="just">
              <a:spcBef>
                <a:spcPts val="300"/>
              </a:spcBef>
              <a:spcAft>
                <a:spcPts val="300"/>
              </a:spcAft>
              <a:buNone/>
            </a:pPr>
            <a:r>
              <a:rPr lang="en-IN" sz="1800" dirty="0">
                <a:solidFill>
                  <a:schemeClr val="accent6">
                    <a:lumMod val="75000"/>
                  </a:schemeClr>
                </a:solidFill>
              </a:rPr>
              <a:t>            result *= </a:t>
            </a:r>
            <a:r>
              <a:rPr lang="en-IN" sz="1800" dirty="0" err="1">
                <a:solidFill>
                  <a:schemeClr val="accent6">
                    <a:lumMod val="75000"/>
                  </a:schemeClr>
                </a:solidFill>
              </a:rPr>
              <a:t>i</a:t>
            </a:r>
            <a:endParaRPr lang="en-IN" sz="1800" dirty="0">
              <a:solidFill>
                <a:schemeClr val="accent6">
                  <a:lumMod val="75000"/>
                </a:schemeClr>
              </a:solidFill>
            </a:endParaRPr>
          </a:p>
          <a:p>
            <a:pPr marL="0" indent="0" algn="just">
              <a:spcBef>
                <a:spcPts val="300"/>
              </a:spcBef>
              <a:spcAft>
                <a:spcPts val="300"/>
              </a:spcAft>
              <a:buNone/>
            </a:pPr>
            <a:r>
              <a:rPr lang="en-IN" sz="1800" dirty="0">
                <a:solidFill>
                  <a:schemeClr val="accent6">
                    <a:lumMod val="75000"/>
                  </a:schemeClr>
                </a:solidFill>
              </a:rPr>
              <a:t>        return result</a:t>
            </a:r>
          </a:p>
          <a:p>
            <a:pPr algn="just"/>
            <a:endParaRPr lang="en-US" sz="1800" dirty="0">
              <a:solidFill>
                <a:schemeClr val="accent5">
                  <a:lumMod val="50000"/>
                </a:schemeClr>
              </a:solidFill>
            </a:endParaRPr>
          </a:p>
        </p:txBody>
      </p:sp>
      <p:sp>
        <p:nvSpPr>
          <p:cNvPr id="9" name="TextBox 8"/>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4294967295"/>
          </p:nvPr>
        </p:nvSpPr>
        <p:spPr>
          <a:xfrm>
            <a:off x="4610922" y="1362687"/>
            <a:ext cx="3909060" cy="3223260"/>
          </a:xfrm>
          <a:prstGeom prst="rect">
            <a:avLst/>
          </a:prstGeom>
          <a:noFill/>
        </p:spPr>
        <p:txBody>
          <a:bodyPr>
            <a:normAutofit/>
          </a:bodyPr>
          <a:lstStyle/>
          <a:p>
            <a:pPr marL="0" indent="0" algn="just">
              <a:lnSpc>
                <a:spcPct val="100000"/>
              </a:lnSpc>
              <a:spcBef>
                <a:spcPts val="300"/>
              </a:spcBef>
              <a:spcAft>
                <a:spcPts val="300"/>
              </a:spcAft>
              <a:buNone/>
            </a:pPr>
            <a:r>
              <a:rPr lang="en-IN" sz="1600" b="1" dirty="0">
                <a:solidFill>
                  <a:schemeClr val="accent4">
                    <a:lumMod val="50000"/>
                  </a:schemeClr>
                </a:solidFill>
              </a:rPr>
              <a:t>def factorial(n):</a:t>
            </a:r>
          </a:p>
          <a:p>
            <a:pPr marL="0" indent="0" algn="just">
              <a:lnSpc>
                <a:spcPct val="100000"/>
              </a:lnSpc>
              <a:spcBef>
                <a:spcPts val="300"/>
              </a:spcBef>
              <a:spcAft>
                <a:spcPts val="300"/>
              </a:spcAft>
              <a:buNone/>
            </a:pPr>
            <a:r>
              <a:rPr lang="en-IN" sz="1600" b="1" dirty="0">
                <a:solidFill>
                  <a:schemeClr val="accent4">
                    <a:lumMod val="50000"/>
                  </a:schemeClr>
                </a:solidFill>
              </a:rPr>
              <a:t>    if n &lt; 0:</a:t>
            </a:r>
          </a:p>
          <a:p>
            <a:pPr marL="0" indent="0" algn="just">
              <a:lnSpc>
                <a:spcPct val="100000"/>
              </a:lnSpc>
              <a:spcBef>
                <a:spcPts val="300"/>
              </a:spcBef>
              <a:spcAft>
                <a:spcPts val="300"/>
              </a:spcAft>
              <a:buNone/>
            </a:pPr>
            <a:r>
              <a:rPr lang="en-IN" sz="1600" b="1" dirty="0">
                <a:solidFill>
                  <a:schemeClr val="accent4">
                    <a:lumMod val="50000"/>
                  </a:schemeClr>
                </a:solidFill>
              </a:rPr>
              <a:t>        raise </a:t>
            </a:r>
            <a:r>
              <a:rPr lang="en-IN" sz="1600" b="1" dirty="0" err="1">
                <a:solidFill>
                  <a:schemeClr val="accent4">
                    <a:lumMod val="50000"/>
                  </a:schemeClr>
                </a:solidFill>
              </a:rPr>
              <a:t>ValueError</a:t>
            </a:r>
            <a:r>
              <a:rPr lang="en-IN" sz="1600" b="1" dirty="0">
                <a:solidFill>
                  <a:schemeClr val="accent4">
                    <a:lumMod val="50000"/>
                  </a:schemeClr>
                </a:solidFill>
              </a:rPr>
              <a:t>("Factorial is not defined for negative numbers")</a:t>
            </a:r>
          </a:p>
          <a:p>
            <a:pPr marL="0" indent="0" algn="just">
              <a:lnSpc>
                <a:spcPct val="100000"/>
              </a:lnSpc>
              <a:spcBef>
                <a:spcPts val="300"/>
              </a:spcBef>
              <a:spcAft>
                <a:spcPts val="300"/>
              </a:spcAft>
              <a:buNone/>
            </a:pPr>
            <a:r>
              <a:rPr lang="en-IN" sz="1600" b="1" dirty="0">
                <a:solidFill>
                  <a:schemeClr val="accent4">
                    <a:lumMod val="50000"/>
                  </a:schemeClr>
                </a:solidFill>
              </a:rPr>
              <a:t>    </a:t>
            </a:r>
            <a:r>
              <a:rPr lang="en-IN" sz="1600" b="1" dirty="0" err="1">
                <a:solidFill>
                  <a:schemeClr val="accent4">
                    <a:lumMod val="50000"/>
                  </a:schemeClr>
                </a:solidFill>
              </a:rPr>
              <a:t>elif</a:t>
            </a:r>
            <a:r>
              <a:rPr lang="en-IN" sz="1600" b="1" dirty="0">
                <a:solidFill>
                  <a:schemeClr val="accent4">
                    <a:lumMod val="50000"/>
                  </a:schemeClr>
                </a:solidFill>
              </a:rPr>
              <a:t> n == 0 or n == 1:</a:t>
            </a:r>
          </a:p>
          <a:p>
            <a:pPr marL="0" indent="0" algn="just">
              <a:lnSpc>
                <a:spcPct val="100000"/>
              </a:lnSpc>
              <a:spcBef>
                <a:spcPts val="300"/>
              </a:spcBef>
              <a:spcAft>
                <a:spcPts val="300"/>
              </a:spcAft>
              <a:buNone/>
            </a:pPr>
            <a:r>
              <a:rPr lang="en-IN" sz="1600" b="1" dirty="0">
                <a:solidFill>
                  <a:schemeClr val="accent4">
                    <a:lumMod val="50000"/>
                  </a:schemeClr>
                </a:solidFill>
              </a:rPr>
              <a:t>        return 1</a:t>
            </a:r>
          </a:p>
          <a:p>
            <a:pPr marL="0" indent="0" algn="just">
              <a:lnSpc>
                <a:spcPct val="100000"/>
              </a:lnSpc>
              <a:spcBef>
                <a:spcPts val="300"/>
              </a:spcBef>
              <a:spcAft>
                <a:spcPts val="300"/>
              </a:spcAft>
              <a:buNone/>
            </a:pPr>
            <a:r>
              <a:rPr lang="en-IN" sz="1600" b="1" dirty="0">
                <a:solidFill>
                  <a:schemeClr val="accent4">
                    <a:lumMod val="50000"/>
                  </a:schemeClr>
                </a:solidFill>
              </a:rPr>
              <a:t>    else:</a:t>
            </a:r>
          </a:p>
          <a:p>
            <a:pPr marL="0" indent="0" algn="just">
              <a:lnSpc>
                <a:spcPct val="100000"/>
              </a:lnSpc>
              <a:spcBef>
                <a:spcPts val="300"/>
              </a:spcBef>
              <a:spcAft>
                <a:spcPts val="300"/>
              </a:spcAft>
              <a:buNone/>
            </a:pPr>
            <a:r>
              <a:rPr lang="en-IN" sz="1600" b="1" dirty="0">
                <a:solidFill>
                  <a:schemeClr val="accent4">
                    <a:lumMod val="50000"/>
                  </a:schemeClr>
                </a:solidFill>
              </a:rPr>
              <a:t>        return n * factorial(n-1)</a:t>
            </a:r>
            <a:endParaRPr lang="en-US" sz="1600" b="1" dirty="0">
              <a:solidFill>
                <a:schemeClr val="accent4">
                  <a:lumMod val="50000"/>
                </a:schemeClr>
              </a:solidFill>
            </a:endParaRPr>
          </a:p>
        </p:txBody>
      </p:sp>
    </p:spTree>
    <p:extLst>
      <p:ext uri="{BB962C8B-B14F-4D97-AF65-F5344CB8AC3E}">
        <p14:creationId xmlns:p14="http://schemas.microsoft.com/office/powerpoint/2010/main" val="14048564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628650" y="273844"/>
            <a:ext cx="7886700" cy="994172"/>
          </a:xfrm>
          <a:noFill/>
        </p:spPr>
        <p:txBody>
          <a:bodyPr anchor="ctr"/>
          <a:lstStyle/>
          <a:p>
            <a:r>
              <a:rPr lang="en-US" dirty="0"/>
              <a:t>Code Generation</a:t>
            </a:r>
          </a:p>
        </p:txBody>
      </p:sp>
      <p:sp>
        <p:nvSpPr>
          <p:cNvPr id="6"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lnSpcReduction="10000"/>
          </a:bodyPr>
          <a:lstStyle/>
          <a:p>
            <a:pPr marL="171450" lvl="1">
              <a:spcBef>
                <a:spcPts val="750"/>
              </a:spcBef>
              <a:spcAft>
                <a:spcPts val="600"/>
              </a:spcAft>
              <a:buClr>
                <a:schemeClr val="accent2"/>
              </a:buClr>
            </a:pPr>
            <a:r>
              <a:rPr lang="en-IN" sz="2000" dirty="0"/>
              <a:t>Mistral AI</a:t>
            </a:r>
          </a:p>
          <a:p>
            <a:pPr marL="514350" lvl="2">
              <a:spcBef>
                <a:spcPts val="750"/>
              </a:spcBef>
              <a:spcAft>
                <a:spcPts val="600"/>
              </a:spcAft>
              <a:buClr>
                <a:schemeClr val="accent2"/>
              </a:buClr>
            </a:pPr>
            <a:r>
              <a:rPr lang="en-IN" sz="1700" dirty="0"/>
              <a:t>Mistral 7B and </a:t>
            </a:r>
            <a:r>
              <a:rPr lang="en-IN" sz="1700" dirty="0" err="1"/>
              <a:t>Mixtral</a:t>
            </a:r>
            <a:r>
              <a:rPr lang="en-IN" sz="1700" dirty="0"/>
              <a:t> 8X7B</a:t>
            </a:r>
          </a:p>
          <a:p>
            <a:pPr marL="171450" lvl="1">
              <a:spcBef>
                <a:spcPts val="750"/>
              </a:spcBef>
              <a:spcAft>
                <a:spcPts val="600"/>
              </a:spcAft>
              <a:buClr>
                <a:schemeClr val="accent2"/>
              </a:buClr>
            </a:pPr>
            <a:r>
              <a:rPr lang="en-IN" sz="2000" dirty="0"/>
              <a:t>Meta</a:t>
            </a:r>
          </a:p>
          <a:p>
            <a:pPr marL="514350" lvl="2">
              <a:spcBef>
                <a:spcPts val="750"/>
              </a:spcBef>
              <a:spcAft>
                <a:spcPts val="600"/>
              </a:spcAft>
              <a:buClr>
                <a:schemeClr val="accent2"/>
              </a:buClr>
            </a:pPr>
            <a:r>
              <a:rPr lang="en-IN" sz="1700" dirty="0" err="1"/>
              <a:t>CodeLlama</a:t>
            </a:r>
            <a:r>
              <a:rPr lang="en-IN" sz="1700" dirty="0"/>
              <a:t>, </a:t>
            </a:r>
            <a:r>
              <a:rPr lang="en-IN" sz="1700" dirty="0" err="1"/>
              <a:t>CodeLlama</a:t>
            </a:r>
            <a:r>
              <a:rPr lang="en-IN" sz="1700" dirty="0"/>
              <a:t>-Python, </a:t>
            </a:r>
            <a:r>
              <a:rPr lang="en-IN" sz="1700" dirty="0" err="1"/>
              <a:t>CodeLlama</a:t>
            </a:r>
            <a:r>
              <a:rPr lang="en-IN" sz="1700" dirty="0"/>
              <a:t>-Instruct</a:t>
            </a:r>
          </a:p>
          <a:p>
            <a:pPr marL="171450" lvl="1">
              <a:spcBef>
                <a:spcPts val="750"/>
              </a:spcBef>
              <a:spcAft>
                <a:spcPts val="600"/>
              </a:spcAft>
              <a:buClr>
                <a:schemeClr val="accent2"/>
              </a:buClr>
            </a:pPr>
            <a:r>
              <a:rPr lang="en-IN" sz="2000" dirty="0" err="1"/>
              <a:t>Phind</a:t>
            </a:r>
            <a:endParaRPr lang="en-IN" sz="2000" dirty="0"/>
          </a:p>
          <a:p>
            <a:pPr marL="514350" lvl="2">
              <a:spcBef>
                <a:spcPts val="750"/>
              </a:spcBef>
              <a:spcAft>
                <a:spcPts val="600"/>
              </a:spcAft>
              <a:buClr>
                <a:schemeClr val="accent2"/>
              </a:buClr>
            </a:pPr>
            <a:r>
              <a:rPr lang="en-IN" sz="1700" dirty="0"/>
              <a:t>Phind-CodeLlama-34B, Phind-CodeLlama-34B-Python</a:t>
            </a:r>
          </a:p>
          <a:p>
            <a:pPr marL="171450" lvl="1">
              <a:spcBef>
                <a:spcPts val="750"/>
              </a:spcBef>
              <a:spcAft>
                <a:spcPts val="600"/>
              </a:spcAft>
              <a:buClr>
                <a:schemeClr val="accent2"/>
              </a:buClr>
            </a:pPr>
            <a:r>
              <a:rPr lang="en-IN" sz="2000" dirty="0" err="1"/>
              <a:t>BigCode</a:t>
            </a:r>
            <a:r>
              <a:rPr lang="en-IN" sz="2000" dirty="0"/>
              <a:t> Project</a:t>
            </a:r>
          </a:p>
          <a:p>
            <a:pPr marL="514350" lvl="2">
              <a:spcBef>
                <a:spcPts val="750"/>
              </a:spcBef>
              <a:spcAft>
                <a:spcPts val="600"/>
              </a:spcAft>
              <a:buClr>
                <a:schemeClr val="accent2"/>
              </a:buClr>
            </a:pPr>
            <a:r>
              <a:rPr lang="en-US" sz="1700" dirty="0" err="1"/>
              <a:t>StarCoder</a:t>
            </a:r>
            <a:r>
              <a:rPr lang="en-US" sz="1700" dirty="0"/>
              <a:t>, StarCoder2</a:t>
            </a:r>
          </a:p>
        </p:txBody>
      </p:sp>
    </p:spTree>
    <p:extLst>
      <p:ext uri="{BB962C8B-B14F-4D97-AF65-F5344CB8AC3E}">
        <p14:creationId xmlns:p14="http://schemas.microsoft.com/office/powerpoint/2010/main" val="3356110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Virtual Assistants</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4257674" cy="3223260"/>
          </a:xfrm>
          <a:noFill/>
        </p:spPr>
        <p:txBody>
          <a:bodyPr>
            <a:normAutofit/>
          </a:bodyPr>
          <a:lstStyle/>
          <a:p>
            <a:pPr lvl="1"/>
            <a:r>
              <a:rPr lang="en-US" sz="2000" dirty="0"/>
              <a:t>Simulate human like conversations</a:t>
            </a:r>
          </a:p>
          <a:p>
            <a:pPr lvl="1"/>
            <a:r>
              <a:rPr lang="en-US" sz="2000" dirty="0"/>
              <a:t>Answer questions</a:t>
            </a:r>
          </a:p>
          <a:p>
            <a:pPr lvl="1"/>
            <a:r>
              <a:rPr lang="en-US" sz="2000" dirty="0"/>
              <a:t>Provide information</a:t>
            </a:r>
          </a:p>
          <a:p>
            <a:pPr lvl="1"/>
            <a:r>
              <a:rPr lang="en-US" sz="2000" dirty="0"/>
              <a:t>Complete simple tasks</a:t>
            </a:r>
          </a:p>
        </p:txBody>
      </p:sp>
      <p:pic>
        <p:nvPicPr>
          <p:cNvPr id="6" name="Picture 5" descr="AppleSiri.png"/>
          <p:cNvPicPr>
            <a:picLocks noChangeAspect="1"/>
          </p:cNvPicPr>
          <p:nvPr/>
        </p:nvPicPr>
        <p:blipFill>
          <a:blip r:embed="rId3"/>
          <a:stretch>
            <a:fillRect/>
          </a:stretch>
        </p:blipFill>
        <p:spPr>
          <a:xfrm>
            <a:off x="5160890" y="1019175"/>
            <a:ext cx="1358972" cy="1347787"/>
          </a:xfrm>
          <a:prstGeom prst="rect">
            <a:avLst/>
          </a:prstGeom>
          <a:ln>
            <a:noFill/>
          </a:ln>
        </p:spPr>
      </p:pic>
      <p:pic>
        <p:nvPicPr>
          <p:cNvPr id="7" name="Picture 6" descr="GoogleAssistant.png"/>
          <p:cNvPicPr>
            <a:picLocks noChangeAspect="1"/>
          </p:cNvPicPr>
          <p:nvPr/>
        </p:nvPicPr>
        <p:blipFill>
          <a:blip r:embed="rId4" cstate="print"/>
          <a:stretch>
            <a:fillRect/>
          </a:stretch>
        </p:blipFill>
        <p:spPr>
          <a:xfrm>
            <a:off x="7010399" y="1028699"/>
            <a:ext cx="1343025" cy="1343025"/>
          </a:xfrm>
          <a:prstGeom prst="rect">
            <a:avLst/>
          </a:prstGeom>
          <a:ln>
            <a:noFill/>
          </a:ln>
        </p:spPr>
      </p:pic>
      <p:pic>
        <p:nvPicPr>
          <p:cNvPr id="8" name="Picture 7" descr="AmazonAlexa.png"/>
          <p:cNvPicPr>
            <a:picLocks noChangeAspect="1"/>
          </p:cNvPicPr>
          <p:nvPr/>
        </p:nvPicPr>
        <p:blipFill>
          <a:blip r:embed="rId5" cstate="print"/>
          <a:stretch>
            <a:fillRect/>
          </a:stretch>
        </p:blipFill>
        <p:spPr>
          <a:xfrm>
            <a:off x="5191124" y="2838449"/>
            <a:ext cx="1343025" cy="1343025"/>
          </a:xfrm>
          <a:prstGeom prst="rect">
            <a:avLst/>
          </a:prstGeom>
          <a:ln>
            <a:noFill/>
          </a:ln>
        </p:spPr>
      </p:pic>
      <p:pic>
        <p:nvPicPr>
          <p:cNvPr id="9" name="Picture 8" descr="MicrosoftCortana.png"/>
          <p:cNvPicPr>
            <a:picLocks noChangeAspect="1"/>
          </p:cNvPicPr>
          <p:nvPr/>
        </p:nvPicPr>
        <p:blipFill>
          <a:blip r:embed="rId6"/>
          <a:stretch>
            <a:fillRect/>
          </a:stretch>
        </p:blipFill>
        <p:spPr>
          <a:xfrm>
            <a:off x="6943725" y="2819400"/>
            <a:ext cx="1352550" cy="1352550"/>
          </a:xfrm>
          <a:prstGeom prst="rect">
            <a:avLst/>
          </a:prstGeom>
          <a:ln>
            <a:noFill/>
          </a:ln>
        </p:spPr>
      </p:pic>
    </p:spTree>
    <p:extLst>
      <p:ext uri="{BB962C8B-B14F-4D97-AF65-F5344CB8AC3E}">
        <p14:creationId xmlns:p14="http://schemas.microsoft.com/office/powerpoint/2010/main" val="27230802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Medical Diagnosis</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771899" cy="3223260"/>
          </a:xfrm>
          <a:noFill/>
        </p:spPr>
        <p:txBody>
          <a:bodyPr>
            <a:normAutofit/>
          </a:bodyPr>
          <a:lstStyle/>
          <a:p>
            <a:pPr lvl="1"/>
            <a:r>
              <a:rPr lang="en-US" sz="2000" dirty="0"/>
              <a:t>Symptom analysis</a:t>
            </a:r>
          </a:p>
          <a:p>
            <a:pPr lvl="1"/>
            <a:r>
              <a:rPr lang="en-US" sz="2000" dirty="0"/>
              <a:t>Disease identification</a:t>
            </a:r>
          </a:p>
          <a:p>
            <a:pPr lvl="1"/>
            <a:r>
              <a:rPr lang="en-US" sz="2000" dirty="0"/>
              <a:t>Treatment recommendations</a:t>
            </a:r>
          </a:p>
          <a:p>
            <a:pPr lvl="1"/>
            <a:r>
              <a:rPr lang="en-US" sz="2000" dirty="0"/>
              <a:t>Medical literature analysis</a:t>
            </a:r>
          </a:p>
          <a:p>
            <a:pPr lvl="1"/>
            <a:r>
              <a:rPr lang="en-US" sz="2000" dirty="0"/>
              <a:t>Medical question answering</a:t>
            </a:r>
          </a:p>
          <a:p>
            <a:pPr lvl="1"/>
            <a:r>
              <a:rPr lang="en-US" sz="2000" dirty="0"/>
              <a:t>Medical imaging analysis</a:t>
            </a:r>
          </a:p>
        </p:txBody>
      </p:sp>
      <p:sp>
        <p:nvSpPr>
          <p:cNvPr id="10"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14875" y="1378574"/>
            <a:ext cx="36385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Google Med–</a:t>
            </a:r>
            <a:r>
              <a:rPr lang="en-US" sz="2000" dirty="0" err="1"/>
              <a:t>PaLM</a:t>
            </a:r>
            <a:r>
              <a:rPr lang="en-US" sz="2000" dirty="0"/>
              <a:t> 2</a:t>
            </a:r>
          </a:p>
          <a:p>
            <a:pPr marL="514350" lvl="2">
              <a:spcBef>
                <a:spcPts val="750"/>
              </a:spcBef>
              <a:spcAft>
                <a:spcPts val="600"/>
              </a:spcAft>
              <a:buClr>
                <a:schemeClr val="accent2"/>
              </a:buClr>
            </a:pPr>
            <a:r>
              <a:rPr lang="en-US" sz="1700" dirty="0"/>
              <a:t>Medical question answering</a:t>
            </a:r>
          </a:p>
          <a:p>
            <a:pPr marL="171450" lvl="1">
              <a:spcBef>
                <a:spcPts val="750"/>
              </a:spcBef>
              <a:spcAft>
                <a:spcPts val="600"/>
              </a:spcAft>
              <a:buClr>
                <a:schemeClr val="accent2"/>
              </a:buClr>
            </a:pPr>
            <a:r>
              <a:rPr lang="en-US" sz="2000" dirty="0"/>
              <a:t>Google Med-Gemini</a:t>
            </a:r>
          </a:p>
          <a:p>
            <a:pPr marL="514350" lvl="2">
              <a:spcBef>
                <a:spcPts val="750"/>
              </a:spcBef>
              <a:spcAft>
                <a:spcPts val="600"/>
              </a:spcAft>
              <a:buClr>
                <a:schemeClr val="accent2"/>
              </a:buClr>
            </a:pPr>
            <a:r>
              <a:rPr lang="en-US" sz="1700" dirty="0"/>
              <a:t>Medical question answering</a:t>
            </a:r>
          </a:p>
          <a:p>
            <a:pPr marL="171450" lvl="1">
              <a:spcBef>
                <a:spcPts val="750"/>
              </a:spcBef>
              <a:spcAft>
                <a:spcPts val="600"/>
              </a:spcAft>
              <a:buClr>
                <a:schemeClr val="accent2"/>
              </a:buClr>
            </a:pPr>
            <a:r>
              <a:rPr lang="en-IN" sz="2000" dirty="0" err="1"/>
              <a:t>BiomedGPT</a:t>
            </a:r>
            <a:endParaRPr lang="en-IN" sz="2000" dirty="0"/>
          </a:p>
          <a:p>
            <a:pPr marL="514350" lvl="2">
              <a:spcBef>
                <a:spcPts val="750"/>
              </a:spcBef>
              <a:spcAft>
                <a:spcPts val="600"/>
              </a:spcAft>
              <a:buClr>
                <a:schemeClr val="accent2"/>
              </a:buClr>
            </a:pPr>
            <a:r>
              <a:rPr lang="en-IN" sz="1700" dirty="0"/>
              <a:t>Vision language model</a:t>
            </a:r>
          </a:p>
          <a:p>
            <a:pPr marL="514350" lvl="2">
              <a:spcBef>
                <a:spcPts val="750"/>
              </a:spcBef>
              <a:spcAft>
                <a:spcPts val="600"/>
              </a:spcAft>
              <a:buClr>
                <a:schemeClr val="accent2"/>
              </a:buClr>
            </a:pPr>
            <a:r>
              <a:rPr lang="en-IN" sz="1700" dirty="0"/>
              <a:t>Visual question answering</a:t>
            </a:r>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39712529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Creative Writing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sz="1800" b="1" dirty="0">
                <a:solidFill>
                  <a:schemeClr val="accent5">
                    <a:lumMod val="50000"/>
                  </a:schemeClr>
                </a:solidFill>
              </a:rPr>
              <a:t>Write a story on chemical bond for fifth standard student.</a:t>
            </a:r>
            <a:r>
              <a:rPr lang="en-IN" sz="1800" dirty="0">
                <a:solidFill>
                  <a:schemeClr val="accent5">
                    <a:lumMod val="50000"/>
                  </a:schemeClr>
                </a:solidFill>
              </a:rPr>
              <a:t> </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fontScale="85000" lnSpcReduction="10000"/>
          </a:bodyPr>
          <a:lstStyle/>
          <a:p>
            <a:pPr algn="just"/>
            <a:r>
              <a:rPr lang="en-IN" sz="1600" dirty="0">
                <a:solidFill>
                  <a:schemeClr val="accent4">
                    <a:lumMod val="50000"/>
                  </a:schemeClr>
                </a:solidFill>
              </a:rPr>
              <a:t>The Story of Chemical Bond</a:t>
            </a:r>
          </a:p>
          <a:p>
            <a:pPr algn="just"/>
            <a:r>
              <a:rPr lang="en-IN" sz="1600" dirty="0">
                <a:solidFill>
                  <a:schemeClr val="accent4">
                    <a:lumMod val="50000"/>
                  </a:schemeClr>
                </a:solidFill>
              </a:rPr>
              <a:t>Once upon a time, in a world made up of tiny particles called atoms, there lived two friends named Hydrogen and Oxygen.</a:t>
            </a:r>
          </a:p>
          <a:p>
            <a:pPr algn="just"/>
            <a:r>
              <a:rPr lang="en-IN" sz="1600" dirty="0">
                <a:solidFill>
                  <a:schemeClr val="accent4">
                    <a:lumMod val="50000"/>
                  </a:schemeClr>
                </a:solidFill>
              </a:rPr>
              <a:t>... </a:t>
            </a:r>
          </a:p>
          <a:p>
            <a:pPr algn="just"/>
            <a:r>
              <a:rPr lang="en-IN" sz="1600" dirty="0">
                <a:solidFill>
                  <a:schemeClr val="accent4">
                    <a:lumMod val="50000"/>
                  </a:schemeClr>
                </a:solidFill>
              </a:rPr>
              <a:t>The Moral of the Story</a:t>
            </a:r>
          </a:p>
          <a:p>
            <a:pPr algn="just"/>
            <a:r>
              <a:rPr lang="en-IN" sz="1600" dirty="0">
                <a:solidFill>
                  <a:schemeClr val="accent4">
                    <a:lumMod val="50000"/>
                  </a:schemeClr>
                </a:solidFill>
              </a:rPr>
              <a:t>Chemical bonds are like friendships between atoms. </a:t>
            </a:r>
          </a:p>
          <a:p>
            <a:pPr algn="just"/>
            <a:r>
              <a:rPr lang="en-IN" sz="1600" dirty="0">
                <a:solidFill>
                  <a:schemeClr val="accent4">
                    <a:lumMod val="50000"/>
                  </a:schemeClr>
                </a:solidFill>
              </a:rPr>
              <a:t>... </a:t>
            </a:r>
          </a:p>
          <a:p>
            <a:pPr algn="just"/>
            <a:r>
              <a:rPr lang="en-IN" sz="1600" dirty="0">
                <a:solidFill>
                  <a:schemeClr val="accent4">
                    <a:lumMod val="50000"/>
                  </a:schemeClr>
                </a:solidFill>
              </a:rPr>
              <a:t>So, the next time you see a glass of water, remember Hydrogen and Oxygen, the two friends who formed a chemical bond to become a single molecule, Water.</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747631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Creative Writing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b="1" dirty="0">
                <a:solidFill>
                  <a:schemeClr val="accent5">
                    <a:lumMod val="50000"/>
                  </a:schemeClr>
                </a:solidFill>
              </a:rPr>
              <a:t>Write a story on atom for first standard student.</a:t>
            </a:r>
            <a:r>
              <a:rPr lang="en-IN" dirty="0">
                <a:solidFill>
                  <a:schemeClr val="accent5">
                    <a:lumMod val="50000"/>
                  </a:schemeClr>
                </a:solidFill>
              </a:rPr>
              <a:t> </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fontScale="92500" lnSpcReduction="20000"/>
          </a:bodyPr>
          <a:lstStyle/>
          <a:p>
            <a:pPr algn="just"/>
            <a:r>
              <a:rPr lang="en-IN" sz="1600" dirty="0">
                <a:solidFill>
                  <a:schemeClr val="accent4">
                    <a:lumMod val="50000"/>
                  </a:schemeClr>
                </a:solidFill>
              </a:rPr>
              <a:t>The Adventures of Atom</a:t>
            </a:r>
          </a:p>
          <a:p>
            <a:pPr algn="just"/>
            <a:r>
              <a:rPr lang="en-IN" sz="1600" dirty="0">
                <a:solidFill>
                  <a:schemeClr val="accent4">
                    <a:lumMod val="50000"/>
                  </a:schemeClr>
                </a:solidFill>
              </a:rPr>
              <a:t>Once upon a time, in a tiny world, there was a tiny creature named Atom. Atom was so small that you needed a special tool to see him.</a:t>
            </a:r>
          </a:p>
          <a:p>
            <a:pPr algn="just"/>
            <a:r>
              <a:rPr lang="en-IN" sz="1600" dirty="0">
                <a:solidFill>
                  <a:schemeClr val="accent4">
                    <a:lumMod val="50000"/>
                  </a:schemeClr>
                </a:solidFill>
              </a:rPr>
              <a:t>... </a:t>
            </a:r>
          </a:p>
          <a:p>
            <a:pPr algn="just"/>
            <a:r>
              <a:rPr lang="en-IN" sz="1600" dirty="0">
                <a:solidFill>
                  <a:schemeClr val="accent4">
                    <a:lumMod val="50000"/>
                  </a:schemeClr>
                </a:solidFill>
              </a:rPr>
              <a:t>One day, Atom decided to go on an adventure. He packed a small bag and said goodbye to his family.</a:t>
            </a:r>
          </a:p>
          <a:p>
            <a:pPr algn="just"/>
            <a:r>
              <a:rPr lang="en-IN" sz="1600" dirty="0">
                <a:solidFill>
                  <a:schemeClr val="accent4">
                    <a:lumMod val="50000"/>
                  </a:schemeClr>
                </a:solidFill>
              </a:rPr>
              <a:t>... </a:t>
            </a:r>
          </a:p>
          <a:p>
            <a:pPr algn="just"/>
            <a:r>
              <a:rPr lang="en-IN" sz="1600" dirty="0">
                <a:solidFill>
                  <a:schemeClr val="accent4">
                    <a:lumMod val="50000"/>
                  </a:schemeClr>
                </a:solidFill>
              </a:rPr>
              <a:t>The End</a:t>
            </a:r>
          </a:p>
          <a:p>
            <a:pPr algn="just"/>
            <a:r>
              <a:rPr lang="en-IN" sz="1600" dirty="0">
                <a:solidFill>
                  <a:schemeClr val="accent4">
                    <a:lumMod val="50000"/>
                  </a:schemeClr>
                </a:solidFill>
              </a:rPr>
              <a:t>This story is designed to be simple and easy to understand for a first standard student. </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324720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Education and Training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sz="1800" dirty="0">
                <a:solidFill>
                  <a:schemeClr val="accent5">
                    <a:lumMod val="50000"/>
                  </a:schemeClr>
                </a:solidFill>
              </a:rPr>
              <a:t>In six sentences, explain the role of catalyst to first standard student.</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lnSpcReduction="10000"/>
          </a:bodyPr>
          <a:lstStyle/>
          <a:p>
            <a:pPr algn="just"/>
            <a:r>
              <a:rPr lang="en-IN" sz="1600" dirty="0">
                <a:solidFill>
                  <a:schemeClr val="accent4">
                    <a:lumMod val="50000"/>
                  </a:schemeClr>
                </a:solidFill>
              </a:rPr>
              <a:t>Here's an explanation of the role of a catalyst that a first standard student can understand:</a:t>
            </a:r>
          </a:p>
          <a:p>
            <a:pPr algn="just"/>
            <a:r>
              <a:rPr lang="en-IN" sz="1600" dirty="0">
                <a:solidFill>
                  <a:schemeClr val="accent4">
                    <a:lumMod val="50000"/>
                  </a:schemeClr>
                </a:solidFill>
              </a:rPr>
              <a:t>A catalyst is a special helper that makes a chemical reaction happen faster. It's like a friend who helps you build a tower with blocks, but they don't build it by themselves. The catalyst doesn't change the blocks or the tower, it just helps you build it faster. Imagine you're trying to mix two colours of paint together, but it's hard to get them to mix. A catalyst is like a special tool that helps the paint mix together quickly and easily. It's a helper that makes things happen faster and easier!</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3176469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Education and Training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sz="1800" dirty="0">
                <a:solidFill>
                  <a:schemeClr val="accent5">
                    <a:lumMod val="50000"/>
                  </a:schemeClr>
                </a:solidFill>
              </a:rPr>
              <a:t>In six sentences, explain the role of catalyst to fifth standard student.</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lnSpcReduction="10000"/>
          </a:bodyPr>
          <a:lstStyle/>
          <a:p>
            <a:pPr algn="just"/>
            <a:r>
              <a:rPr lang="en-IN" sz="1600" dirty="0">
                <a:solidFill>
                  <a:schemeClr val="accent4">
                    <a:lumMod val="50000"/>
                  </a:schemeClr>
                </a:solidFill>
              </a:rPr>
              <a:t>Here's an explanation of the role of a catalyst that a fifth standard student can understand:</a:t>
            </a:r>
          </a:p>
          <a:p>
            <a:pPr algn="just"/>
            <a:r>
              <a:rPr lang="en-IN" sz="1600" dirty="0">
                <a:solidFill>
                  <a:schemeClr val="accent4">
                    <a:lumMod val="50000"/>
                  </a:schemeClr>
                </a:solidFill>
              </a:rPr>
              <a:t>A catalyst is a special helper that makes a chemical reaction happen faster. It's like a tool that helps mix two things together, but it doesn't change the things themselves. The catalyst helps the reaction happen by making it easier for the things to mix together. For example, in a car engine, a catalyst helps convert bad air into good air, making the engine run better. The catalyst doesn't get used up in the process, it just helps the reaction happen faster. It's like a special assistant that makes things happen more quickly and easily!</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7437928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Education and Training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algn="just"/>
            <a:r>
              <a:rPr lang="en-IN" sz="1800" dirty="0">
                <a:solidFill>
                  <a:schemeClr val="accent5">
                    <a:lumMod val="50000"/>
                  </a:schemeClr>
                </a:solidFill>
              </a:rPr>
              <a:t>In six sentences, explain the role of catalyst to tenth standard student.</a:t>
            </a: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fontScale="92500" lnSpcReduction="20000"/>
          </a:bodyPr>
          <a:lstStyle/>
          <a:p>
            <a:pPr algn="just"/>
            <a:r>
              <a:rPr lang="en-IN" sz="1600" dirty="0">
                <a:solidFill>
                  <a:schemeClr val="accent4">
                    <a:lumMod val="50000"/>
                  </a:schemeClr>
                </a:solidFill>
              </a:rPr>
              <a:t>Here's an explanation of the role of a catalyst that a tenth standard student can understand:</a:t>
            </a:r>
          </a:p>
          <a:p>
            <a:pPr algn="just"/>
            <a:r>
              <a:rPr lang="en-IN" sz="1600" dirty="0">
                <a:solidFill>
                  <a:schemeClr val="accent4">
                    <a:lumMod val="50000"/>
                  </a:schemeClr>
                </a:solidFill>
              </a:rPr>
              <a:t>A catalyst is a substance that speeds up a chemical reaction without being consumed or altered in the process. It's like a key that unlocks the reaction, allowing it to happen faster and more efficiently. The catalyst works by lowering the activation energy required for the reaction to occur, making it easier for the reactants to convert into products. This means that the catalyst doesn't change the reaction itself, but rather helps it happen faster. For example, in a car engine, a catalyst is used to convert pollutants into harmless gases, making the engine run more efficiently. The catalyst plays a crucial role in many industrial and biological processes, and its use can have a significant impact on the environment and our daily lives.</a:t>
            </a:r>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26767364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Keyword Identification</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fontScale="62500" lnSpcReduction="20000"/>
          </a:bodyPr>
          <a:lstStyle/>
          <a:p>
            <a:pPr algn="just"/>
            <a:r>
              <a:rPr lang="en-IN" sz="1800" b="1" dirty="0">
                <a:solidFill>
                  <a:schemeClr val="accent5">
                    <a:lumMod val="50000"/>
                  </a:schemeClr>
                </a:solidFill>
              </a:rPr>
              <a:t>List top ten keywords for following paragraph.</a:t>
            </a:r>
          </a:p>
          <a:p>
            <a:pPr algn="just"/>
            <a:r>
              <a:rPr lang="en-IN" sz="1800" b="1" dirty="0">
                <a:solidFill>
                  <a:schemeClr val="accent5">
                    <a:lumMod val="50000"/>
                  </a:schemeClr>
                </a:solidFill>
              </a:rPr>
              <a:t>Image captioning models automatically generate image descriptions using semantics of the input image. ... In our current research work, we focus on designing and developing a fashion image captioning model for automating the generation of descriptive captions for fashion items. We call it the Fashion Vision-Language Model (FashionVLM) to capture the multi-modality nature of the model. We utilize a frozen large language model as a text decoder and a vision transformer as an image encoder, connecting these models with a comparatively smaller Querying Transformer. Fashion Captioning Dataset (FACAD) is one of the biggest datasets of fashion items. For fine-tuning on FACAD, we utilize BLIP-2 </a:t>
            </a:r>
            <a:r>
              <a:rPr lang="en-IN" sz="1800" b="1" dirty="0" err="1">
                <a:solidFill>
                  <a:schemeClr val="accent5">
                    <a:lumMod val="50000"/>
                  </a:schemeClr>
                </a:solidFill>
              </a:rPr>
              <a:t>pretrain</a:t>
            </a:r>
            <a:r>
              <a:rPr lang="en-IN" sz="1800" b="1" dirty="0">
                <a:solidFill>
                  <a:schemeClr val="accent5">
                    <a:lumMod val="50000"/>
                  </a:schemeClr>
                </a:solidFill>
              </a:rPr>
              <a:t> stage two and MS COCO fine-tuned models in three different stages. ... The OPT-6.7 based Stage Three FashionVLM achieves the best performance compared to the state-of-the-art for fashion captioning on FACAD, providing +4.281 points, + 39.015 points, +5.667 points, and + 3.519 points improvements for BLEU-4, CIDEr, ROUGE-L, and METEOR performance metrics respectively.</a:t>
            </a:r>
            <a:endParaRPr lang="en-US" sz="1800" b="1"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fontScale="70000" lnSpcReduction="20000"/>
          </a:bodyPr>
          <a:lstStyle/>
          <a:p>
            <a:pPr algn="just"/>
            <a:r>
              <a:rPr lang="en-IN" sz="1600" b="1" dirty="0">
                <a:solidFill>
                  <a:schemeClr val="accent4">
                    <a:lumMod val="50000"/>
                  </a:schemeClr>
                </a:solidFill>
              </a:rPr>
              <a:t>Here are the top ten keywords for the paragraph:</a:t>
            </a:r>
          </a:p>
          <a:p>
            <a:pPr algn="just"/>
            <a:r>
              <a:rPr lang="en-IN" sz="1600" b="1" dirty="0">
                <a:solidFill>
                  <a:schemeClr val="accent4">
                    <a:lumMod val="50000"/>
                  </a:schemeClr>
                </a:solidFill>
              </a:rPr>
              <a:t>1. Fashion image captioning</a:t>
            </a:r>
          </a:p>
          <a:p>
            <a:pPr algn="just"/>
            <a:r>
              <a:rPr lang="en-IN" sz="1600" b="1" dirty="0">
                <a:solidFill>
                  <a:schemeClr val="accent4">
                    <a:lumMod val="50000"/>
                  </a:schemeClr>
                </a:solidFill>
              </a:rPr>
              <a:t>2. Fashion Vision-Language Model (FashionVLM)</a:t>
            </a:r>
          </a:p>
          <a:p>
            <a:pPr algn="just"/>
            <a:r>
              <a:rPr lang="en-IN" sz="1600" b="1" dirty="0">
                <a:solidFill>
                  <a:schemeClr val="accent4">
                    <a:lumMod val="50000"/>
                  </a:schemeClr>
                </a:solidFill>
              </a:rPr>
              <a:t>3. Large language model</a:t>
            </a:r>
          </a:p>
          <a:p>
            <a:pPr algn="just"/>
            <a:r>
              <a:rPr lang="en-IN" sz="1600" b="1" dirty="0">
                <a:solidFill>
                  <a:schemeClr val="accent4">
                    <a:lumMod val="50000"/>
                  </a:schemeClr>
                </a:solidFill>
              </a:rPr>
              <a:t>4. Vision transformer</a:t>
            </a:r>
          </a:p>
          <a:p>
            <a:pPr algn="just"/>
            <a:r>
              <a:rPr lang="en-IN" sz="1600" b="1" dirty="0">
                <a:solidFill>
                  <a:schemeClr val="accent4">
                    <a:lumMod val="50000"/>
                  </a:schemeClr>
                </a:solidFill>
              </a:rPr>
              <a:t>5. Querying Transformer</a:t>
            </a:r>
          </a:p>
          <a:p>
            <a:pPr algn="just"/>
            <a:r>
              <a:rPr lang="en-IN" sz="1600" b="1" dirty="0">
                <a:solidFill>
                  <a:schemeClr val="accent4">
                    <a:lumMod val="50000"/>
                  </a:schemeClr>
                </a:solidFill>
              </a:rPr>
              <a:t>6. Fashion Captioning Dataset (FACAD)</a:t>
            </a:r>
          </a:p>
          <a:p>
            <a:pPr algn="just"/>
            <a:r>
              <a:rPr lang="en-IN" sz="1600" b="1" dirty="0">
                <a:solidFill>
                  <a:schemeClr val="accent4">
                    <a:lumMod val="50000"/>
                  </a:schemeClr>
                </a:solidFill>
              </a:rPr>
              <a:t>7. BLIP-2</a:t>
            </a:r>
          </a:p>
          <a:p>
            <a:pPr algn="just"/>
            <a:r>
              <a:rPr lang="en-IN" sz="1600" b="1" dirty="0">
                <a:solidFill>
                  <a:schemeClr val="accent4">
                    <a:lumMod val="50000"/>
                  </a:schemeClr>
                </a:solidFill>
              </a:rPr>
              <a:t>8. MS COCO</a:t>
            </a:r>
          </a:p>
          <a:p>
            <a:pPr algn="just"/>
            <a:r>
              <a:rPr lang="en-IN" sz="1600" b="1" dirty="0">
                <a:solidFill>
                  <a:schemeClr val="accent4">
                    <a:lumMod val="50000"/>
                  </a:schemeClr>
                </a:solidFill>
              </a:rPr>
              <a:t>9. OPT-6.7</a:t>
            </a:r>
          </a:p>
          <a:p>
            <a:pPr algn="just"/>
            <a:r>
              <a:rPr lang="en-IN" sz="1600" b="1" dirty="0">
                <a:solidFill>
                  <a:schemeClr val="accent4">
                    <a:lumMod val="50000"/>
                  </a:schemeClr>
                </a:solidFill>
              </a:rPr>
              <a:t>10. Fine-tuning</a:t>
            </a:r>
          </a:p>
          <a:p>
            <a:pPr algn="just"/>
            <a:endParaRPr lang="en-US" sz="18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a:solidFill>
                  <a:schemeClr val="accent2">
                    <a:lumMod val="50000"/>
                  </a:schemeClr>
                </a:solidFill>
              </a:rPr>
              <a:t>*Meta Llama </a:t>
            </a:r>
            <a:r>
              <a:rPr lang="en-IN" b="1" dirty="0">
                <a:solidFill>
                  <a:schemeClr val="accent2">
                    <a:lumMod val="50000"/>
                  </a:schemeClr>
                </a:solidFill>
              </a:rPr>
              <a:t>3.1 405B Instruct</a:t>
            </a:r>
          </a:p>
        </p:txBody>
      </p:sp>
    </p:spTree>
    <p:extLst>
      <p:ext uri="{BB962C8B-B14F-4D97-AF65-F5344CB8AC3E}">
        <p14:creationId xmlns:p14="http://schemas.microsoft.com/office/powerpoint/2010/main" val="731037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628650" y="273844"/>
            <a:ext cx="7886700" cy="994172"/>
          </a:xfrm>
          <a:noFill/>
        </p:spPr>
        <p:txBody>
          <a:bodyPr anchor="ctr"/>
          <a:lstStyle/>
          <a:p>
            <a:r>
              <a:rPr lang="en-US" dirty="0"/>
              <a:t>Prompt Engineering</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Prompt</a:t>
            </a:r>
          </a:p>
          <a:p>
            <a:pPr marL="171450" lvl="1">
              <a:spcBef>
                <a:spcPts val="750"/>
              </a:spcBef>
              <a:spcAft>
                <a:spcPts val="600"/>
              </a:spcAft>
              <a:buClr>
                <a:schemeClr val="accent2"/>
              </a:buClr>
            </a:pPr>
            <a:r>
              <a:rPr lang="en-US" sz="2000" dirty="0"/>
              <a:t>Inference</a:t>
            </a:r>
          </a:p>
          <a:p>
            <a:pPr marL="171450" lvl="1">
              <a:spcBef>
                <a:spcPts val="750"/>
              </a:spcBef>
              <a:spcAft>
                <a:spcPts val="600"/>
              </a:spcAft>
              <a:buClr>
                <a:schemeClr val="accent2"/>
              </a:buClr>
            </a:pPr>
            <a:r>
              <a:rPr lang="en-US" sz="2000" dirty="0"/>
              <a:t>Completion</a:t>
            </a:r>
          </a:p>
        </p:txBody>
      </p:sp>
    </p:spTree>
    <p:extLst>
      <p:ext uri="{BB962C8B-B14F-4D97-AF65-F5344CB8AC3E}">
        <p14:creationId xmlns:p14="http://schemas.microsoft.com/office/powerpoint/2010/main" val="7296091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Prompt</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838574" cy="3223260"/>
          </a:xfrm>
          <a:noFill/>
        </p:spPr>
        <p:txBody>
          <a:bodyPr>
            <a:normAutofit/>
          </a:bodyPr>
          <a:lstStyle/>
          <a:p>
            <a:pPr lvl="1"/>
            <a:r>
              <a:rPr lang="en-US" sz="1800" b="1" dirty="0">
                <a:solidFill>
                  <a:schemeClr val="accent5">
                    <a:lumMod val="50000"/>
                  </a:schemeClr>
                </a:solidFill>
              </a:rPr>
              <a:t>Instructions to LLM</a:t>
            </a:r>
          </a:p>
          <a:p>
            <a:pPr lvl="1"/>
            <a:r>
              <a:rPr lang="en-US" sz="1800" dirty="0">
                <a:solidFill>
                  <a:schemeClr val="accent6">
                    <a:lumMod val="75000"/>
                  </a:schemeClr>
                </a:solidFill>
              </a:rPr>
              <a:t>Context for Question</a:t>
            </a:r>
          </a:p>
          <a:p>
            <a:pPr lvl="1"/>
            <a:r>
              <a:rPr lang="en-US" sz="1800" dirty="0">
                <a:solidFill>
                  <a:schemeClr val="accent5">
                    <a:lumMod val="50000"/>
                  </a:schemeClr>
                </a:solidFill>
              </a:rPr>
              <a:t>Question</a:t>
            </a:r>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800" b="1" dirty="0">
                <a:solidFill>
                  <a:schemeClr val="accent5">
                    <a:lumMod val="50000"/>
                  </a:schemeClr>
                </a:solidFill>
              </a:rPr>
              <a:t>Answer following question using given context.</a:t>
            </a:r>
          </a:p>
          <a:p>
            <a:pPr algn="just"/>
            <a:r>
              <a:rPr lang="en-IN" sz="1800" dirty="0">
                <a:solidFill>
                  <a:schemeClr val="accent6">
                    <a:lumMod val="75000"/>
                  </a:schemeClr>
                </a:solidFill>
              </a:rPr>
              <a:t>Context: </a:t>
            </a:r>
            <a:r>
              <a:rPr lang="en-US" sz="1800" dirty="0">
                <a:solidFill>
                  <a:schemeClr val="accent6">
                    <a:lumMod val="75000"/>
                  </a:schemeClr>
                </a:solidFill>
              </a:rPr>
              <a:t>Everyday examples of particle accelerators are cathode ray tubes found in television sets and X-ray generators. These low energy accelerators use a single pair of electrodes with a DC voltage of a few thousand volts between them.</a:t>
            </a:r>
            <a:endParaRPr lang="en-IN" sz="1800" dirty="0">
              <a:solidFill>
                <a:schemeClr val="accent5">
                  <a:lumMod val="50000"/>
                </a:schemeClr>
              </a:solidFill>
            </a:endParaRPr>
          </a:p>
          <a:p>
            <a:pPr algn="just"/>
            <a:r>
              <a:rPr lang="en-US" sz="1800" dirty="0">
                <a:solidFill>
                  <a:schemeClr val="accent5">
                    <a:lumMod val="50000"/>
                  </a:schemeClr>
                </a:solidFill>
              </a:rPr>
              <a:t>Question: Give examples of low energy accelerators.</a:t>
            </a:r>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Inference</a:t>
            </a:r>
          </a:p>
        </p:txBody>
      </p:sp>
      <p:sp>
        <p:nvSpPr>
          <p:cNvPr id="26"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marL="171450" lvl="1" indent="-171450"/>
            <a:r>
              <a:rPr lang="en-US" sz="2000" dirty="0"/>
              <a:t>Large Language Model</a:t>
            </a:r>
          </a:p>
          <a:p>
            <a:pPr marL="171450" lvl="1" indent="-171450"/>
            <a:r>
              <a:rPr lang="en-US" sz="2000" dirty="0"/>
              <a:t>Model prediction</a:t>
            </a:r>
          </a:p>
        </p:txBody>
      </p:sp>
      <p:sp>
        <p:nvSpPr>
          <p:cNvPr id="27" name="Content Placeholder 3">
            <a:extLst>
              <a:ext uri="{FF2B5EF4-FFF2-40B4-BE49-F238E27FC236}">
                <a16:creationId xmlns:a16="http://schemas.microsoft.com/office/drawing/2014/main" id="{ACFBB810-3430-2C29-1AA0-9744AA0A1AA3}"/>
              </a:ext>
            </a:extLst>
          </p:cNvPr>
          <p:cNvSpPr txBox="1">
            <a:spLocks/>
          </p:cNvSpPr>
          <p:nvPr/>
        </p:nvSpPr>
        <p:spPr>
          <a:xfrm>
            <a:off x="4610922" y="1362687"/>
            <a:ext cx="3909060" cy="3223260"/>
          </a:xfrm>
          <a:prstGeom prst="rect">
            <a:avLst/>
          </a:prstGeom>
          <a:noFill/>
        </p:spPr>
        <p:txBody>
          <a:bodyPr>
            <a:normAutofit/>
          </a:bodyPr>
          <a:lstStyle/>
          <a:p>
            <a:pPr lvl="0" algn="just">
              <a:lnSpc>
                <a:spcPct val="90000"/>
              </a:lnSpc>
              <a:spcBef>
                <a:spcPts val="750"/>
              </a:spcBef>
              <a:spcAft>
                <a:spcPts val="600"/>
              </a:spcAft>
            </a:pPr>
            <a:r>
              <a:rPr lang="en-US" sz="1700" b="1" dirty="0">
                <a:solidFill>
                  <a:schemeClr val="accent5">
                    <a:lumMod val="50000"/>
                  </a:schemeClr>
                </a:solidFill>
              </a:rPr>
              <a:t>Translate following English sentences in Hindi sentences. </a:t>
            </a:r>
          </a:p>
          <a:p>
            <a:pPr lvl="0" algn="just">
              <a:lnSpc>
                <a:spcPct val="90000"/>
              </a:lnSpc>
              <a:spcBef>
                <a:spcPts val="750"/>
              </a:spcBef>
              <a:spcAft>
                <a:spcPts val="600"/>
              </a:spcAft>
            </a:pPr>
            <a:r>
              <a:rPr lang="en-IN" sz="1700" dirty="0">
                <a:solidFill>
                  <a:schemeClr val="accent5">
                    <a:lumMod val="50000"/>
                  </a:schemeClr>
                </a:solidFill>
              </a:rPr>
              <a:t>Particle accelerator is a machine that uses electromagnetic fields to propel charged particles to very high speeds and energies to contain them in well defined beams.</a:t>
            </a:r>
            <a:endParaRPr lang="en-US" sz="1700" dirty="0">
              <a:solidFill>
                <a:schemeClr val="accent5">
                  <a:lumMod val="50000"/>
                </a:schemeClr>
              </a:solidFill>
            </a:endParaRPr>
          </a:p>
          <a:p>
            <a:pPr lvl="0" algn="just">
              <a:lnSpc>
                <a:spcPct val="90000"/>
              </a:lnSpc>
              <a:spcBef>
                <a:spcPts val="750"/>
              </a:spcBef>
              <a:spcAft>
                <a:spcPts val="600"/>
              </a:spcAft>
            </a:pPr>
            <a:r>
              <a:rPr lang="hi-IN" sz="1700" dirty="0">
                <a:solidFill>
                  <a:schemeClr val="accent4">
                    <a:lumMod val="50000"/>
                  </a:schemeClr>
                </a:solidFill>
              </a:rPr>
              <a:t>कण त्वरक एक मशीन है जो विद्युत चुम्बकीय क्षेत्रों का उपयोग करके आवेशित कणों को बहुत अधिक गति और ऊर्जा प्रदान करती है और उन्हें अच्छी तरह से परिभाषित किरणों में सीमित रखने के लिए।</a:t>
            </a:r>
          </a:p>
          <a:p>
            <a:pPr marL="171450" marR="0" lvl="0" indent="-171450" algn="l" defTabSz="685800" rtl="0" eaLnBrk="1" fontAlgn="auto" latinLnBrk="0" hangingPunct="1">
              <a:lnSpc>
                <a:spcPct val="90000"/>
              </a:lnSpc>
              <a:spcBef>
                <a:spcPts val="750"/>
              </a:spcBef>
              <a:spcAft>
                <a:spcPts val="0"/>
              </a:spcAft>
              <a:buClrTx/>
              <a:buSzTx/>
              <a:tabLst/>
              <a:defRPr/>
            </a:pPr>
            <a:endParaRPr kumimoji="0" lang="en-US"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27372412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Prompt Completion</a:t>
            </a:r>
          </a:p>
        </p:txBody>
      </p:sp>
      <p:sp>
        <p:nvSpPr>
          <p:cNvPr id="1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a:bodyPr>
          <a:lstStyle/>
          <a:p>
            <a:pPr marL="171450" lvl="1" indent="-171450"/>
            <a:r>
              <a:rPr lang="en-US" sz="2000" dirty="0">
                <a:solidFill>
                  <a:schemeClr val="accent4">
                    <a:lumMod val="50000"/>
                  </a:schemeClr>
                </a:solidFill>
              </a:rPr>
              <a:t>Inference without context</a:t>
            </a:r>
          </a:p>
        </p:txBody>
      </p:sp>
      <p:sp>
        <p:nvSpPr>
          <p:cNvPr id="14" name="Content Placeholder 3">
            <a:extLst>
              <a:ext uri="{FF2B5EF4-FFF2-40B4-BE49-F238E27FC236}">
                <a16:creationId xmlns:a16="http://schemas.microsoft.com/office/drawing/2014/main" id="{ACFBB810-3430-2C29-1AA0-9744AA0A1AA3}"/>
              </a:ext>
            </a:extLst>
          </p:cNvPr>
          <p:cNvSpPr txBox="1">
            <a:spLocks/>
          </p:cNvSpPr>
          <p:nvPr/>
        </p:nvSpPr>
        <p:spPr>
          <a:xfrm>
            <a:off x="4610922" y="1362687"/>
            <a:ext cx="3909060" cy="3223260"/>
          </a:xfrm>
          <a:prstGeom prst="rect">
            <a:avLst/>
          </a:prstGeom>
          <a:noFill/>
        </p:spPr>
        <p:txBody>
          <a:bodyPr>
            <a:normAutofit/>
          </a:bodyPr>
          <a:lstStyle/>
          <a:p>
            <a:pPr lvl="0" algn="just">
              <a:lnSpc>
                <a:spcPct val="90000"/>
              </a:lnSpc>
              <a:spcBef>
                <a:spcPts val="750"/>
              </a:spcBef>
              <a:spcAft>
                <a:spcPts val="600"/>
              </a:spcAft>
            </a:pPr>
            <a:r>
              <a:rPr lang="hi-IN" sz="1700" dirty="0">
                <a:solidFill>
                  <a:schemeClr val="accent4">
                    <a:lumMod val="50000"/>
                  </a:schemeClr>
                </a:solidFill>
              </a:rPr>
              <a:t>कण त्वरक एक मशीन है जो विद्युत चुम्बकीय क्षेत्रों का उपयोग करके आवेशित कणों को बहुत अधिक गति और ऊर्जा प्रदान करती है और उन्हें अच्छी तरह से परिभाषित किरणों में सीमित रखने के लिए।</a:t>
            </a:r>
          </a:p>
          <a:p>
            <a:pPr marL="171450" marR="0" lvl="0" indent="-171450" algn="l" defTabSz="685800" rtl="0" eaLnBrk="1" fontAlgn="auto" latinLnBrk="0" hangingPunct="1">
              <a:lnSpc>
                <a:spcPct val="90000"/>
              </a:lnSpc>
              <a:spcBef>
                <a:spcPts val="750"/>
              </a:spcBef>
              <a:spcAft>
                <a:spcPts val="0"/>
              </a:spcAft>
              <a:buClrTx/>
              <a:buSzTx/>
              <a:tabLst/>
              <a:defRPr/>
            </a:pPr>
            <a:endParaRPr kumimoji="0" lang="en-US"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42599771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In Context Learning</a:t>
            </a:r>
          </a:p>
        </p:txBody>
      </p:sp>
      <p:sp>
        <p:nvSpPr>
          <p:cNvPr id="9"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Context window</a:t>
            </a:r>
          </a:p>
          <a:p>
            <a:pPr marL="171450" lvl="1">
              <a:spcBef>
                <a:spcPts val="750"/>
              </a:spcBef>
              <a:spcAft>
                <a:spcPts val="600"/>
              </a:spcAft>
              <a:buClr>
                <a:schemeClr val="accent2"/>
              </a:buClr>
            </a:pPr>
            <a:r>
              <a:rPr lang="en-IN" sz="2000" dirty="0"/>
              <a:t>Task example/s</a:t>
            </a:r>
          </a:p>
          <a:p>
            <a:pPr marL="171450" lvl="1">
              <a:spcBef>
                <a:spcPts val="750"/>
              </a:spcBef>
              <a:spcAft>
                <a:spcPts val="600"/>
              </a:spcAft>
              <a:buClr>
                <a:schemeClr val="accent2"/>
              </a:buClr>
            </a:pPr>
            <a:r>
              <a:rPr lang="en-IN" sz="2000" dirty="0"/>
              <a:t>Zero shot inference</a:t>
            </a:r>
          </a:p>
          <a:p>
            <a:pPr marL="171450" lvl="1">
              <a:spcBef>
                <a:spcPts val="750"/>
              </a:spcBef>
              <a:spcAft>
                <a:spcPts val="600"/>
              </a:spcAft>
              <a:buClr>
                <a:schemeClr val="accent2"/>
              </a:buClr>
            </a:pPr>
            <a:r>
              <a:rPr lang="en-IN" sz="2000" dirty="0"/>
              <a:t>One shot inference</a:t>
            </a:r>
          </a:p>
          <a:p>
            <a:pPr marL="171450" lvl="1">
              <a:spcBef>
                <a:spcPts val="750"/>
              </a:spcBef>
              <a:spcAft>
                <a:spcPts val="600"/>
              </a:spcAft>
              <a:buClr>
                <a:schemeClr val="accent2"/>
              </a:buClr>
            </a:pPr>
            <a:r>
              <a:rPr lang="en-IN" sz="2000" dirty="0"/>
              <a:t>Few shot inference</a:t>
            </a:r>
            <a:endParaRPr lang="en-US" sz="2000" dirty="0"/>
          </a:p>
        </p:txBody>
      </p:sp>
    </p:spTree>
    <p:extLst>
      <p:ext uri="{BB962C8B-B14F-4D97-AF65-F5344CB8AC3E}">
        <p14:creationId xmlns:p14="http://schemas.microsoft.com/office/powerpoint/2010/main" val="4146137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Context Window</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838574" cy="3223260"/>
          </a:xfrm>
          <a:noFill/>
        </p:spPr>
        <p:txBody>
          <a:bodyPr>
            <a:normAutofit/>
          </a:bodyPr>
          <a:lstStyle/>
          <a:p>
            <a:pPr lvl="1"/>
            <a:r>
              <a:rPr lang="en-US" sz="2000" dirty="0"/>
              <a:t>Window size</a:t>
            </a:r>
          </a:p>
          <a:p>
            <a:pPr lvl="2"/>
            <a:r>
              <a:rPr lang="en-US" sz="2000" dirty="0" err="1"/>
              <a:t>ChatGPT</a:t>
            </a:r>
            <a:r>
              <a:rPr lang="en-US" sz="2000" dirty="0"/>
              <a:t> 4 Turbo – 128K</a:t>
            </a:r>
          </a:p>
          <a:p>
            <a:pPr lvl="2"/>
            <a:r>
              <a:rPr lang="en-US" sz="2000" dirty="0"/>
              <a:t>Llama 3.1 405B – 128K</a:t>
            </a: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a:t>
            </a:r>
            <a:r>
              <a:rPr lang="en-IN" b="1" dirty="0" err="1">
                <a:solidFill>
                  <a:schemeClr val="accent2">
                    <a:lumMod val="50000"/>
                  </a:schemeClr>
                </a:solidFill>
              </a:rPr>
              <a:t>OpenAI</a:t>
            </a:r>
            <a:r>
              <a:rPr lang="en-IN" b="1" dirty="0">
                <a:solidFill>
                  <a:schemeClr val="accent2">
                    <a:lumMod val="50000"/>
                  </a:schemeClr>
                </a:solidFill>
              </a:rPr>
              <a:t> </a:t>
            </a:r>
            <a:r>
              <a:rPr lang="en-IN" b="1" dirty="0" err="1">
                <a:solidFill>
                  <a:schemeClr val="accent2">
                    <a:lumMod val="50000"/>
                  </a:schemeClr>
                </a:solidFill>
              </a:rPr>
              <a:t>ChatGPT</a:t>
            </a:r>
            <a:r>
              <a:rPr lang="en-IN" b="1" dirty="0">
                <a:solidFill>
                  <a:schemeClr val="accent2">
                    <a:lumMod val="50000"/>
                  </a:schemeClr>
                </a:solidFill>
              </a:rPr>
              <a:t> 4 &amp; Meta Llama 3.1 405B Instruct</a:t>
            </a:r>
          </a:p>
        </p:txBody>
      </p:sp>
      <p:sp>
        <p:nvSpPr>
          <p:cNvPr id="7"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800" b="1" dirty="0">
                <a:solidFill>
                  <a:schemeClr val="accent5">
                    <a:lumMod val="50000"/>
                  </a:schemeClr>
                </a:solidFill>
              </a:rPr>
              <a:t>Answer following question using given context.</a:t>
            </a:r>
          </a:p>
          <a:p>
            <a:pPr algn="just"/>
            <a:r>
              <a:rPr lang="en-IN" sz="1800" dirty="0">
                <a:solidFill>
                  <a:schemeClr val="accent6">
                    <a:lumMod val="75000"/>
                  </a:schemeClr>
                </a:solidFill>
              </a:rPr>
              <a:t>Context: The Large Hadron Collider (LHC) particle collider is the world's largest and highest-energy particle accelerator. It was built by the European Organization for Nuclear Research (CERN).</a:t>
            </a:r>
            <a:endParaRPr lang="en-IN" sz="1800" dirty="0">
              <a:solidFill>
                <a:schemeClr val="accent5">
                  <a:lumMod val="50000"/>
                </a:schemeClr>
              </a:solidFill>
            </a:endParaRPr>
          </a:p>
          <a:p>
            <a:pPr algn="just"/>
            <a:r>
              <a:rPr lang="en-US" sz="1800" dirty="0">
                <a:solidFill>
                  <a:schemeClr val="accent5">
                    <a:lumMod val="50000"/>
                  </a:schemeClr>
                </a:solidFill>
              </a:rPr>
              <a:t>Question: What is the Large Hadron Collider?</a:t>
            </a:r>
          </a:p>
        </p:txBody>
      </p:sp>
    </p:spTree>
    <p:extLst>
      <p:ext uri="{BB962C8B-B14F-4D97-AF65-F5344CB8AC3E}">
        <p14:creationId xmlns:p14="http://schemas.microsoft.com/office/powerpoint/2010/main" val="11276497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Task Examples</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838574" cy="3223260"/>
          </a:xfrm>
          <a:noFill/>
        </p:spPr>
        <p:txBody>
          <a:bodyPr>
            <a:normAutofit/>
          </a:bodyPr>
          <a:lstStyle/>
          <a:p>
            <a:pPr lvl="1"/>
            <a:r>
              <a:rPr lang="en-US" sz="2000" dirty="0"/>
              <a:t>One or more examples</a:t>
            </a:r>
          </a:p>
          <a:p>
            <a:pPr lvl="1"/>
            <a:r>
              <a:rPr lang="en-US" sz="2000" dirty="0"/>
              <a:t>In context learning</a:t>
            </a:r>
          </a:p>
          <a:p>
            <a:pPr lvl="1"/>
            <a:r>
              <a:rPr lang="en-US" sz="2000" dirty="0"/>
              <a:t>Align LLM with task</a:t>
            </a:r>
          </a:p>
          <a:p>
            <a:pPr lvl="1"/>
            <a:endParaRPr lang="en-US" sz="2000" dirty="0"/>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800" b="1" dirty="0">
                <a:solidFill>
                  <a:schemeClr val="accent5">
                    <a:lumMod val="50000"/>
                  </a:schemeClr>
                </a:solidFill>
              </a:rPr>
              <a:t>Identify sentiment of following sentence as either positive or negative.</a:t>
            </a:r>
            <a:r>
              <a:rPr lang="en-IN" sz="1800" dirty="0">
                <a:solidFill>
                  <a:schemeClr val="accent5">
                    <a:lumMod val="50000"/>
                  </a:schemeClr>
                </a:solidFill>
              </a:rPr>
              <a:t> </a:t>
            </a:r>
          </a:p>
          <a:p>
            <a:pPr algn="just"/>
            <a:r>
              <a:rPr lang="en-IN" sz="1800" dirty="0">
                <a:solidFill>
                  <a:schemeClr val="accent6">
                    <a:lumMod val="75000"/>
                  </a:schemeClr>
                </a:solidFill>
              </a:rPr>
              <a:t>Sentence: I like book very much. </a:t>
            </a:r>
          </a:p>
          <a:p>
            <a:pPr algn="just"/>
            <a:r>
              <a:rPr lang="en-IN" sz="1800" dirty="0">
                <a:solidFill>
                  <a:schemeClr val="accent6">
                    <a:lumMod val="75000"/>
                  </a:schemeClr>
                </a:solidFill>
              </a:rPr>
              <a:t>Sentiment: Positive</a:t>
            </a:r>
          </a:p>
          <a:p>
            <a:pPr algn="just"/>
            <a:r>
              <a:rPr lang="en-IN" sz="1800" dirty="0">
                <a:solidFill>
                  <a:schemeClr val="accent6">
                    <a:lumMod val="75000"/>
                  </a:schemeClr>
                </a:solidFill>
              </a:rPr>
              <a:t>Sentence: I do not like book. </a:t>
            </a:r>
          </a:p>
          <a:p>
            <a:pPr algn="just"/>
            <a:r>
              <a:rPr lang="en-IN" sz="1800" dirty="0">
                <a:solidFill>
                  <a:schemeClr val="accent6">
                    <a:lumMod val="75000"/>
                  </a:schemeClr>
                </a:solidFill>
              </a:rPr>
              <a:t>Sentiment: Negative</a:t>
            </a:r>
          </a:p>
          <a:p>
            <a:pPr algn="just"/>
            <a:r>
              <a:rPr lang="en-IN" sz="1800" dirty="0">
                <a:solidFill>
                  <a:schemeClr val="accent5">
                    <a:lumMod val="50000"/>
                  </a:schemeClr>
                </a:solidFill>
              </a:rPr>
              <a:t>Sentence: Harry Potter and the Goblet of Fire book is good for readers. </a:t>
            </a:r>
          </a:p>
          <a:p>
            <a:pPr algn="just"/>
            <a:endParaRPr lang="en-US" sz="1800" dirty="0">
              <a:solidFill>
                <a:schemeClr val="accent6">
                  <a:lumMod val="75000"/>
                </a:schemeClr>
              </a:solidFill>
            </a:endParaRP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Zero Shot Inference</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838574" cy="3223260"/>
          </a:xfrm>
          <a:noFill/>
        </p:spPr>
        <p:txBody>
          <a:bodyPr>
            <a:normAutofit/>
          </a:bodyPr>
          <a:lstStyle/>
          <a:p>
            <a:pPr lvl="1"/>
            <a:r>
              <a:rPr lang="en-US" sz="2000" dirty="0">
                <a:solidFill>
                  <a:schemeClr val="accent5">
                    <a:lumMod val="50000"/>
                  </a:schemeClr>
                </a:solidFill>
              </a:rPr>
              <a:t>No examples</a:t>
            </a:r>
          </a:p>
          <a:p>
            <a:pPr lvl="1"/>
            <a:endParaRPr lang="en-US" sz="2000" dirty="0"/>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800" b="1" dirty="0">
                <a:solidFill>
                  <a:schemeClr val="accent5">
                    <a:lumMod val="50000"/>
                  </a:schemeClr>
                </a:solidFill>
              </a:rPr>
              <a:t>Identify sentiment of following sentence as either positive or negative.</a:t>
            </a:r>
            <a:r>
              <a:rPr lang="en-IN" sz="1800" dirty="0">
                <a:solidFill>
                  <a:schemeClr val="accent5">
                    <a:lumMod val="50000"/>
                  </a:schemeClr>
                </a:solidFill>
              </a:rPr>
              <a:t> </a:t>
            </a:r>
          </a:p>
          <a:p>
            <a:pPr algn="just"/>
            <a:r>
              <a:rPr lang="en-IN" sz="1800" dirty="0">
                <a:solidFill>
                  <a:schemeClr val="accent5">
                    <a:lumMod val="50000"/>
                  </a:schemeClr>
                </a:solidFill>
              </a:rPr>
              <a:t>Sentence: Harry Potter and the Goblet of Fire book is good for readers. </a:t>
            </a:r>
          </a:p>
          <a:p>
            <a:pPr algn="just"/>
            <a:endParaRPr lang="en-US" sz="1800" dirty="0">
              <a:solidFill>
                <a:schemeClr val="accent6">
                  <a:lumMod val="75000"/>
                </a:schemeClr>
              </a:solidFill>
            </a:endParaRP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One Shot Inference</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838574" cy="3223260"/>
          </a:xfrm>
          <a:noFill/>
        </p:spPr>
        <p:txBody>
          <a:bodyPr>
            <a:normAutofit/>
          </a:bodyPr>
          <a:lstStyle/>
          <a:p>
            <a:pPr lvl="1"/>
            <a:r>
              <a:rPr lang="en-US" sz="2000" dirty="0">
                <a:solidFill>
                  <a:schemeClr val="accent6">
                    <a:lumMod val="75000"/>
                  </a:schemeClr>
                </a:solidFill>
              </a:rPr>
              <a:t>One example</a:t>
            </a:r>
          </a:p>
          <a:p>
            <a:pPr lvl="1"/>
            <a:endParaRPr lang="en-US" sz="2000" dirty="0"/>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a:bodyPr>
          <a:lstStyle/>
          <a:p>
            <a:pPr algn="just"/>
            <a:r>
              <a:rPr lang="en-IN" sz="1800" b="1" dirty="0">
                <a:solidFill>
                  <a:schemeClr val="accent5">
                    <a:lumMod val="50000"/>
                  </a:schemeClr>
                </a:solidFill>
              </a:rPr>
              <a:t>Identify sentiment of following sentence as either positive or negative.</a:t>
            </a:r>
            <a:r>
              <a:rPr lang="en-IN" sz="1800" dirty="0">
                <a:solidFill>
                  <a:schemeClr val="accent5">
                    <a:lumMod val="50000"/>
                  </a:schemeClr>
                </a:solidFill>
              </a:rPr>
              <a:t> </a:t>
            </a:r>
          </a:p>
          <a:p>
            <a:pPr algn="just"/>
            <a:r>
              <a:rPr lang="en-IN" sz="1800" dirty="0">
                <a:solidFill>
                  <a:schemeClr val="accent6">
                    <a:lumMod val="75000"/>
                  </a:schemeClr>
                </a:solidFill>
              </a:rPr>
              <a:t>Sentence: I like book very much. </a:t>
            </a:r>
          </a:p>
          <a:p>
            <a:pPr algn="just"/>
            <a:r>
              <a:rPr lang="en-IN" sz="1800" dirty="0">
                <a:solidFill>
                  <a:schemeClr val="accent6">
                    <a:lumMod val="75000"/>
                  </a:schemeClr>
                </a:solidFill>
              </a:rPr>
              <a:t>Sentiment: Positive</a:t>
            </a:r>
          </a:p>
          <a:p>
            <a:pPr algn="just"/>
            <a:r>
              <a:rPr lang="en-IN" sz="1800" dirty="0">
                <a:solidFill>
                  <a:schemeClr val="accent5">
                    <a:lumMod val="50000"/>
                  </a:schemeClr>
                </a:solidFill>
              </a:rPr>
              <a:t>Sentence: Harry Potter and the Goblet of Fire book is good for readers. </a:t>
            </a:r>
          </a:p>
          <a:p>
            <a:pPr algn="just"/>
            <a:endParaRPr lang="en-US" sz="1800" dirty="0">
              <a:solidFill>
                <a:schemeClr val="accent6">
                  <a:lumMod val="75000"/>
                </a:schemeClr>
              </a:solidFill>
            </a:endParaRP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Few Shot Inference</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838574" cy="3223260"/>
          </a:xfrm>
          <a:noFill/>
        </p:spPr>
        <p:txBody>
          <a:bodyPr>
            <a:normAutofit/>
          </a:bodyPr>
          <a:lstStyle/>
          <a:p>
            <a:pPr lvl="1"/>
            <a:r>
              <a:rPr lang="en-US" sz="2000" dirty="0">
                <a:solidFill>
                  <a:schemeClr val="accent6">
                    <a:lumMod val="75000"/>
                  </a:schemeClr>
                </a:solidFill>
              </a:rPr>
              <a:t>Two or more examples</a:t>
            </a:r>
          </a:p>
          <a:p>
            <a:pPr lvl="1"/>
            <a:endParaRPr lang="en-US" sz="2000" dirty="0"/>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fontScale="92500" lnSpcReduction="10000"/>
          </a:bodyPr>
          <a:lstStyle/>
          <a:p>
            <a:pPr algn="just"/>
            <a:r>
              <a:rPr lang="en-IN" sz="1800" b="1" dirty="0">
                <a:solidFill>
                  <a:schemeClr val="accent5">
                    <a:lumMod val="50000"/>
                  </a:schemeClr>
                </a:solidFill>
              </a:rPr>
              <a:t>Identify sentiment of following sentence as either positive or negative.</a:t>
            </a:r>
            <a:r>
              <a:rPr lang="en-IN" sz="1800" dirty="0">
                <a:solidFill>
                  <a:schemeClr val="accent5">
                    <a:lumMod val="50000"/>
                  </a:schemeClr>
                </a:solidFill>
              </a:rPr>
              <a:t> </a:t>
            </a:r>
          </a:p>
          <a:p>
            <a:pPr algn="just"/>
            <a:r>
              <a:rPr lang="en-IN" sz="1800" dirty="0">
                <a:solidFill>
                  <a:schemeClr val="accent6">
                    <a:lumMod val="75000"/>
                  </a:schemeClr>
                </a:solidFill>
              </a:rPr>
              <a:t>Sentence: I like book very much. </a:t>
            </a:r>
          </a:p>
          <a:p>
            <a:pPr algn="just"/>
            <a:r>
              <a:rPr lang="en-IN" sz="1800" dirty="0">
                <a:solidFill>
                  <a:schemeClr val="accent6">
                    <a:lumMod val="75000"/>
                  </a:schemeClr>
                </a:solidFill>
              </a:rPr>
              <a:t>Sentiment: Positive</a:t>
            </a:r>
          </a:p>
          <a:p>
            <a:pPr algn="just"/>
            <a:r>
              <a:rPr lang="en-IN" sz="1800" dirty="0">
                <a:solidFill>
                  <a:schemeClr val="accent6">
                    <a:lumMod val="75000"/>
                  </a:schemeClr>
                </a:solidFill>
              </a:rPr>
              <a:t>Sentence: I do not like book. </a:t>
            </a:r>
          </a:p>
          <a:p>
            <a:pPr algn="just"/>
            <a:r>
              <a:rPr lang="en-IN" sz="1800" dirty="0">
                <a:solidFill>
                  <a:schemeClr val="accent6">
                    <a:lumMod val="75000"/>
                  </a:schemeClr>
                </a:solidFill>
              </a:rPr>
              <a:t>Sentiment: Negative</a:t>
            </a:r>
          </a:p>
          <a:p>
            <a:pPr algn="just"/>
            <a:r>
              <a:rPr lang="en-IN" sz="1800" dirty="0">
                <a:solidFill>
                  <a:schemeClr val="accent6">
                    <a:lumMod val="75000"/>
                  </a:schemeClr>
                </a:solidFill>
              </a:rPr>
              <a:t>...</a:t>
            </a:r>
          </a:p>
          <a:p>
            <a:pPr algn="just"/>
            <a:r>
              <a:rPr lang="en-IN" sz="1800" dirty="0">
                <a:solidFill>
                  <a:schemeClr val="accent5">
                    <a:lumMod val="50000"/>
                  </a:schemeClr>
                </a:solidFill>
              </a:rPr>
              <a:t>Sentence: Harry Potter and the Goblet of Fire book is good for readers. </a:t>
            </a:r>
          </a:p>
          <a:p>
            <a:pPr algn="just"/>
            <a:endParaRPr lang="en-US" sz="1800" dirty="0">
              <a:solidFill>
                <a:schemeClr val="accent6">
                  <a:lumMod val="75000"/>
                </a:schemeClr>
              </a:solidFill>
            </a:endParaRPr>
          </a:p>
        </p:txBody>
      </p:sp>
      <p:sp>
        <p:nvSpPr>
          <p:cNvPr id="5" name="TextBox 4"/>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1127649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628650" y="273844"/>
            <a:ext cx="7886700" cy="994172"/>
          </a:xfrm>
          <a:noFill/>
        </p:spPr>
        <p:txBody>
          <a:bodyPr anchor="ctr"/>
          <a:lstStyle/>
          <a:p>
            <a:r>
              <a:rPr lang="en-US" dirty="0"/>
              <a:t>Large Language Model Architectures</a:t>
            </a:r>
          </a:p>
        </p:txBody>
      </p:sp>
      <p:pic>
        <p:nvPicPr>
          <p:cNvPr id="6" name="Picture 5" descr="Encoder_Decoder_Models.jpg"/>
          <p:cNvPicPr>
            <a:picLocks noChangeAspect="1"/>
          </p:cNvPicPr>
          <p:nvPr/>
        </p:nvPicPr>
        <p:blipFill>
          <a:blip r:embed="rId3"/>
          <a:stretch>
            <a:fillRect/>
          </a:stretch>
        </p:blipFill>
        <p:spPr>
          <a:xfrm>
            <a:off x="927364" y="1249894"/>
            <a:ext cx="6983379" cy="3327375"/>
          </a:xfrm>
          <a:prstGeom prst="rect">
            <a:avLst/>
          </a:prstGeom>
        </p:spPr>
      </p:pic>
      <p:sp>
        <p:nvSpPr>
          <p:cNvPr id="8" name="TextBox 7"/>
          <p:cNvSpPr txBox="1"/>
          <p:nvPr/>
        </p:nvSpPr>
        <p:spPr>
          <a:xfrm>
            <a:off x="1733550" y="4714875"/>
            <a:ext cx="5761969" cy="307777"/>
          </a:xfrm>
          <a:prstGeom prst="rect">
            <a:avLst/>
          </a:prstGeom>
          <a:noFill/>
        </p:spPr>
        <p:txBody>
          <a:bodyPr wrap="square" rtlCol="0">
            <a:spAutoFit/>
          </a:bodyPr>
          <a:lstStyle/>
          <a:p>
            <a:pPr marL="0" marR="0" lvl="0" indent="0" algn="r" defTabSz="6858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4D90EF">
                    <a:lumMod val="50000"/>
                  </a:srgbClr>
                </a:solidFill>
                <a:effectLst/>
                <a:uLnTx/>
                <a:uFillTx/>
                <a:latin typeface="Avenir Next LT Pro Light"/>
                <a:ea typeface="+mn-ea"/>
                <a:cs typeface="+mn-cs"/>
              </a:rPr>
              <a:t>* Source: Vijay Chaudhary</a:t>
            </a:r>
          </a:p>
        </p:txBody>
      </p:sp>
    </p:spTree>
    <p:extLst>
      <p:ext uri="{BB962C8B-B14F-4D97-AF65-F5344CB8AC3E}">
        <p14:creationId xmlns:p14="http://schemas.microsoft.com/office/powerpoint/2010/main" val="1363376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Training Large Language Models</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Model Pre-training</a:t>
            </a:r>
          </a:p>
          <a:p>
            <a:pPr marL="171450" lvl="1">
              <a:spcBef>
                <a:spcPts val="750"/>
              </a:spcBef>
              <a:spcAft>
                <a:spcPts val="600"/>
              </a:spcAft>
              <a:buClr>
                <a:schemeClr val="accent2"/>
              </a:buClr>
            </a:pPr>
            <a:r>
              <a:rPr lang="en-US" sz="2000" dirty="0"/>
              <a:t>Instruction Fine Tuning</a:t>
            </a:r>
          </a:p>
          <a:p>
            <a:pPr marL="171450" lvl="1">
              <a:spcBef>
                <a:spcPts val="750"/>
              </a:spcBef>
              <a:spcAft>
                <a:spcPts val="600"/>
              </a:spcAft>
              <a:buClr>
                <a:schemeClr val="accent2"/>
              </a:buClr>
            </a:pPr>
            <a:r>
              <a:rPr lang="en-IN" sz="2000" dirty="0"/>
              <a:t>Reinforcement Learning from Human Feedback (RLHF)</a:t>
            </a:r>
            <a:endParaRPr lang="en-US" sz="1700" dirty="0"/>
          </a:p>
        </p:txBody>
      </p:sp>
    </p:spTree>
    <p:extLst>
      <p:ext uri="{BB962C8B-B14F-4D97-AF65-F5344CB8AC3E}">
        <p14:creationId xmlns:p14="http://schemas.microsoft.com/office/powerpoint/2010/main" val="11276497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Model Pre-training</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638550" cy="3213667"/>
          </a:xfrm>
          <a:prstGeom prst="rect">
            <a:avLst/>
          </a:prstGeom>
          <a:noFill/>
        </p:spPr>
        <p:txBody>
          <a:bodyPr vert="horz" lIns="68580" tIns="34290" rIns="68580" bIns="34290" rtlCol="0" anchor="t">
            <a:normAutofit fontScale="92500" lnSpcReduction="10000"/>
          </a:bodyPr>
          <a:lstStyle/>
          <a:p>
            <a:pPr marL="171450" lvl="1">
              <a:spcBef>
                <a:spcPts val="750"/>
              </a:spcBef>
              <a:spcAft>
                <a:spcPts val="600"/>
              </a:spcAft>
              <a:buClr>
                <a:schemeClr val="accent2"/>
              </a:buClr>
            </a:pPr>
            <a:r>
              <a:rPr lang="en-US" sz="2000" dirty="0"/>
              <a:t>Self supervised learning</a:t>
            </a:r>
          </a:p>
          <a:p>
            <a:pPr marL="171450" lvl="1">
              <a:spcBef>
                <a:spcPts val="750"/>
              </a:spcBef>
              <a:spcAft>
                <a:spcPts val="600"/>
              </a:spcAft>
              <a:buClr>
                <a:schemeClr val="accent2"/>
              </a:buClr>
            </a:pPr>
            <a:r>
              <a:rPr lang="en-US" sz="2000" dirty="0"/>
              <a:t>Next word or token prediction</a:t>
            </a:r>
          </a:p>
          <a:p>
            <a:pPr marL="171450" lvl="1">
              <a:spcBef>
                <a:spcPts val="750"/>
              </a:spcBef>
              <a:spcAft>
                <a:spcPts val="600"/>
              </a:spcAft>
              <a:buClr>
                <a:schemeClr val="accent2"/>
              </a:buClr>
            </a:pPr>
            <a:r>
              <a:rPr lang="en-US" sz="2000" dirty="0"/>
              <a:t>Self annotations – (X – y)  </a:t>
            </a:r>
          </a:p>
          <a:p>
            <a:pPr marL="514350" lvl="2">
              <a:spcBef>
                <a:spcPts val="750"/>
              </a:spcBef>
              <a:spcAft>
                <a:spcPts val="600"/>
              </a:spcAft>
              <a:buClr>
                <a:schemeClr val="accent2"/>
              </a:buClr>
            </a:pPr>
            <a:r>
              <a:rPr lang="en-US" sz="1700" dirty="0"/>
              <a:t>I love ice </a:t>
            </a:r>
            <a:r>
              <a:rPr lang="en-US" sz="1700" b="1" dirty="0">
                <a:solidFill>
                  <a:schemeClr val="accent2">
                    <a:lumMod val="50000"/>
                  </a:schemeClr>
                </a:solidFill>
              </a:rPr>
              <a:t>cream</a:t>
            </a:r>
          </a:p>
          <a:p>
            <a:pPr marL="857250" lvl="3">
              <a:spcBef>
                <a:spcPts val="750"/>
              </a:spcBef>
              <a:spcAft>
                <a:spcPts val="600"/>
              </a:spcAft>
              <a:buClr>
                <a:schemeClr val="accent2"/>
              </a:buClr>
            </a:pPr>
            <a:r>
              <a:rPr lang="en-US" sz="1600" dirty="0"/>
              <a:t>X = I love ice</a:t>
            </a:r>
            <a:endParaRPr lang="en-US" sz="1600" b="1" dirty="0">
              <a:solidFill>
                <a:schemeClr val="accent2">
                  <a:lumMod val="50000"/>
                </a:schemeClr>
              </a:solidFill>
            </a:endParaRPr>
          </a:p>
          <a:p>
            <a:pPr marL="857250" lvl="3">
              <a:spcBef>
                <a:spcPts val="750"/>
              </a:spcBef>
              <a:spcAft>
                <a:spcPts val="600"/>
              </a:spcAft>
              <a:buClr>
                <a:schemeClr val="accent2"/>
              </a:buClr>
            </a:pPr>
            <a:r>
              <a:rPr lang="en-US" sz="1600" dirty="0"/>
              <a:t> y = </a:t>
            </a:r>
            <a:r>
              <a:rPr lang="en-US" sz="1600" b="1" dirty="0">
                <a:solidFill>
                  <a:schemeClr val="accent2">
                    <a:lumMod val="50000"/>
                  </a:schemeClr>
                </a:solidFill>
              </a:rPr>
              <a:t>cream</a:t>
            </a:r>
          </a:p>
          <a:p>
            <a:pPr marL="171450" lvl="1">
              <a:spcBef>
                <a:spcPts val="750"/>
              </a:spcBef>
              <a:spcAft>
                <a:spcPts val="600"/>
              </a:spcAft>
              <a:buClr>
                <a:schemeClr val="accent2"/>
              </a:buClr>
            </a:pPr>
            <a:r>
              <a:rPr lang="en-IN" sz="2000" dirty="0"/>
              <a:t>Learn language syntax</a:t>
            </a:r>
          </a:p>
          <a:p>
            <a:pPr marL="171450" lvl="1">
              <a:spcBef>
                <a:spcPts val="750"/>
              </a:spcBef>
              <a:spcAft>
                <a:spcPts val="600"/>
              </a:spcAft>
              <a:buClr>
                <a:schemeClr val="accent2"/>
              </a:buClr>
            </a:pPr>
            <a:r>
              <a:rPr lang="en-US" sz="2000" dirty="0"/>
              <a:t>Master language grammar</a:t>
            </a:r>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14875" y="1378574"/>
            <a:ext cx="3638550" cy="3213667"/>
          </a:xfrm>
          <a:prstGeom prst="rect">
            <a:avLst/>
          </a:prstGeom>
          <a:noFill/>
        </p:spPr>
        <p:txBody>
          <a:bodyPr vert="horz" lIns="68580" tIns="34290" rIns="68580" bIns="34290" rtlCol="0" anchor="t">
            <a:normAutofit fontScale="92500" lnSpcReduction="10000"/>
          </a:bodyPr>
          <a:lstStyle/>
          <a:p>
            <a:pPr marL="171450" lvl="1">
              <a:spcBef>
                <a:spcPts val="750"/>
              </a:spcBef>
              <a:spcAft>
                <a:spcPts val="600"/>
              </a:spcAft>
              <a:buClr>
                <a:schemeClr val="accent2"/>
              </a:buClr>
            </a:pPr>
            <a:r>
              <a:rPr lang="en-US" sz="2000" dirty="0"/>
              <a:t>Large corpus of text data</a:t>
            </a:r>
          </a:p>
          <a:p>
            <a:pPr marL="171450" lvl="1">
              <a:spcBef>
                <a:spcPts val="750"/>
              </a:spcBef>
              <a:spcAft>
                <a:spcPts val="600"/>
              </a:spcAft>
              <a:buClr>
                <a:schemeClr val="accent2"/>
              </a:buClr>
            </a:pPr>
            <a:r>
              <a:rPr lang="en-US" sz="2000" dirty="0"/>
              <a:t>Books, articles, and websites</a:t>
            </a:r>
          </a:p>
          <a:p>
            <a:pPr marL="171450" lvl="1">
              <a:spcBef>
                <a:spcPts val="750"/>
              </a:spcBef>
              <a:spcAft>
                <a:spcPts val="600"/>
              </a:spcAft>
              <a:buClr>
                <a:schemeClr val="accent2"/>
              </a:buClr>
            </a:pPr>
            <a:r>
              <a:rPr lang="en-US" sz="2000" dirty="0"/>
              <a:t>Web scraping</a:t>
            </a:r>
          </a:p>
          <a:p>
            <a:pPr marL="171450" lvl="1">
              <a:spcBef>
                <a:spcPts val="750"/>
              </a:spcBef>
              <a:spcAft>
                <a:spcPts val="600"/>
              </a:spcAft>
              <a:buClr>
                <a:schemeClr val="accent2"/>
              </a:buClr>
            </a:pPr>
            <a:r>
              <a:rPr lang="en-US" sz="2000" dirty="0"/>
              <a:t>Vocabulary size</a:t>
            </a:r>
          </a:p>
          <a:p>
            <a:pPr marL="514350" lvl="2">
              <a:spcBef>
                <a:spcPts val="750"/>
              </a:spcBef>
              <a:spcAft>
                <a:spcPts val="600"/>
              </a:spcAft>
              <a:buClr>
                <a:schemeClr val="accent2"/>
              </a:buClr>
            </a:pPr>
            <a:r>
              <a:rPr lang="en-US" sz="1700" dirty="0"/>
              <a:t>Number of tokens</a:t>
            </a:r>
          </a:p>
          <a:p>
            <a:pPr marL="514350" lvl="2">
              <a:spcBef>
                <a:spcPts val="750"/>
              </a:spcBef>
              <a:spcAft>
                <a:spcPts val="600"/>
              </a:spcAft>
              <a:buClr>
                <a:schemeClr val="accent2"/>
              </a:buClr>
            </a:pPr>
            <a:r>
              <a:rPr lang="en-US" sz="1700" dirty="0"/>
              <a:t>15.6 Trillion tokens</a:t>
            </a:r>
            <a:endParaRPr lang="en-US" sz="1400" dirty="0"/>
          </a:p>
          <a:p>
            <a:pPr marL="171450" lvl="1">
              <a:spcBef>
                <a:spcPts val="750"/>
              </a:spcBef>
              <a:spcAft>
                <a:spcPts val="600"/>
              </a:spcAft>
              <a:buClr>
                <a:schemeClr val="accent2"/>
              </a:buClr>
            </a:pPr>
            <a:r>
              <a:rPr lang="en-IN" sz="2000" dirty="0"/>
              <a:t>Clean dataset</a:t>
            </a:r>
          </a:p>
          <a:p>
            <a:pPr marL="514350" lvl="2">
              <a:spcBef>
                <a:spcPts val="750"/>
              </a:spcBef>
              <a:spcAft>
                <a:spcPts val="600"/>
              </a:spcAft>
              <a:buClr>
                <a:schemeClr val="accent2"/>
              </a:buClr>
            </a:pPr>
            <a:r>
              <a:rPr lang="en-IN" sz="1700" dirty="0"/>
              <a:t>1% – 3% original tokens </a:t>
            </a:r>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11276497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Model Pre-training</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6385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Encoder only LLM</a:t>
            </a:r>
          </a:p>
          <a:p>
            <a:pPr marL="514350" lvl="2">
              <a:spcBef>
                <a:spcPts val="750"/>
              </a:spcBef>
              <a:spcAft>
                <a:spcPts val="600"/>
              </a:spcAft>
              <a:buClr>
                <a:schemeClr val="accent2"/>
              </a:buClr>
            </a:pPr>
            <a:r>
              <a:rPr lang="en-US" sz="1700" dirty="0"/>
              <a:t>Auto–encoding models </a:t>
            </a:r>
          </a:p>
          <a:p>
            <a:pPr marL="514350" lvl="2">
              <a:spcBef>
                <a:spcPts val="750"/>
              </a:spcBef>
              <a:spcAft>
                <a:spcPts val="600"/>
              </a:spcAft>
              <a:buClr>
                <a:schemeClr val="accent2"/>
              </a:buClr>
            </a:pPr>
            <a:r>
              <a:rPr lang="en-US" sz="1700" dirty="0"/>
              <a:t>Masked Language Modeling</a:t>
            </a:r>
          </a:p>
          <a:p>
            <a:pPr marL="514350" lvl="2">
              <a:spcBef>
                <a:spcPts val="750"/>
              </a:spcBef>
              <a:spcAft>
                <a:spcPts val="600"/>
              </a:spcAft>
              <a:buClr>
                <a:schemeClr val="accent2"/>
              </a:buClr>
            </a:pPr>
            <a:r>
              <a:rPr lang="en-US" sz="1700" dirty="0"/>
              <a:t>Reconstruct text</a:t>
            </a:r>
          </a:p>
          <a:p>
            <a:pPr marL="514350" lvl="2">
              <a:spcBef>
                <a:spcPts val="750"/>
              </a:spcBef>
              <a:spcAft>
                <a:spcPts val="600"/>
              </a:spcAft>
              <a:buClr>
                <a:schemeClr val="accent2"/>
              </a:buClr>
            </a:pPr>
            <a:r>
              <a:rPr lang="en-US" sz="1700" dirty="0"/>
              <a:t>De–noising objective    </a:t>
            </a:r>
          </a:p>
          <a:p>
            <a:pPr marL="514350" lvl="2">
              <a:spcBef>
                <a:spcPts val="750"/>
              </a:spcBef>
              <a:spcAft>
                <a:spcPts val="600"/>
              </a:spcAft>
              <a:buClr>
                <a:schemeClr val="accent2"/>
              </a:buClr>
            </a:pPr>
            <a:r>
              <a:rPr lang="en-US" sz="1700" dirty="0"/>
              <a:t>Bidirectional context</a:t>
            </a:r>
            <a:endParaRPr lang="en-US" sz="20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14875" y="1378574"/>
            <a:ext cx="36385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Applications</a:t>
            </a:r>
          </a:p>
          <a:p>
            <a:pPr marL="514350" lvl="2">
              <a:spcBef>
                <a:spcPts val="750"/>
              </a:spcBef>
              <a:spcAft>
                <a:spcPts val="600"/>
              </a:spcAft>
              <a:buClr>
                <a:schemeClr val="accent2"/>
              </a:buClr>
            </a:pPr>
            <a:r>
              <a:rPr lang="en-US" sz="1700" dirty="0"/>
              <a:t>Sentiment analysis</a:t>
            </a:r>
          </a:p>
          <a:p>
            <a:pPr marL="514350" lvl="2">
              <a:spcBef>
                <a:spcPts val="750"/>
              </a:spcBef>
              <a:spcAft>
                <a:spcPts val="600"/>
              </a:spcAft>
              <a:buClr>
                <a:schemeClr val="accent2"/>
              </a:buClr>
            </a:pPr>
            <a:r>
              <a:rPr lang="en-US" sz="1700" dirty="0"/>
              <a:t>Word classification</a:t>
            </a:r>
            <a:endParaRPr lang="en-US" sz="1400" dirty="0"/>
          </a:p>
          <a:p>
            <a:pPr marL="171450" lvl="1">
              <a:spcBef>
                <a:spcPts val="750"/>
              </a:spcBef>
              <a:spcAft>
                <a:spcPts val="600"/>
              </a:spcAft>
              <a:buClr>
                <a:schemeClr val="accent2"/>
              </a:buClr>
            </a:pPr>
            <a:r>
              <a:rPr lang="en-IN" sz="2000" dirty="0"/>
              <a:t>Examples</a:t>
            </a:r>
          </a:p>
          <a:p>
            <a:pPr marL="514350" lvl="2">
              <a:spcBef>
                <a:spcPts val="750"/>
              </a:spcBef>
              <a:spcAft>
                <a:spcPts val="600"/>
              </a:spcAft>
              <a:buClr>
                <a:schemeClr val="accent2"/>
              </a:buClr>
            </a:pPr>
            <a:r>
              <a:rPr lang="en-IN" sz="1700" dirty="0"/>
              <a:t>BERT model</a:t>
            </a:r>
          </a:p>
          <a:p>
            <a:pPr marL="514350" lvl="2">
              <a:spcBef>
                <a:spcPts val="750"/>
              </a:spcBef>
              <a:spcAft>
                <a:spcPts val="600"/>
              </a:spcAft>
              <a:buClr>
                <a:schemeClr val="accent2"/>
              </a:buClr>
            </a:pPr>
            <a:r>
              <a:rPr lang="en-IN" sz="1700" dirty="0"/>
              <a:t>ROBERTA model </a:t>
            </a:r>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27930576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Model Pre-training</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6385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Decoder only LLM</a:t>
            </a:r>
          </a:p>
          <a:p>
            <a:pPr marL="514350" lvl="2">
              <a:spcBef>
                <a:spcPts val="750"/>
              </a:spcBef>
              <a:spcAft>
                <a:spcPts val="600"/>
              </a:spcAft>
              <a:buClr>
                <a:schemeClr val="accent2"/>
              </a:buClr>
            </a:pPr>
            <a:r>
              <a:rPr lang="en-US" sz="1700" dirty="0"/>
              <a:t>Autoregressive models </a:t>
            </a:r>
          </a:p>
          <a:p>
            <a:pPr marL="514350" lvl="2">
              <a:spcBef>
                <a:spcPts val="750"/>
              </a:spcBef>
              <a:spcAft>
                <a:spcPts val="600"/>
              </a:spcAft>
              <a:buClr>
                <a:schemeClr val="accent2"/>
              </a:buClr>
            </a:pPr>
            <a:r>
              <a:rPr lang="en-US" sz="1700" dirty="0"/>
              <a:t>No encoder model</a:t>
            </a:r>
          </a:p>
          <a:p>
            <a:pPr marL="514350" lvl="2">
              <a:spcBef>
                <a:spcPts val="750"/>
              </a:spcBef>
              <a:spcAft>
                <a:spcPts val="600"/>
              </a:spcAft>
              <a:buClr>
                <a:schemeClr val="accent2"/>
              </a:buClr>
            </a:pPr>
            <a:r>
              <a:rPr lang="en-US" sz="1700" dirty="0"/>
              <a:t>Causal Language Modeling</a:t>
            </a:r>
          </a:p>
          <a:p>
            <a:pPr marL="514350" lvl="2">
              <a:spcBef>
                <a:spcPts val="750"/>
              </a:spcBef>
              <a:spcAft>
                <a:spcPts val="600"/>
              </a:spcAft>
              <a:buClr>
                <a:schemeClr val="accent2"/>
              </a:buClr>
            </a:pPr>
            <a:r>
              <a:rPr lang="en-US" sz="1700" dirty="0"/>
              <a:t>Predict next token</a:t>
            </a:r>
          </a:p>
          <a:p>
            <a:pPr marL="514350" lvl="2">
              <a:spcBef>
                <a:spcPts val="750"/>
              </a:spcBef>
              <a:spcAft>
                <a:spcPts val="600"/>
              </a:spcAft>
              <a:buClr>
                <a:schemeClr val="accent2"/>
              </a:buClr>
            </a:pPr>
            <a:r>
              <a:rPr lang="en-US" sz="1700" dirty="0"/>
              <a:t>Unidirectional context</a:t>
            </a:r>
          </a:p>
          <a:p>
            <a:pPr marL="514350" lvl="2">
              <a:spcBef>
                <a:spcPts val="750"/>
              </a:spcBef>
              <a:spcAft>
                <a:spcPts val="600"/>
              </a:spcAft>
              <a:buClr>
                <a:schemeClr val="accent2"/>
              </a:buClr>
            </a:pPr>
            <a:r>
              <a:rPr lang="en-US" sz="1700" dirty="0"/>
              <a:t>Statistical representation of language  </a:t>
            </a:r>
            <a:endParaRPr lang="en-US" sz="20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14875" y="1378574"/>
            <a:ext cx="36385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Applications</a:t>
            </a:r>
          </a:p>
          <a:p>
            <a:pPr marL="514350" lvl="2">
              <a:spcBef>
                <a:spcPts val="750"/>
              </a:spcBef>
              <a:spcAft>
                <a:spcPts val="600"/>
              </a:spcAft>
              <a:buClr>
                <a:schemeClr val="accent2"/>
              </a:buClr>
            </a:pPr>
            <a:r>
              <a:rPr lang="en-US" sz="1700" dirty="0"/>
              <a:t>Text generation</a:t>
            </a:r>
          </a:p>
          <a:p>
            <a:pPr marL="514350" lvl="2">
              <a:spcBef>
                <a:spcPts val="750"/>
              </a:spcBef>
              <a:spcAft>
                <a:spcPts val="600"/>
              </a:spcAft>
              <a:buClr>
                <a:schemeClr val="accent2"/>
              </a:buClr>
            </a:pPr>
            <a:r>
              <a:rPr lang="en-US" sz="1700" dirty="0"/>
              <a:t>Zero–shot inference </a:t>
            </a:r>
          </a:p>
          <a:p>
            <a:pPr marL="171450" lvl="1">
              <a:spcBef>
                <a:spcPts val="750"/>
              </a:spcBef>
              <a:spcAft>
                <a:spcPts val="600"/>
              </a:spcAft>
              <a:buClr>
                <a:schemeClr val="accent2"/>
              </a:buClr>
            </a:pPr>
            <a:r>
              <a:rPr lang="en-IN" sz="2000" dirty="0"/>
              <a:t>Examples</a:t>
            </a:r>
          </a:p>
          <a:p>
            <a:pPr marL="514350" lvl="2">
              <a:spcBef>
                <a:spcPts val="750"/>
              </a:spcBef>
              <a:spcAft>
                <a:spcPts val="600"/>
              </a:spcAft>
              <a:buClr>
                <a:schemeClr val="accent2"/>
              </a:buClr>
            </a:pPr>
            <a:r>
              <a:rPr lang="en-IN" sz="1700" dirty="0" err="1"/>
              <a:t>OpenAI</a:t>
            </a:r>
            <a:r>
              <a:rPr lang="en-IN" sz="1700" dirty="0"/>
              <a:t> GPT</a:t>
            </a:r>
          </a:p>
          <a:p>
            <a:pPr marL="514350" lvl="2">
              <a:spcBef>
                <a:spcPts val="750"/>
              </a:spcBef>
              <a:spcAft>
                <a:spcPts val="600"/>
              </a:spcAft>
              <a:buClr>
                <a:schemeClr val="accent2"/>
              </a:buClr>
            </a:pPr>
            <a:r>
              <a:rPr lang="en-IN" sz="1700" dirty="0"/>
              <a:t>Meta Llama </a:t>
            </a:r>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31472937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Model Pre-training</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81222"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Encoder–Decoder LLM</a:t>
            </a:r>
          </a:p>
          <a:p>
            <a:pPr marL="514350" lvl="2">
              <a:spcBef>
                <a:spcPts val="750"/>
              </a:spcBef>
              <a:spcAft>
                <a:spcPts val="600"/>
              </a:spcAft>
              <a:buClr>
                <a:schemeClr val="accent2"/>
              </a:buClr>
            </a:pPr>
            <a:r>
              <a:rPr lang="en-US" sz="1700" dirty="0"/>
              <a:t>Encoder and Decoder</a:t>
            </a:r>
          </a:p>
          <a:p>
            <a:pPr marL="514350" lvl="2">
              <a:spcBef>
                <a:spcPts val="750"/>
              </a:spcBef>
              <a:spcAft>
                <a:spcPts val="600"/>
              </a:spcAft>
              <a:buClr>
                <a:schemeClr val="accent2"/>
              </a:buClr>
            </a:pPr>
            <a:r>
              <a:rPr lang="en-US" sz="1700" dirty="0"/>
              <a:t>Sequence-to-sequence models </a:t>
            </a:r>
          </a:p>
          <a:p>
            <a:pPr marL="514350" lvl="2">
              <a:spcBef>
                <a:spcPts val="750"/>
              </a:spcBef>
              <a:spcAft>
                <a:spcPts val="600"/>
              </a:spcAft>
              <a:buClr>
                <a:schemeClr val="accent2"/>
              </a:buClr>
            </a:pPr>
            <a:r>
              <a:rPr lang="en-US" sz="1700" dirty="0"/>
              <a:t>Span corruption – T5 model</a:t>
            </a:r>
          </a:p>
          <a:p>
            <a:pPr marL="857250" lvl="3">
              <a:spcBef>
                <a:spcPts val="750"/>
              </a:spcBef>
              <a:spcAft>
                <a:spcPts val="600"/>
              </a:spcAft>
              <a:buClr>
                <a:schemeClr val="accent2"/>
              </a:buClr>
            </a:pPr>
            <a:r>
              <a:rPr lang="en-US" sz="1600"/>
              <a:t>Mask random </a:t>
            </a:r>
            <a:r>
              <a:rPr lang="en-US" sz="1600" dirty="0"/>
              <a:t>input tokens</a:t>
            </a:r>
          </a:p>
          <a:p>
            <a:pPr marL="857250" lvl="3">
              <a:spcBef>
                <a:spcPts val="750"/>
              </a:spcBef>
              <a:spcAft>
                <a:spcPts val="600"/>
              </a:spcAft>
              <a:buClr>
                <a:schemeClr val="accent2"/>
              </a:buClr>
            </a:pPr>
            <a:r>
              <a:rPr lang="en-US" sz="1600" dirty="0"/>
              <a:t>Reconstruct masked input tokens</a:t>
            </a:r>
          </a:p>
          <a:p>
            <a:pPr marL="514350" lvl="2">
              <a:spcBef>
                <a:spcPts val="750"/>
              </a:spcBef>
              <a:spcAft>
                <a:spcPts val="600"/>
              </a:spcAft>
              <a:buClr>
                <a:schemeClr val="accent2"/>
              </a:buClr>
            </a:pPr>
            <a:r>
              <a:rPr lang="en-US" sz="1700" dirty="0"/>
              <a:t>Bidirectional context    </a:t>
            </a:r>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14875" y="1378574"/>
            <a:ext cx="36385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Applications</a:t>
            </a:r>
          </a:p>
          <a:p>
            <a:pPr marL="514350" lvl="2">
              <a:spcBef>
                <a:spcPts val="750"/>
              </a:spcBef>
              <a:spcAft>
                <a:spcPts val="600"/>
              </a:spcAft>
              <a:buClr>
                <a:schemeClr val="accent2"/>
              </a:buClr>
            </a:pPr>
            <a:r>
              <a:rPr lang="en-US" sz="1700" dirty="0"/>
              <a:t>Machine translation</a:t>
            </a:r>
          </a:p>
          <a:p>
            <a:pPr marL="514350" lvl="2">
              <a:spcBef>
                <a:spcPts val="750"/>
              </a:spcBef>
              <a:spcAft>
                <a:spcPts val="600"/>
              </a:spcAft>
              <a:buClr>
                <a:schemeClr val="accent2"/>
              </a:buClr>
            </a:pPr>
            <a:r>
              <a:rPr lang="en-US" sz="1700" dirty="0"/>
              <a:t>Text summarization</a:t>
            </a:r>
          </a:p>
          <a:p>
            <a:pPr marL="514350" lvl="2">
              <a:spcBef>
                <a:spcPts val="750"/>
              </a:spcBef>
              <a:spcAft>
                <a:spcPts val="600"/>
              </a:spcAft>
              <a:buClr>
                <a:schemeClr val="accent2"/>
              </a:buClr>
            </a:pPr>
            <a:r>
              <a:rPr lang="en-US" sz="1700" dirty="0"/>
              <a:t>Question &amp; Answering </a:t>
            </a:r>
          </a:p>
          <a:p>
            <a:pPr marL="171450" lvl="1">
              <a:spcBef>
                <a:spcPts val="750"/>
              </a:spcBef>
              <a:spcAft>
                <a:spcPts val="600"/>
              </a:spcAft>
              <a:buClr>
                <a:schemeClr val="accent2"/>
              </a:buClr>
            </a:pPr>
            <a:r>
              <a:rPr lang="en-IN" sz="2000" dirty="0"/>
              <a:t>Examples</a:t>
            </a:r>
          </a:p>
          <a:p>
            <a:pPr marL="514350" lvl="2">
              <a:spcBef>
                <a:spcPts val="750"/>
              </a:spcBef>
              <a:spcAft>
                <a:spcPts val="600"/>
              </a:spcAft>
              <a:buClr>
                <a:schemeClr val="accent2"/>
              </a:buClr>
            </a:pPr>
            <a:r>
              <a:rPr lang="en-IN" sz="1700" dirty="0"/>
              <a:t>Text-to-Text Transfer Transformer – T5 model </a:t>
            </a:r>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28620625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Instruction Fine Tuning</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48798"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Supervised learning</a:t>
            </a:r>
          </a:p>
          <a:p>
            <a:pPr marL="171450" lvl="1">
              <a:spcBef>
                <a:spcPts val="750"/>
              </a:spcBef>
              <a:spcAft>
                <a:spcPts val="600"/>
              </a:spcAft>
              <a:buClr>
                <a:schemeClr val="accent2"/>
              </a:buClr>
            </a:pPr>
            <a:r>
              <a:rPr lang="en-US" sz="2000" dirty="0"/>
              <a:t>Specific down stream task</a:t>
            </a:r>
          </a:p>
          <a:p>
            <a:pPr marL="171450" lvl="1">
              <a:spcBef>
                <a:spcPts val="750"/>
              </a:spcBef>
              <a:spcAft>
                <a:spcPts val="600"/>
              </a:spcAft>
              <a:buClr>
                <a:schemeClr val="accent2"/>
              </a:buClr>
            </a:pPr>
            <a:r>
              <a:rPr lang="en-US" sz="2000" dirty="0">
                <a:solidFill>
                  <a:srgbClr val="7030A0"/>
                </a:solidFill>
              </a:rPr>
              <a:t>Instructions</a:t>
            </a:r>
            <a:r>
              <a:rPr lang="en-US" sz="2000" dirty="0"/>
              <a:t> and </a:t>
            </a:r>
            <a:r>
              <a:rPr lang="en-US" sz="2000" dirty="0">
                <a:solidFill>
                  <a:srgbClr val="00B050"/>
                </a:solidFill>
              </a:rPr>
              <a:t>Responses</a:t>
            </a:r>
          </a:p>
          <a:p>
            <a:pPr marL="514350" lvl="2">
              <a:spcBef>
                <a:spcPts val="750"/>
              </a:spcBef>
              <a:spcAft>
                <a:spcPts val="600"/>
              </a:spcAft>
              <a:buClr>
                <a:schemeClr val="accent2"/>
              </a:buClr>
            </a:pPr>
            <a:r>
              <a:rPr lang="en-US" sz="1700" dirty="0">
                <a:solidFill>
                  <a:srgbClr val="7030A0"/>
                </a:solidFill>
              </a:rPr>
              <a:t>Question</a:t>
            </a:r>
            <a:r>
              <a:rPr lang="en-US" sz="1700" dirty="0"/>
              <a:t> and </a:t>
            </a:r>
            <a:r>
              <a:rPr lang="en-US" sz="1700" dirty="0">
                <a:solidFill>
                  <a:srgbClr val="00B050"/>
                </a:solidFill>
              </a:rPr>
              <a:t>Answer</a:t>
            </a:r>
          </a:p>
          <a:p>
            <a:pPr marL="514350" lvl="2">
              <a:spcBef>
                <a:spcPts val="750"/>
              </a:spcBef>
              <a:spcAft>
                <a:spcPts val="600"/>
              </a:spcAft>
              <a:buClr>
                <a:schemeClr val="accent2"/>
              </a:buClr>
            </a:pPr>
            <a:r>
              <a:rPr lang="en-US" sz="1700" dirty="0">
                <a:solidFill>
                  <a:srgbClr val="7030A0"/>
                </a:solidFill>
              </a:rPr>
              <a:t>Text</a:t>
            </a:r>
            <a:r>
              <a:rPr lang="en-US" sz="1700" dirty="0"/>
              <a:t> and </a:t>
            </a:r>
            <a:r>
              <a:rPr lang="en-US" sz="1700" dirty="0">
                <a:solidFill>
                  <a:srgbClr val="00B050"/>
                </a:solidFill>
              </a:rPr>
              <a:t>Summary</a:t>
            </a:r>
          </a:p>
          <a:p>
            <a:pPr marL="514350" lvl="2">
              <a:spcBef>
                <a:spcPts val="750"/>
              </a:spcBef>
              <a:spcAft>
                <a:spcPts val="600"/>
              </a:spcAft>
              <a:buClr>
                <a:schemeClr val="accent2"/>
              </a:buClr>
            </a:pPr>
            <a:r>
              <a:rPr lang="en-US" sz="1700" dirty="0">
                <a:solidFill>
                  <a:srgbClr val="7030A0"/>
                </a:solidFill>
              </a:rPr>
              <a:t>English</a:t>
            </a:r>
            <a:r>
              <a:rPr lang="en-US" sz="1700" dirty="0"/>
              <a:t> and </a:t>
            </a:r>
            <a:r>
              <a:rPr lang="en-US" sz="1700" dirty="0">
                <a:solidFill>
                  <a:srgbClr val="00B050"/>
                </a:solidFill>
              </a:rPr>
              <a:t>Hindi sentences</a:t>
            </a:r>
            <a:r>
              <a:rPr lang="en-US" sz="1700" dirty="0"/>
              <a:t> </a:t>
            </a:r>
          </a:p>
          <a:p>
            <a:pPr marL="514350" lvl="2">
              <a:spcBef>
                <a:spcPts val="750"/>
              </a:spcBef>
              <a:spcAft>
                <a:spcPts val="600"/>
              </a:spcAft>
              <a:buClr>
                <a:schemeClr val="accent2"/>
              </a:buClr>
            </a:pPr>
            <a:r>
              <a:rPr lang="en-US" sz="1700" dirty="0">
                <a:solidFill>
                  <a:srgbClr val="7030A0"/>
                </a:solidFill>
              </a:rPr>
              <a:t>Text</a:t>
            </a:r>
            <a:r>
              <a:rPr lang="en-US" sz="1700" dirty="0"/>
              <a:t> and </a:t>
            </a:r>
            <a:r>
              <a:rPr lang="en-US" sz="1700" dirty="0">
                <a:solidFill>
                  <a:srgbClr val="00B050"/>
                </a:solidFill>
              </a:rPr>
              <a:t>Sentiment</a:t>
            </a:r>
          </a:p>
          <a:p>
            <a:pPr marL="171450" lvl="1">
              <a:spcBef>
                <a:spcPts val="750"/>
              </a:spcBef>
              <a:spcAft>
                <a:spcPts val="600"/>
              </a:spcAft>
              <a:buClr>
                <a:schemeClr val="accent2"/>
              </a:buClr>
            </a:pPr>
            <a:endParaRPr lang="en-US" sz="2000" dirty="0"/>
          </a:p>
          <a:p>
            <a:pPr marL="514350" lvl="2">
              <a:spcBef>
                <a:spcPts val="750"/>
              </a:spcBef>
              <a:spcAft>
                <a:spcPts val="600"/>
              </a:spcAft>
              <a:buClr>
                <a:schemeClr val="accent2"/>
              </a:buClr>
            </a:pPr>
            <a:endParaRPr lang="en-US" sz="17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82295" y="1381819"/>
            <a:ext cx="3748798"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Generate accurate responses</a:t>
            </a:r>
          </a:p>
          <a:p>
            <a:pPr marL="171450" lvl="1">
              <a:spcBef>
                <a:spcPts val="750"/>
              </a:spcBef>
              <a:spcAft>
                <a:spcPts val="600"/>
              </a:spcAft>
              <a:buClr>
                <a:schemeClr val="accent2"/>
              </a:buClr>
            </a:pPr>
            <a:r>
              <a:rPr lang="en-IN" sz="2000" dirty="0"/>
              <a:t>Generate specific responses</a:t>
            </a:r>
          </a:p>
          <a:p>
            <a:pPr marL="171450" lvl="1">
              <a:spcBef>
                <a:spcPts val="750"/>
              </a:spcBef>
              <a:spcAft>
                <a:spcPts val="600"/>
              </a:spcAft>
              <a:buClr>
                <a:schemeClr val="accent2"/>
              </a:buClr>
            </a:pPr>
            <a:r>
              <a:rPr lang="en-IN" sz="2000" dirty="0"/>
              <a:t>Specific domain knowledge</a:t>
            </a:r>
          </a:p>
          <a:p>
            <a:pPr marL="514350" lvl="2">
              <a:spcBef>
                <a:spcPts val="750"/>
              </a:spcBef>
              <a:spcAft>
                <a:spcPts val="600"/>
              </a:spcAft>
              <a:buClr>
                <a:schemeClr val="accent2"/>
              </a:buClr>
            </a:pPr>
            <a:r>
              <a:rPr lang="en-IN" sz="1700" dirty="0"/>
              <a:t>Source code</a:t>
            </a:r>
          </a:p>
          <a:p>
            <a:pPr marL="514350" lvl="2">
              <a:spcBef>
                <a:spcPts val="750"/>
              </a:spcBef>
              <a:spcAft>
                <a:spcPts val="600"/>
              </a:spcAft>
              <a:buClr>
                <a:schemeClr val="accent2"/>
              </a:buClr>
            </a:pPr>
            <a:r>
              <a:rPr lang="en-IN" sz="1700" dirty="0"/>
              <a:t>Medical documents</a:t>
            </a:r>
          </a:p>
          <a:p>
            <a:pPr marL="514350" lvl="2">
              <a:spcBef>
                <a:spcPts val="750"/>
              </a:spcBef>
              <a:spcAft>
                <a:spcPts val="600"/>
              </a:spcAft>
              <a:buClr>
                <a:schemeClr val="accent2"/>
              </a:buClr>
            </a:pPr>
            <a:r>
              <a:rPr lang="en-IN" sz="1700" dirty="0"/>
              <a:t>Legal documents</a:t>
            </a:r>
          </a:p>
          <a:p>
            <a:pPr marL="514350" lvl="2">
              <a:spcBef>
                <a:spcPts val="750"/>
              </a:spcBef>
              <a:spcAft>
                <a:spcPts val="600"/>
              </a:spcAft>
              <a:buClr>
                <a:schemeClr val="accent2"/>
              </a:buClr>
            </a:pPr>
            <a:r>
              <a:rPr lang="en-IN" sz="1700" dirty="0"/>
              <a:t>Financial documents</a:t>
            </a:r>
          </a:p>
        </p:txBody>
      </p:sp>
    </p:spTree>
    <p:extLst>
      <p:ext uri="{BB962C8B-B14F-4D97-AF65-F5344CB8AC3E}">
        <p14:creationId xmlns:p14="http://schemas.microsoft.com/office/powerpoint/2010/main" val="11276497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8067878" cy="994172"/>
          </a:xfrm>
          <a:noFill/>
        </p:spPr>
        <p:txBody>
          <a:bodyPr anchor="ctr"/>
          <a:lstStyle/>
          <a:p>
            <a:r>
              <a:rPr lang="en-IN" dirty="0"/>
              <a:t>Reinforcement Learning</a:t>
            </a:r>
            <a:endParaRPr lang="en-US" dirty="0"/>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49" y="1378574"/>
            <a:ext cx="3865529"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Agent</a:t>
            </a:r>
          </a:p>
          <a:p>
            <a:pPr marL="171450" lvl="1">
              <a:spcBef>
                <a:spcPts val="750"/>
              </a:spcBef>
              <a:spcAft>
                <a:spcPts val="600"/>
              </a:spcAft>
              <a:buClr>
                <a:schemeClr val="accent2"/>
              </a:buClr>
            </a:pPr>
            <a:r>
              <a:rPr lang="en-US" sz="2000" dirty="0"/>
              <a:t>Environment</a:t>
            </a:r>
          </a:p>
          <a:p>
            <a:pPr marL="171450" lvl="1">
              <a:spcBef>
                <a:spcPts val="750"/>
              </a:spcBef>
              <a:spcAft>
                <a:spcPts val="600"/>
              </a:spcAft>
              <a:buClr>
                <a:schemeClr val="accent2"/>
              </a:buClr>
            </a:pPr>
            <a:r>
              <a:rPr lang="en-US" sz="2000" dirty="0"/>
              <a:t>Action</a:t>
            </a:r>
          </a:p>
          <a:p>
            <a:pPr marL="171450" lvl="1">
              <a:spcBef>
                <a:spcPts val="750"/>
              </a:spcBef>
              <a:spcAft>
                <a:spcPts val="600"/>
              </a:spcAft>
              <a:buClr>
                <a:schemeClr val="accent2"/>
              </a:buClr>
            </a:pPr>
            <a:r>
              <a:rPr lang="en-US" sz="2000" dirty="0"/>
              <a:t>State</a:t>
            </a:r>
          </a:p>
          <a:p>
            <a:pPr marL="171450" lvl="1">
              <a:spcBef>
                <a:spcPts val="750"/>
              </a:spcBef>
              <a:spcAft>
                <a:spcPts val="600"/>
              </a:spcAft>
              <a:buClr>
                <a:schemeClr val="accent2"/>
              </a:buClr>
            </a:pPr>
            <a:r>
              <a:rPr lang="en-US" sz="2000" dirty="0"/>
              <a:t>Reward or Penalty</a:t>
            </a:r>
          </a:p>
          <a:p>
            <a:pPr marL="171450" lvl="1">
              <a:spcBef>
                <a:spcPts val="750"/>
              </a:spcBef>
              <a:spcAft>
                <a:spcPts val="600"/>
              </a:spcAft>
              <a:buClr>
                <a:schemeClr val="accent2"/>
              </a:buClr>
            </a:pPr>
            <a:r>
              <a:rPr lang="en-US" sz="2000" dirty="0"/>
              <a:t>Maximize reward</a:t>
            </a:r>
          </a:p>
        </p:txBody>
      </p:sp>
      <p:grpSp>
        <p:nvGrpSpPr>
          <p:cNvPr id="27" name="Group 26"/>
          <p:cNvGrpSpPr/>
          <p:nvPr/>
        </p:nvGrpSpPr>
        <p:grpSpPr>
          <a:xfrm>
            <a:off x="3796749" y="1793830"/>
            <a:ext cx="4885088" cy="1930737"/>
            <a:chOff x="3796749" y="1404730"/>
            <a:chExt cx="4885088" cy="1930737"/>
          </a:xfrm>
        </p:grpSpPr>
        <p:sp>
          <p:nvSpPr>
            <p:cNvPr id="6" name="TextBox 5"/>
            <p:cNvSpPr txBox="1"/>
            <p:nvPr/>
          </p:nvSpPr>
          <p:spPr>
            <a:xfrm>
              <a:off x="5387006" y="1404730"/>
              <a:ext cx="1722783" cy="400110"/>
            </a:xfrm>
            <a:prstGeom prst="rect">
              <a:avLst/>
            </a:prstGeom>
            <a:noFill/>
            <a:ln w="19050">
              <a:solidFill>
                <a:schemeClr val="accent6">
                  <a:lumMod val="50000"/>
                </a:schemeClr>
              </a:solidFill>
            </a:ln>
          </p:spPr>
          <p:txBody>
            <a:bodyPr wrap="square" rtlCol="0">
              <a:spAutoFit/>
            </a:bodyPr>
            <a:lstStyle/>
            <a:p>
              <a:pPr algn="ctr"/>
              <a:r>
                <a:rPr lang="en-US" sz="2000" b="1" dirty="0"/>
                <a:t>Agent</a:t>
              </a:r>
            </a:p>
          </p:txBody>
        </p:sp>
        <p:sp>
          <p:nvSpPr>
            <p:cNvPr id="8" name="TextBox 7"/>
            <p:cNvSpPr txBox="1"/>
            <p:nvPr/>
          </p:nvSpPr>
          <p:spPr>
            <a:xfrm>
              <a:off x="5380382" y="2935357"/>
              <a:ext cx="1762540" cy="400110"/>
            </a:xfrm>
            <a:prstGeom prst="rect">
              <a:avLst/>
            </a:prstGeom>
            <a:noFill/>
            <a:ln w="19050">
              <a:solidFill>
                <a:schemeClr val="accent4">
                  <a:lumMod val="50000"/>
                </a:schemeClr>
              </a:solidFill>
            </a:ln>
          </p:spPr>
          <p:txBody>
            <a:bodyPr wrap="square" rtlCol="0">
              <a:spAutoFit/>
            </a:bodyPr>
            <a:lstStyle/>
            <a:p>
              <a:pPr algn="ctr"/>
              <a:r>
                <a:rPr lang="en-US" sz="2000" b="1" dirty="0"/>
                <a:t>Environment</a:t>
              </a:r>
            </a:p>
          </p:txBody>
        </p:sp>
        <p:cxnSp>
          <p:nvCxnSpPr>
            <p:cNvPr id="10" name="Shape 9"/>
            <p:cNvCxnSpPr>
              <a:stCxn id="6" idx="3"/>
              <a:endCxn id="8" idx="3"/>
            </p:cNvCxnSpPr>
            <p:nvPr/>
          </p:nvCxnSpPr>
          <p:spPr>
            <a:xfrm>
              <a:off x="7109789" y="1604785"/>
              <a:ext cx="33133" cy="1530627"/>
            </a:xfrm>
            <a:prstGeom prst="bentConnector3">
              <a:avLst>
                <a:gd name="adj1" fmla="val 1949857"/>
              </a:avLst>
            </a:prstGeom>
            <a:ln>
              <a:solidFill>
                <a:schemeClr val="accent5">
                  <a:lumMod val="50000"/>
                </a:schemeClr>
              </a:solidFill>
              <a:tailEnd type="arrow"/>
            </a:ln>
          </p:spPr>
          <p:style>
            <a:lnRef idx="2">
              <a:schemeClr val="accent1"/>
            </a:lnRef>
            <a:fillRef idx="0">
              <a:schemeClr val="accent1"/>
            </a:fillRef>
            <a:effectRef idx="1">
              <a:schemeClr val="accent1"/>
            </a:effectRef>
            <a:fontRef idx="minor">
              <a:schemeClr val="tx1"/>
            </a:fontRef>
          </p:style>
        </p:cxnSp>
        <p:cxnSp>
          <p:nvCxnSpPr>
            <p:cNvPr id="17" name="Straight Arrow Connector 16"/>
            <p:cNvCxnSpPr>
              <a:stCxn id="8" idx="0"/>
              <a:endCxn id="6" idx="2"/>
            </p:cNvCxnSpPr>
            <p:nvPr/>
          </p:nvCxnSpPr>
          <p:spPr>
            <a:xfrm rot="16200000" flipV="1">
              <a:off x="5689767" y="2363472"/>
              <a:ext cx="1130517" cy="1325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Shape 19"/>
            <p:cNvCxnSpPr>
              <a:stCxn id="8" idx="1"/>
              <a:endCxn id="6" idx="1"/>
            </p:cNvCxnSpPr>
            <p:nvPr/>
          </p:nvCxnSpPr>
          <p:spPr>
            <a:xfrm rot="10800000" flipH="1">
              <a:off x="5380382" y="1604786"/>
              <a:ext cx="6624" cy="1530627"/>
            </a:xfrm>
            <a:prstGeom prst="bentConnector3">
              <a:avLst>
                <a:gd name="adj1" fmla="val -12253869"/>
              </a:avLst>
            </a:prstGeom>
            <a:ln>
              <a:solidFill>
                <a:schemeClr val="accent1">
                  <a:lumMod val="50000"/>
                </a:schemeClr>
              </a:solidFill>
              <a:tailEnd type="arrow"/>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9026" y="2213112"/>
              <a:ext cx="902811" cy="369332"/>
            </a:xfrm>
            <a:prstGeom prst="rect">
              <a:avLst/>
            </a:prstGeom>
            <a:noFill/>
          </p:spPr>
          <p:txBody>
            <a:bodyPr wrap="none" rtlCol="0">
              <a:spAutoFit/>
            </a:bodyPr>
            <a:lstStyle/>
            <a:p>
              <a:r>
                <a:rPr lang="en-US" sz="1800" b="1" dirty="0">
                  <a:solidFill>
                    <a:srgbClr val="002060"/>
                  </a:solidFill>
                </a:rPr>
                <a:t>Action</a:t>
              </a:r>
            </a:p>
          </p:txBody>
        </p:sp>
        <p:sp>
          <p:nvSpPr>
            <p:cNvPr id="25" name="TextBox 24"/>
            <p:cNvSpPr txBox="1"/>
            <p:nvPr/>
          </p:nvSpPr>
          <p:spPr>
            <a:xfrm>
              <a:off x="6268279" y="2199860"/>
              <a:ext cx="1018227" cy="369332"/>
            </a:xfrm>
            <a:prstGeom prst="rect">
              <a:avLst/>
            </a:prstGeom>
            <a:noFill/>
          </p:spPr>
          <p:txBody>
            <a:bodyPr wrap="none" rtlCol="0">
              <a:spAutoFit/>
            </a:bodyPr>
            <a:lstStyle/>
            <a:p>
              <a:r>
                <a:rPr lang="en-US" sz="1800" b="1" dirty="0">
                  <a:solidFill>
                    <a:schemeClr val="accent1">
                      <a:lumMod val="50000"/>
                    </a:schemeClr>
                  </a:solidFill>
                </a:rPr>
                <a:t>Reward</a:t>
              </a:r>
            </a:p>
          </p:txBody>
        </p:sp>
        <p:sp>
          <p:nvSpPr>
            <p:cNvPr id="26" name="TextBox 25"/>
            <p:cNvSpPr txBox="1"/>
            <p:nvPr/>
          </p:nvSpPr>
          <p:spPr>
            <a:xfrm>
              <a:off x="3796749" y="2179982"/>
              <a:ext cx="748923" cy="369332"/>
            </a:xfrm>
            <a:prstGeom prst="rect">
              <a:avLst/>
            </a:prstGeom>
            <a:noFill/>
          </p:spPr>
          <p:txBody>
            <a:bodyPr wrap="none" rtlCol="0">
              <a:spAutoFit/>
            </a:bodyPr>
            <a:lstStyle/>
            <a:p>
              <a:r>
                <a:rPr lang="en-US" sz="1800" b="1" dirty="0">
                  <a:solidFill>
                    <a:schemeClr val="accent6">
                      <a:lumMod val="50000"/>
                    </a:schemeClr>
                  </a:solidFill>
                </a:rPr>
                <a:t>State</a:t>
              </a:r>
            </a:p>
          </p:txBody>
        </p:sp>
      </p:grpSp>
    </p:spTree>
    <p:extLst>
      <p:ext uri="{BB962C8B-B14F-4D97-AF65-F5344CB8AC3E}">
        <p14:creationId xmlns:p14="http://schemas.microsoft.com/office/powerpoint/2010/main" val="1718566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Reinforcement Learning</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61767"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Playout or Rollout</a:t>
            </a:r>
          </a:p>
          <a:p>
            <a:pPr marL="171450" lvl="1">
              <a:spcBef>
                <a:spcPts val="750"/>
              </a:spcBef>
              <a:spcAft>
                <a:spcPts val="600"/>
              </a:spcAft>
              <a:buClr>
                <a:schemeClr val="accent2"/>
              </a:buClr>
            </a:pPr>
            <a:r>
              <a:rPr lang="en-IN" sz="2000" dirty="0"/>
              <a:t>Exploration </a:t>
            </a:r>
          </a:p>
          <a:p>
            <a:pPr marL="171450" lvl="1">
              <a:spcBef>
                <a:spcPts val="750"/>
              </a:spcBef>
              <a:spcAft>
                <a:spcPts val="600"/>
              </a:spcAft>
              <a:buClr>
                <a:schemeClr val="accent2"/>
              </a:buClr>
            </a:pPr>
            <a:r>
              <a:rPr lang="en-IN" sz="2000" dirty="0"/>
              <a:t>Exploitation</a:t>
            </a:r>
          </a:p>
          <a:p>
            <a:pPr marL="171450" lvl="1">
              <a:spcBef>
                <a:spcPts val="750"/>
              </a:spcBef>
              <a:spcAft>
                <a:spcPts val="600"/>
              </a:spcAft>
              <a:buClr>
                <a:schemeClr val="accent2"/>
              </a:buClr>
            </a:pPr>
            <a:r>
              <a:rPr lang="en-IN" sz="2000" dirty="0"/>
              <a:t>Reward hacking</a:t>
            </a:r>
            <a:endParaRPr lang="en-IN" sz="1700" dirty="0"/>
          </a:p>
        </p:txBody>
      </p:sp>
    </p:spTree>
    <p:extLst>
      <p:ext uri="{BB962C8B-B14F-4D97-AF65-F5344CB8AC3E}">
        <p14:creationId xmlns:p14="http://schemas.microsoft.com/office/powerpoint/2010/main" val="40772580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8067878" cy="994172"/>
          </a:xfrm>
          <a:noFill/>
        </p:spPr>
        <p:txBody>
          <a:bodyPr anchor="ctr"/>
          <a:lstStyle/>
          <a:p>
            <a:r>
              <a:rPr lang="en-IN" dirty="0"/>
              <a:t>Reinforcement Learning from Human Feedback</a:t>
            </a:r>
            <a:endParaRPr lang="en-US" dirty="0"/>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49" y="1378574"/>
            <a:ext cx="3865529"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Align model with human values</a:t>
            </a:r>
          </a:p>
          <a:p>
            <a:pPr marL="171450" lvl="1">
              <a:spcBef>
                <a:spcPts val="750"/>
              </a:spcBef>
              <a:spcAft>
                <a:spcPts val="600"/>
              </a:spcAft>
              <a:buClr>
                <a:schemeClr val="accent2"/>
              </a:buClr>
            </a:pPr>
            <a:r>
              <a:rPr lang="en-US" sz="2000" dirty="0"/>
              <a:t>Reinforcement learning</a:t>
            </a:r>
          </a:p>
          <a:p>
            <a:pPr marL="171450" lvl="1">
              <a:spcBef>
                <a:spcPts val="750"/>
              </a:spcBef>
              <a:spcAft>
                <a:spcPts val="600"/>
              </a:spcAft>
              <a:buClr>
                <a:schemeClr val="accent2"/>
              </a:buClr>
            </a:pPr>
            <a:r>
              <a:rPr lang="en-US" sz="2000" dirty="0"/>
              <a:t>3H – Helpful, Honest, Harmless</a:t>
            </a:r>
          </a:p>
          <a:p>
            <a:pPr marL="171450" lvl="1">
              <a:spcBef>
                <a:spcPts val="750"/>
              </a:spcBef>
              <a:spcAft>
                <a:spcPts val="600"/>
              </a:spcAft>
              <a:buClr>
                <a:schemeClr val="accent2"/>
              </a:buClr>
            </a:pPr>
            <a:r>
              <a:rPr lang="en-US" sz="2000" dirty="0"/>
              <a:t>Helpful answer</a:t>
            </a:r>
            <a:endParaRPr lang="en-US" sz="1700" dirty="0"/>
          </a:p>
          <a:p>
            <a:pPr marL="171450" lvl="1">
              <a:spcBef>
                <a:spcPts val="750"/>
              </a:spcBef>
              <a:spcAft>
                <a:spcPts val="600"/>
              </a:spcAft>
              <a:buClr>
                <a:schemeClr val="accent2"/>
              </a:buClr>
            </a:pPr>
            <a:r>
              <a:rPr lang="en-US" sz="2000" dirty="0"/>
              <a:t>Honest answer</a:t>
            </a:r>
          </a:p>
          <a:p>
            <a:pPr marL="171450" lvl="1">
              <a:spcBef>
                <a:spcPts val="750"/>
              </a:spcBef>
              <a:spcAft>
                <a:spcPts val="600"/>
              </a:spcAft>
              <a:buClr>
                <a:schemeClr val="accent2"/>
              </a:buClr>
            </a:pPr>
            <a:r>
              <a:rPr lang="en-US" sz="2000" dirty="0"/>
              <a:t>Harmless answer</a:t>
            </a:r>
          </a:p>
          <a:p>
            <a:pPr marL="171450" lvl="1">
              <a:spcBef>
                <a:spcPts val="750"/>
              </a:spcBef>
              <a:spcAft>
                <a:spcPts val="600"/>
              </a:spcAft>
              <a:buClr>
                <a:schemeClr val="accent2"/>
              </a:buClr>
            </a:pPr>
            <a:r>
              <a:rPr lang="en-US" sz="2000" dirty="0"/>
              <a:t>Responsible AI</a:t>
            </a:r>
            <a:endParaRPr lang="en-IN" sz="2000" dirty="0"/>
          </a:p>
          <a:p>
            <a:pPr marL="171450" lvl="1">
              <a:spcBef>
                <a:spcPts val="750"/>
              </a:spcBef>
              <a:spcAft>
                <a:spcPts val="600"/>
              </a:spcAft>
              <a:buClr>
                <a:schemeClr val="accent2"/>
              </a:buClr>
            </a:pPr>
            <a:endParaRPr lang="en-US" sz="17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82295" y="1381819"/>
            <a:ext cx="3748798" cy="3213667"/>
          </a:xfrm>
          <a:prstGeom prst="rect">
            <a:avLst/>
          </a:prstGeom>
          <a:noFill/>
        </p:spPr>
        <p:txBody>
          <a:bodyPr vert="horz" lIns="68580" tIns="34290" rIns="68580" bIns="34290" rtlCol="0" anchor="t">
            <a:normAutofit lnSpcReduction="10000"/>
          </a:bodyPr>
          <a:lstStyle/>
          <a:p>
            <a:pPr marL="171450" lvl="1">
              <a:spcBef>
                <a:spcPts val="750"/>
              </a:spcBef>
              <a:spcAft>
                <a:spcPts val="600"/>
              </a:spcAft>
              <a:buClr>
                <a:schemeClr val="accent2"/>
              </a:buClr>
            </a:pPr>
            <a:r>
              <a:rPr lang="en-IN" sz="2000" dirty="0"/>
              <a:t>Agent</a:t>
            </a:r>
          </a:p>
          <a:p>
            <a:pPr marL="514350" lvl="2">
              <a:spcBef>
                <a:spcPts val="750"/>
              </a:spcBef>
              <a:spcAft>
                <a:spcPts val="600"/>
              </a:spcAft>
              <a:buClr>
                <a:schemeClr val="accent2"/>
              </a:buClr>
            </a:pPr>
            <a:r>
              <a:rPr lang="en-IN" sz="1700" dirty="0"/>
              <a:t>Instruct LLM model</a:t>
            </a:r>
          </a:p>
          <a:p>
            <a:pPr marL="171450" lvl="1">
              <a:spcBef>
                <a:spcPts val="750"/>
              </a:spcBef>
              <a:spcAft>
                <a:spcPts val="600"/>
              </a:spcAft>
              <a:buClr>
                <a:schemeClr val="accent2"/>
              </a:buClr>
            </a:pPr>
            <a:r>
              <a:rPr lang="en-IN" sz="2000" dirty="0"/>
              <a:t>Environment</a:t>
            </a:r>
          </a:p>
          <a:p>
            <a:pPr marL="514350" lvl="2">
              <a:spcBef>
                <a:spcPts val="750"/>
              </a:spcBef>
              <a:spcAft>
                <a:spcPts val="600"/>
              </a:spcAft>
              <a:buClr>
                <a:schemeClr val="accent2"/>
              </a:buClr>
            </a:pPr>
            <a:r>
              <a:rPr lang="en-IN" sz="1700" dirty="0"/>
              <a:t>LLM context</a:t>
            </a:r>
          </a:p>
          <a:p>
            <a:pPr marL="171450" lvl="1">
              <a:spcBef>
                <a:spcPts val="750"/>
              </a:spcBef>
              <a:spcAft>
                <a:spcPts val="600"/>
              </a:spcAft>
              <a:buClr>
                <a:schemeClr val="accent2"/>
              </a:buClr>
            </a:pPr>
            <a:r>
              <a:rPr lang="en-IN" sz="2000" dirty="0"/>
              <a:t>Objective</a:t>
            </a:r>
          </a:p>
          <a:p>
            <a:pPr marL="514350" lvl="2">
              <a:spcBef>
                <a:spcPts val="750"/>
              </a:spcBef>
              <a:spcAft>
                <a:spcPts val="600"/>
              </a:spcAft>
              <a:buClr>
                <a:schemeClr val="accent2"/>
              </a:buClr>
            </a:pPr>
            <a:r>
              <a:rPr lang="en-IN" sz="1700" dirty="0"/>
              <a:t>Generate aligned text</a:t>
            </a:r>
          </a:p>
          <a:p>
            <a:pPr marL="171450" lvl="1">
              <a:spcBef>
                <a:spcPts val="750"/>
              </a:spcBef>
              <a:spcAft>
                <a:spcPts val="600"/>
              </a:spcAft>
              <a:buClr>
                <a:schemeClr val="accent2"/>
              </a:buClr>
            </a:pPr>
            <a:r>
              <a:rPr lang="en-IN" sz="2000" dirty="0"/>
              <a:t>Reward model</a:t>
            </a:r>
          </a:p>
          <a:p>
            <a:pPr marL="514350" lvl="2">
              <a:spcBef>
                <a:spcPts val="750"/>
              </a:spcBef>
              <a:spcAft>
                <a:spcPts val="600"/>
              </a:spcAft>
              <a:buClr>
                <a:schemeClr val="accent2"/>
              </a:buClr>
            </a:pPr>
            <a:r>
              <a:rPr lang="en-IN" sz="1700" dirty="0"/>
              <a:t>Supervised learning</a:t>
            </a:r>
          </a:p>
          <a:p>
            <a:pPr marL="171450" lvl="1">
              <a:spcBef>
                <a:spcPts val="750"/>
              </a:spcBef>
              <a:spcAft>
                <a:spcPts val="600"/>
              </a:spcAft>
              <a:buClr>
                <a:schemeClr val="accent2"/>
              </a:buClr>
            </a:pPr>
            <a:endParaRPr lang="en-IN" sz="2000" dirty="0"/>
          </a:p>
        </p:txBody>
      </p:sp>
    </p:spTree>
    <p:extLst>
      <p:ext uri="{BB962C8B-B14F-4D97-AF65-F5344CB8AC3E}">
        <p14:creationId xmlns:p14="http://schemas.microsoft.com/office/powerpoint/2010/main" val="11276497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Mixture of Experts – (</a:t>
            </a:r>
            <a:r>
              <a:rPr lang="en-US" dirty="0" err="1"/>
              <a:t>MoE</a:t>
            </a:r>
            <a:r>
              <a:rPr lang="en-US" dirty="0"/>
              <a:t>) </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61767" cy="3213667"/>
          </a:xfrm>
          <a:prstGeom prst="rect">
            <a:avLst/>
          </a:prstGeom>
          <a:noFill/>
        </p:spPr>
        <p:txBody>
          <a:bodyPr vert="horz" lIns="68580" tIns="34290" rIns="68580" bIns="34290" rtlCol="0" anchor="t">
            <a:normAutofit fontScale="92500" lnSpcReduction="10000"/>
          </a:bodyPr>
          <a:lstStyle/>
          <a:p>
            <a:pPr marL="171450" lvl="1">
              <a:spcBef>
                <a:spcPts val="750"/>
              </a:spcBef>
              <a:spcAft>
                <a:spcPts val="600"/>
              </a:spcAft>
              <a:buClr>
                <a:schemeClr val="accent2"/>
              </a:buClr>
            </a:pPr>
            <a:r>
              <a:rPr lang="en-IN" sz="2000" dirty="0"/>
              <a:t>Multiple specialized models</a:t>
            </a:r>
          </a:p>
          <a:p>
            <a:pPr marL="514350" lvl="2">
              <a:spcBef>
                <a:spcPts val="750"/>
              </a:spcBef>
              <a:spcAft>
                <a:spcPts val="600"/>
              </a:spcAft>
              <a:buClr>
                <a:schemeClr val="accent2"/>
              </a:buClr>
            </a:pPr>
            <a:r>
              <a:rPr lang="en-IN" sz="1900" dirty="0"/>
              <a:t>Work together</a:t>
            </a:r>
          </a:p>
          <a:p>
            <a:pPr marL="171450" lvl="1">
              <a:spcBef>
                <a:spcPts val="750"/>
              </a:spcBef>
              <a:spcAft>
                <a:spcPts val="600"/>
              </a:spcAft>
              <a:buClr>
                <a:schemeClr val="accent2"/>
              </a:buClr>
            </a:pPr>
            <a:r>
              <a:rPr lang="en-IN" sz="2000" dirty="0"/>
              <a:t>Gating model</a:t>
            </a:r>
          </a:p>
          <a:p>
            <a:pPr marL="514350" lvl="2">
              <a:spcBef>
                <a:spcPts val="750"/>
              </a:spcBef>
              <a:spcAft>
                <a:spcPts val="600"/>
              </a:spcAft>
              <a:buClr>
                <a:schemeClr val="accent2"/>
              </a:buClr>
            </a:pPr>
            <a:r>
              <a:rPr lang="en-IN" sz="1900" dirty="0"/>
              <a:t>Select best expert</a:t>
            </a:r>
          </a:p>
          <a:p>
            <a:pPr marL="171450" lvl="1">
              <a:spcBef>
                <a:spcPts val="750"/>
              </a:spcBef>
              <a:spcAft>
                <a:spcPts val="600"/>
              </a:spcAft>
              <a:buClr>
                <a:schemeClr val="accent2"/>
              </a:buClr>
            </a:pPr>
            <a:r>
              <a:rPr lang="en-IN" sz="2000" dirty="0"/>
              <a:t>Examples</a:t>
            </a:r>
          </a:p>
          <a:p>
            <a:pPr marL="514350" lvl="2">
              <a:spcBef>
                <a:spcPts val="750"/>
              </a:spcBef>
              <a:spcAft>
                <a:spcPts val="600"/>
              </a:spcAft>
              <a:buClr>
                <a:schemeClr val="accent2"/>
              </a:buClr>
            </a:pPr>
            <a:r>
              <a:rPr lang="en-IN" sz="1900" dirty="0"/>
              <a:t>Doctor for medical issues</a:t>
            </a:r>
          </a:p>
          <a:p>
            <a:pPr marL="514350" lvl="2">
              <a:spcBef>
                <a:spcPts val="750"/>
              </a:spcBef>
              <a:spcAft>
                <a:spcPts val="600"/>
              </a:spcAft>
              <a:buClr>
                <a:schemeClr val="accent2"/>
              </a:buClr>
            </a:pPr>
            <a:r>
              <a:rPr lang="en-IN" sz="1900" dirty="0"/>
              <a:t>Mechanic for car problems</a:t>
            </a:r>
          </a:p>
          <a:p>
            <a:pPr marL="514350" lvl="2">
              <a:spcBef>
                <a:spcPts val="750"/>
              </a:spcBef>
              <a:spcAft>
                <a:spcPts val="600"/>
              </a:spcAft>
              <a:buClr>
                <a:schemeClr val="accent2"/>
              </a:buClr>
            </a:pPr>
            <a:r>
              <a:rPr lang="en-IN" sz="1900" dirty="0"/>
              <a:t>Chef for cooking</a:t>
            </a:r>
          </a:p>
          <a:p>
            <a:pPr marL="171450" lvl="1">
              <a:spcBef>
                <a:spcPts val="750"/>
              </a:spcBef>
              <a:spcAft>
                <a:spcPts val="600"/>
              </a:spcAft>
              <a:buClr>
                <a:schemeClr val="accent2"/>
              </a:buClr>
            </a:pPr>
            <a:endParaRPr lang="en-IN" sz="17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513634" y="1378574"/>
            <a:ext cx="3982665"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Train Large Language Model</a:t>
            </a:r>
          </a:p>
          <a:p>
            <a:pPr marL="514350" lvl="2">
              <a:spcBef>
                <a:spcPts val="750"/>
              </a:spcBef>
              <a:spcAft>
                <a:spcPts val="600"/>
              </a:spcAft>
              <a:buClr>
                <a:schemeClr val="accent2"/>
              </a:buClr>
            </a:pPr>
            <a:r>
              <a:rPr lang="en-IN" sz="1800" dirty="0"/>
              <a:t>Computational resources</a:t>
            </a:r>
          </a:p>
          <a:p>
            <a:pPr marL="171450" lvl="1">
              <a:spcBef>
                <a:spcPts val="750"/>
              </a:spcBef>
              <a:spcAft>
                <a:spcPts val="600"/>
              </a:spcAft>
              <a:buClr>
                <a:schemeClr val="accent2"/>
              </a:buClr>
            </a:pPr>
            <a:r>
              <a:rPr lang="en-IN" sz="2000" dirty="0"/>
              <a:t>Mixture of Experts </a:t>
            </a:r>
          </a:p>
          <a:p>
            <a:pPr marL="514350" lvl="2">
              <a:spcBef>
                <a:spcPts val="750"/>
              </a:spcBef>
              <a:spcAft>
                <a:spcPts val="600"/>
              </a:spcAft>
              <a:buClr>
                <a:schemeClr val="accent2"/>
              </a:buClr>
            </a:pPr>
            <a:r>
              <a:rPr lang="en-IN" sz="1800" dirty="0"/>
              <a:t>Break down large model</a:t>
            </a:r>
          </a:p>
          <a:p>
            <a:pPr marL="514350" lvl="2">
              <a:spcBef>
                <a:spcPts val="750"/>
              </a:spcBef>
              <a:spcAft>
                <a:spcPts val="600"/>
              </a:spcAft>
              <a:buClr>
                <a:schemeClr val="accent2"/>
              </a:buClr>
            </a:pPr>
            <a:r>
              <a:rPr lang="en-IN" sz="1800" dirty="0"/>
              <a:t>Smaller specialized models</a:t>
            </a:r>
            <a:endParaRPr lang="en-IN" sz="2000" dirty="0"/>
          </a:p>
          <a:p>
            <a:pPr marL="171450" lvl="1">
              <a:spcBef>
                <a:spcPts val="750"/>
              </a:spcBef>
              <a:spcAft>
                <a:spcPts val="600"/>
              </a:spcAft>
              <a:buClr>
                <a:schemeClr val="accent2"/>
              </a:buClr>
            </a:pPr>
            <a:endParaRPr lang="en-IN" sz="2000" dirty="0"/>
          </a:p>
        </p:txBody>
      </p:sp>
    </p:spTree>
    <p:extLst>
      <p:ext uri="{BB962C8B-B14F-4D97-AF65-F5344CB8AC3E}">
        <p14:creationId xmlns:p14="http://schemas.microsoft.com/office/powerpoint/2010/main" val="27459704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LLM – Computational Challenges</a:t>
            </a:r>
          </a:p>
        </p:txBody>
      </p:sp>
      <p:sp>
        <p:nvSpPr>
          <p:cNvPr id="7"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85256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LLM inference</a:t>
            </a:r>
          </a:p>
          <a:p>
            <a:pPr marL="514350" lvl="2">
              <a:spcBef>
                <a:spcPts val="750"/>
              </a:spcBef>
              <a:spcAft>
                <a:spcPts val="600"/>
              </a:spcAft>
              <a:buClr>
                <a:schemeClr val="accent2"/>
              </a:buClr>
            </a:pPr>
            <a:r>
              <a:rPr lang="en-US" sz="1700" dirty="0"/>
              <a:t>1 parameter – float 32 – 4 bytes</a:t>
            </a:r>
          </a:p>
          <a:p>
            <a:pPr marL="514350" lvl="2">
              <a:spcBef>
                <a:spcPts val="750"/>
              </a:spcBef>
              <a:spcAft>
                <a:spcPts val="600"/>
              </a:spcAft>
              <a:buClr>
                <a:schemeClr val="accent2"/>
              </a:buClr>
            </a:pPr>
            <a:r>
              <a:rPr lang="en-US" sz="1700" dirty="0"/>
              <a:t>1B parameters – 10</a:t>
            </a:r>
            <a:r>
              <a:rPr lang="en-US" sz="1700" baseline="30000" dirty="0"/>
              <a:t>9</a:t>
            </a:r>
            <a:r>
              <a:rPr lang="en-US" sz="1700" dirty="0"/>
              <a:t> parameters</a:t>
            </a:r>
          </a:p>
          <a:p>
            <a:pPr marL="514350" lvl="2">
              <a:spcBef>
                <a:spcPts val="750"/>
              </a:spcBef>
              <a:spcAft>
                <a:spcPts val="600"/>
              </a:spcAft>
              <a:buClr>
                <a:schemeClr val="accent2"/>
              </a:buClr>
            </a:pPr>
            <a:r>
              <a:rPr lang="en-US" sz="1700" dirty="0"/>
              <a:t>1B parameters – 4 x 10</a:t>
            </a:r>
            <a:r>
              <a:rPr lang="en-US" sz="1700" baseline="30000" dirty="0"/>
              <a:t>9 </a:t>
            </a:r>
            <a:r>
              <a:rPr lang="en-US" sz="1700" dirty="0"/>
              <a:t>bytes</a:t>
            </a:r>
          </a:p>
          <a:p>
            <a:pPr marL="514350" lvl="2">
              <a:spcBef>
                <a:spcPts val="750"/>
              </a:spcBef>
              <a:spcAft>
                <a:spcPts val="600"/>
              </a:spcAft>
              <a:buClr>
                <a:schemeClr val="accent2"/>
              </a:buClr>
            </a:pPr>
            <a:r>
              <a:rPr lang="en-US" sz="1700" dirty="0"/>
              <a:t>1B parameters – 4 GB memory</a:t>
            </a:r>
          </a:p>
          <a:p>
            <a:pPr marL="171450" lvl="1">
              <a:spcBef>
                <a:spcPts val="750"/>
              </a:spcBef>
              <a:spcAft>
                <a:spcPts val="600"/>
              </a:spcAft>
              <a:buClr>
                <a:schemeClr val="accent2"/>
              </a:buClr>
            </a:pPr>
            <a:endParaRPr lang="en-US" sz="17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714874" y="1378574"/>
            <a:ext cx="3903831" cy="3213667"/>
          </a:xfrm>
          <a:prstGeom prst="rect">
            <a:avLst/>
          </a:prstGeom>
          <a:noFill/>
        </p:spPr>
        <p:txBody>
          <a:bodyPr vert="horz" lIns="68580" tIns="34290" rIns="68580" bIns="34290" rtlCol="0" anchor="t">
            <a:normAutofit lnSpcReduction="10000"/>
          </a:bodyPr>
          <a:lstStyle/>
          <a:p>
            <a:pPr marL="171450" lvl="1">
              <a:spcBef>
                <a:spcPts val="750"/>
              </a:spcBef>
              <a:spcAft>
                <a:spcPts val="600"/>
              </a:spcAft>
              <a:buClr>
                <a:schemeClr val="accent2"/>
              </a:buClr>
            </a:pPr>
            <a:r>
              <a:rPr lang="en-US" sz="2000" dirty="0"/>
              <a:t>LLM training</a:t>
            </a:r>
            <a:endParaRPr lang="en-US" sz="1700" dirty="0"/>
          </a:p>
          <a:p>
            <a:pPr marL="514350" lvl="2">
              <a:spcBef>
                <a:spcPts val="750"/>
              </a:spcBef>
              <a:spcAft>
                <a:spcPts val="600"/>
              </a:spcAft>
              <a:buClr>
                <a:schemeClr val="accent2"/>
              </a:buClr>
            </a:pPr>
            <a:r>
              <a:rPr lang="en-US" sz="1800" dirty="0"/>
              <a:t>1 parameter – float 32 – 4 bytes</a:t>
            </a:r>
            <a:endParaRPr lang="en-IN" sz="1700" dirty="0"/>
          </a:p>
          <a:p>
            <a:pPr marL="514350" lvl="2">
              <a:spcBef>
                <a:spcPts val="750"/>
              </a:spcBef>
              <a:spcAft>
                <a:spcPts val="600"/>
              </a:spcAft>
              <a:buClr>
                <a:schemeClr val="accent2"/>
              </a:buClr>
            </a:pPr>
            <a:r>
              <a:rPr lang="en-IN" sz="1700" dirty="0"/>
              <a:t>Model parameters – 4 bytes</a:t>
            </a:r>
          </a:p>
          <a:p>
            <a:pPr marL="514350" lvl="2">
              <a:spcBef>
                <a:spcPts val="750"/>
              </a:spcBef>
              <a:spcAft>
                <a:spcPts val="600"/>
              </a:spcAft>
              <a:buClr>
                <a:schemeClr val="accent2"/>
              </a:buClr>
            </a:pPr>
            <a:r>
              <a:rPr lang="en-IN" sz="1700" dirty="0"/>
              <a:t>Optimizer – Two states – 8 bytes</a:t>
            </a:r>
          </a:p>
          <a:p>
            <a:pPr marL="514350" lvl="2">
              <a:spcBef>
                <a:spcPts val="750"/>
              </a:spcBef>
              <a:spcAft>
                <a:spcPts val="600"/>
              </a:spcAft>
              <a:buClr>
                <a:schemeClr val="accent2"/>
              </a:buClr>
            </a:pPr>
            <a:r>
              <a:rPr lang="en-IN" sz="1700" dirty="0"/>
              <a:t>Gradients – 4 bytes</a:t>
            </a:r>
          </a:p>
          <a:p>
            <a:pPr marL="514350" lvl="2">
              <a:spcBef>
                <a:spcPts val="750"/>
              </a:spcBef>
              <a:spcAft>
                <a:spcPts val="600"/>
              </a:spcAft>
              <a:buClr>
                <a:schemeClr val="accent2"/>
              </a:buClr>
            </a:pPr>
            <a:r>
              <a:rPr lang="en-IN" sz="1700" dirty="0"/>
              <a:t>Activations – 4 bytes</a:t>
            </a:r>
          </a:p>
          <a:p>
            <a:pPr marL="514350" lvl="2">
              <a:spcBef>
                <a:spcPts val="750"/>
              </a:spcBef>
              <a:spcAft>
                <a:spcPts val="600"/>
              </a:spcAft>
              <a:buClr>
                <a:schemeClr val="accent2"/>
              </a:buClr>
            </a:pPr>
            <a:r>
              <a:rPr lang="en-IN" sz="1700" dirty="0"/>
              <a:t>Temporary variables – 4 bytes</a:t>
            </a:r>
          </a:p>
          <a:p>
            <a:pPr marL="171450" lvl="1">
              <a:spcBef>
                <a:spcPts val="750"/>
              </a:spcBef>
              <a:spcAft>
                <a:spcPts val="600"/>
              </a:spcAft>
              <a:buClr>
                <a:schemeClr val="accent2"/>
              </a:buClr>
            </a:pPr>
            <a:r>
              <a:rPr lang="en-US" sz="1700" dirty="0"/>
              <a:t>20 times number of parameters</a:t>
            </a:r>
          </a:p>
        </p:txBody>
      </p:sp>
    </p:spTree>
    <p:extLst>
      <p:ext uri="{BB962C8B-B14F-4D97-AF65-F5344CB8AC3E}">
        <p14:creationId xmlns:p14="http://schemas.microsoft.com/office/powerpoint/2010/main" val="35928643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solidFill>
                  <a:srgbClr val="7030A0"/>
                </a:solidFill>
              </a:rPr>
              <a:t>Retrieval</a:t>
            </a:r>
            <a:r>
              <a:rPr lang="en-US" dirty="0"/>
              <a:t> </a:t>
            </a:r>
            <a:r>
              <a:rPr lang="en-US" dirty="0">
                <a:solidFill>
                  <a:schemeClr val="accent6">
                    <a:lumMod val="50000"/>
                  </a:schemeClr>
                </a:solidFill>
              </a:rPr>
              <a:t>Augmented</a:t>
            </a:r>
            <a:r>
              <a:rPr lang="en-US" dirty="0"/>
              <a:t> </a:t>
            </a:r>
            <a:r>
              <a:rPr lang="en-US" dirty="0">
                <a:solidFill>
                  <a:schemeClr val="accent2">
                    <a:lumMod val="50000"/>
                  </a:schemeClr>
                </a:solidFill>
              </a:rPr>
              <a:t>Generation</a:t>
            </a:r>
          </a:p>
        </p:txBody>
      </p:sp>
      <p:sp>
        <p:nvSpPr>
          <p:cNvPr id="9"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b="1" dirty="0">
                <a:solidFill>
                  <a:srgbClr val="7030A0"/>
                </a:solidFill>
              </a:rPr>
              <a:t>Retrieval</a:t>
            </a:r>
          </a:p>
          <a:p>
            <a:pPr marL="514350" lvl="2">
              <a:spcBef>
                <a:spcPts val="750"/>
              </a:spcBef>
              <a:spcAft>
                <a:spcPts val="600"/>
              </a:spcAft>
              <a:buClr>
                <a:schemeClr val="accent2"/>
              </a:buClr>
            </a:pPr>
            <a:r>
              <a:rPr lang="en-IN" sz="1700" dirty="0"/>
              <a:t>Retrieve relevant information from source documents</a:t>
            </a:r>
          </a:p>
          <a:p>
            <a:pPr marL="171450" lvl="1">
              <a:spcBef>
                <a:spcPts val="750"/>
              </a:spcBef>
              <a:spcAft>
                <a:spcPts val="600"/>
              </a:spcAft>
              <a:buClr>
                <a:schemeClr val="accent2"/>
              </a:buClr>
            </a:pPr>
            <a:r>
              <a:rPr lang="en-IN" sz="2000" b="1" dirty="0">
                <a:solidFill>
                  <a:schemeClr val="accent6">
                    <a:lumMod val="50000"/>
                  </a:schemeClr>
                </a:solidFill>
              </a:rPr>
              <a:t>Augmented</a:t>
            </a:r>
          </a:p>
          <a:p>
            <a:pPr marL="514350" lvl="2">
              <a:spcBef>
                <a:spcPts val="750"/>
              </a:spcBef>
              <a:spcAft>
                <a:spcPts val="600"/>
              </a:spcAft>
              <a:buClr>
                <a:schemeClr val="accent2"/>
              </a:buClr>
            </a:pPr>
            <a:r>
              <a:rPr lang="en-IN" sz="1700" dirty="0"/>
              <a:t>Augment input query with retrieved relevant information</a:t>
            </a:r>
          </a:p>
          <a:p>
            <a:pPr marL="171450" lvl="1">
              <a:spcBef>
                <a:spcPts val="750"/>
              </a:spcBef>
              <a:spcAft>
                <a:spcPts val="600"/>
              </a:spcAft>
              <a:buClr>
                <a:schemeClr val="accent2"/>
              </a:buClr>
            </a:pPr>
            <a:r>
              <a:rPr lang="en-IN" sz="2000" b="1" dirty="0">
                <a:solidFill>
                  <a:schemeClr val="accent2">
                    <a:lumMod val="50000"/>
                  </a:schemeClr>
                </a:solidFill>
              </a:rPr>
              <a:t>Generation</a:t>
            </a:r>
          </a:p>
          <a:p>
            <a:pPr marL="514350" lvl="2">
              <a:spcBef>
                <a:spcPts val="750"/>
              </a:spcBef>
              <a:spcAft>
                <a:spcPts val="600"/>
              </a:spcAft>
              <a:buClr>
                <a:schemeClr val="accent2"/>
              </a:buClr>
            </a:pPr>
            <a:r>
              <a:rPr lang="en-IN" sz="1700" dirty="0"/>
              <a:t>Generate response using augmented input and LLM</a:t>
            </a:r>
          </a:p>
        </p:txBody>
      </p:sp>
    </p:spTree>
    <p:extLst>
      <p:ext uri="{BB962C8B-B14F-4D97-AF65-F5344CB8AC3E}">
        <p14:creationId xmlns:p14="http://schemas.microsoft.com/office/powerpoint/2010/main" val="4146137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Retrieval Augmented Generation</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lnSpcReduction="10000"/>
          </a:bodyPr>
          <a:lstStyle/>
          <a:p>
            <a:pPr marL="171450" lvl="1">
              <a:spcBef>
                <a:spcPts val="750"/>
              </a:spcBef>
              <a:spcAft>
                <a:spcPts val="600"/>
              </a:spcAft>
              <a:buClr>
                <a:schemeClr val="accent2"/>
              </a:buClr>
            </a:pPr>
            <a:r>
              <a:rPr lang="en-IN" sz="2000" dirty="0"/>
              <a:t>Improve accuracy</a:t>
            </a:r>
          </a:p>
          <a:p>
            <a:pPr marL="514350" lvl="2">
              <a:spcBef>
                <a:spcPts val="750"/>
              </a:spcBef>
              <a:spcAft>
                <a:spcPts val="600"/>
              </a:spcAft>
              <a:buClr>
                <a:schemeClr val="accent2"/>
              </a:buClr>
            </a:pPr>
            <a:r>
              <a:rPr lang="en-IN" sz="1700" dirty="0"/>
              <a:t>Closed book test v/s Open book text with Index page</a:t>
            </a:r>
          </a:p>
          <a:p>
            <a:pPr marL="171450" lvl="1">
              <a:spcBef>
                <a:spcPts val="750"/>
              </a:spcBef>
              <a:spcAft>
                <a:spcPts val="600"/>
              </a:spcAft>
              <a:buClr>
                <a:schemeClr val="accent2"/>
              </a:buClr>
            </a:pPr>
            <a:r>
              <a:rPr lang="en-IN" sz="2000" dirty="0"/>
              <a:t>Increase transparency</a:t>
            </a:r>
          </a:p>
          <a:p>
            <a:pPr marL="514350" lvl="2">
              <a:spcBef>
                <a:spcPts val="750"/>
              </a:spcBef>
              <a:spcAft>
                <a:spcPts val="600"/>
              </a:spcAft>
              <a:buClr>
                <a:schemeClr val="accent2"/>
              </a:buClr>
            </a:pPr>
            <a:r>
              <a:rPr lang="en-US" sz="1700" dirty="0"/>
              <a:t>Source references – Retrieved documents</a:t>
            </a:r>
            <a:endParaRPr lang="en-IN" sz="2000" dirty="0"/>
          </a:p>
          <a:p>
            <a:pPr marL="171450" lvl="1">
              <a:spcBef>
                <a:spcPts val="750"/>
              </a:spcBef>
              <a:spcAft>
                <a:spcPts val="600"/>
              </a:spcAft>
              <a:buClr>
                <a:schemeClr val="accent2"/>
              </a:buClr>
            </a:pPr>
            <a:r>
              <a:rPr lang="en-IN" sz="2000" dirty="0"/>
              <a:t>Reduce hallucination</a:t>
            </a:r>
          </a:p>
          <a:p>
            <a:pPr marL="514350" lvl="2">
              <a:spcBef>
                <a:spcPts val="750"/>
              </a:spcBef>
              <a:spcAft>
                <a:spcPts val="600"/>
              </a:spcAft>
              <a:buClr>
                <a:schemeClr val="accent2"/>
              </a:buClr>
            </a:pPr>
            <a:r>
              <a:rPr lang="en-IN" sz="1700" dirty="0"/>
              <a:t>Augmentation – Retrieval + Generation</a:t>
            </a:r>
          </a:p>
          <a:p>
            <a:pPr marL="171450" lvl="1">
              <a:spcBef>
                <a:spcPts val="750"/>
              </a:spcBef>
              <a:spcAft>
                <a:spcPts val="600"/>
              </a:spcAft>
              <a:buClr>
                <a:schemeClr val="accent2"/>
              </a:buClr>
            </a:pPr>
            <a:r>
              <a:rPr lang="en-US" sz="1700" dirty="0"/>
              <a:t>Up to date information</a:t>
            </a:r>
          </a:p>
          <a:p>
            <a:pPr marL="514350" lvl="2">
              <a:spcBef>
                <a:spcPts val="750"/>
              </a:spcBef>
              <a:spcAft>
                <a:spcPts val="600"/>
              </a:spcAft>
              <a:buClr>
                <a:schemeClr val="accent2"/>
              </a:buClr>
            </a:pPr>
            <a:r>
              <a:rPr lang="en-US" sz="1700" dirty="0"/>
              <a:t>Ingest documents – No expensive model training</a:t>
            </a:r>
          </a:p>
          <a:p>
            <a:pPr marL="171450" lvl="1">
              <a:spcBef>
                <a:spcPts val="750"/>
              </a:spcBef>
              <a:spcAft>
                <a:spcPts val="600"/>
              </a:spcAft>
              <a:buClr>
                <a:schemeClr val="accent2"/>
              </a:buClr>
            </a:pPr>
            <a:endParaRPr lang="en-US" sz="1700" dirty="0"/>
          </a:p>
        </p:txBody>
      </p:sp>
    </p:spTree>
    <p:extLst>
      <p:ext uri="{BB962C8B-B14F-4D97-AF65-F5344CB8AC3E}">
        <p14:creationId xmlns:p14="http://schemas.microsoft.com/office/powerpoint/2010/main" val="4146137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628650" y="228602"/>
            <a:ext cx="7886700" cy="1104731"/>
          </a:xfrm>
          <a:noFill/>
        </p:spPr>
        <p:txBody>
          <a:bodyPr anchor="ctr"/>
          <a:lstStyle/>
          <a:p>
            <a:r>
              <a:rPr lang="en-US" dirty="0"/>
              <a:t>Sahaayak – Retrieval Augmented Generation</a:t>
            </a:r>
          </a:p>
        </p:txBody>
      </p:sp>
      <p:grpSp>
        <p:nvGrpSpPr>
          <p:cNvPr id="3" name="Group 2">
            <a:extLst>
              <a:ext uri="{FF2B5EF4-FFF2-40B4-BE49-F238E27FC236}">
                <a16:creationId xmlns:a16="http://schemas.microsoft.com/office/drawing/2014/main" id="{86E8A49B-6897-0562-9203-6B22CDD5C658}"/>
              </a:ext>
            </a:extLst>
          </p:cNvPr>
          <p:cNvGrpSpPr/>
          <p:nvPr/>
        </p:nvGrpSpPr>
        <p:grpSpPr>
          <a:xfrm>
            <a:off x="381000" y="1285875"/>
            <a:ext cx="7800974" cy="3104495"/>
            <a:chOff x="381000" y="1285875"/>
            <a:chExt cx="7800974" cy="3104495"/>
          </a:xfrm>
        </p:grpSpPr>
        <p:grpSp>
          <p:nvGrpSpPr>
            <p:cNvPr id="16" name="Group 15"/>
            <p:cNvGrpSpPr/>
            <p:nvPr/>
          </p:nvGrpSpPr>
          <p:grpSpPr>
            <a:xfrm>
              <a:off x="2028825" y="1285875"/>
              <a:ext cx="1171575" cy="3090863"/>
              <a:chOff x="1771650" y="1285875"/>
              <a:chExt cx="1171575" cy="3090863"/>
            </a:xfrm>
          </p:grpSpPr>
          <p:sp>
            <p:nvSpPr>
              <p:cNvPr id="4" name="TextBox 3"/>
              <p:cNvSpPr txBox="1"/>
              <p:nvPr/>
            </p:nvSpPr>
            <p:spPr>
              <a:xfrm>
                <a:off x="1771650" y="1285875"/>
                <a:ext cx="1152525" cy="584775"/>
              </a:xfrm>
              <a:prstGeom prst="rect">
                <a:avLst/>
              </a:prstGeom>
              <a:noFill/>
            </p:spPr>
            <p:txBody>
              <a:bodyPr wrap="square" rtlCol="0">
                <a:spAutoFit/>
              </a:bodyPr>
              <a:lstStyle/>
              <a:p>
                <a:pPr algn="ctr"/>
                <a:r>
                  <a:rPr lang="en-IN" sz="1600" b="1" dirty="0">
                    <a:solidFill>
                      <a:schemeClr val="accent6">
                        <a:lumMod val="50000"/>
                      </a:schemeClr>
                    </a:solidFill>
                  </a:rPr>
                  <a:t>Load Sources </a:t>
                </a:r>
              </a:p>
            </p:txBody>
          </p:sp>
          <p:sp>
            <p:nvSpPr>
              <p:cNvPr id="5" name="TextBox 4"/>
              <p:cNvSpPr txBox="1"/>
              <p:nvPr/>
            </p:nvSpPr>
            <p:spPr>
              <a:xfrm>
                <a:off x="1781175" y="1914525"/>
                <a:ext cx="1162050" cy="2462213"/>
              </a:xfrm>
              <a:prstGeom prst="rect">
                <a:avLst/>
              </a:prstGeom>
              <a:solidFill>
                <a:schemeClr val="tx2">
                  <a:lumMod val="90000"/>
                </a:schemeClr>
              </a:solidFill>
              <a:ln>
                <a:noFill/>
              </a:ln>
            </p:spPr>
            <p:txBody>
              <a:bodyPr wrap="square" rtlCol="0">
                <a:spAutoFit/>
              </a:bodyPr>
              <a:lstStyle/>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a:p>
                <a:endParaRPr lang="en-IN" dirty="0"/>
              </a:p>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a:p>
                <a:endParaRPr lang="en-IN" dirty="0"/>
              </a:p>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a:p>
                <a:endParaRPr lang="en-IN" dirty="0"/>
              </a:p>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p:txBody>
          </p:sp>
        </p:grpSp>
        <p:grpSp>
          <p:nvGrpSpPr>
            <p:cNvPr id="17" name="Group 16"/>
            <p:cNvGrpSpPr/>
            <p:nvPr/>
          </p:nvGrpSpPr>
          <p:grpSpPr>
            <a:xfrm>
              <a:off x="3743325" y="1285875"/>
              <a:ext cx="1209675" cy="3104495"/>
              <a:chOff x="3619500" y="1285875"/>
              <a:chExt cx="1209675" cy="3104495"/>
            </a:xfrm>
          </p:grpSpPr>
          <p:sp>
            <p:nvSpPr>
              <p:cNvPr id="6" name="TextBox 5"/>
              <p:cNvSpPr txBox="1"/>
              <p:nvPr/>
            </p:nvSpPr>
            <p:spPr>
              <a:xfrm>
                <a:off x="3619500" y="1285875"/>
                <a:ext cx="1209675" cy="584775"/>
              </a:xfrm>
              <a:prstGeom prst="rect">
                <a:avLst/>
              </a:prstGeom>
              <a:noFill/>
            </p:spPr>
            <p:txBody>
              <a:bodyPr wrap="square" rtlCol="0">
                <a:spAutoFit/>
              </a:bodyPr>
              <a:lstStyle/>
              <a:p>
                <a:pPr algn="ctr"/>
                <a:r>
                  <a:rPr lang="en-IN" sz="1600" b="1" dirty="0">
                    <a:solidFill>
                      <a:schemeClr val="accent2">
                        <a:lumMod val="50000"/>
                      </a:schemeClr>
                    </a:solidFill>
                  </a:rPr>
                  <a:t>Transform</a:t>
                </a:r>
              </a:p>
              <a:p>
                <a:pPr algn="ctr"/>
                <a:r>
                  <a:rPr lang="en-IN" sz="1600" b="1" dirty="0">
                    <a:solidFill>
                      <a:schemeClr val="accent2">
                        <a:lumMod val="50000"/>
                      </a:schemeClr>
                    </a:solidFill>
                  </a:rPr>
                  <a:t>Sources</a:t>
                </a:r>
              </a:p>
            </p:txBody>
          </p:sp>
          <p:sp>
            <p:nvSpPr>
              <p:cNvPr id="7" name="TextBox 6"/>
              <p:cNvSpPr txBox="1"/>
              <p:nvPr/>
            </p:nvSpPr>
            <p:spPr>
              <a:xfrm>
                <a:off x="3648075" y="1924050"/>
                <a:ext cx="1171575" cy="523220"/>
              </a:xfrm>
              <a:prstGeom prst="rect">
                <a:avLst/>
              </a:prstGeom>
              <a:solidFill>
                <a:schemeClr val="accent2">
                  <a:lumMod val="20000"/>
                  <a:lumOff val="80000"/>
                </a:schemeClr>
              </a:solidFill>
              <a:ln>
                <a:noFill/>
              </a:ln>
            </p:spPr>
            <p:txBody>
              <a:bodyPr wrap="square" rtlCol="0">
                <a:spAutoFit/>
              </a:bodyPr>
              <a:lstStyle/>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p:txBody>
          </p:sp>
          <p:sp>
            <p:nvSpPr>
              <p:cNvPr id="8" name="TextBox 7"/>
              <p:cNvSpPr txBox="1"/>
              <p:nvPr/>
            </p:nvSpPr>
            <p:spPr>
              <a:xfrm>
                <a:off x="3648075" y="2581275"/>
                <a:ext cx="1171575" cy="523220"/>
              </a:xfrm>
              <a:prstGeom prst="rect">
                <a:avLst/>
              </a:prstGeom>
              <a:solidFill>
                <a:schemeClr val="accent2">
                  <a:lumMod val="20000"/>
                  <a:lumOff val="80000"/>
                </a:schemeClr>
              </a:solidFill>
              <a:ln>
                <a:noFill/>
              </a:ln>
            </p:spPr>
            <p:txBody>
              <a:bodyPr wrap="square" rtlCol="0">
                <a:spAutoFit/>
              </a:bodyPr>
              <a:lstStyle/>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p:txBody>
          </p:sp>
          <p:sp>
            <p:nvSpPr>
              <p:cNvPr id="9" name="TextBox 8"/>
              <p:cNvSpPr txBox="1"/>
              <p:nvPr/>
            </p:nvSpPr>
            <p:spPr>
              <a:xfrm>
                <a:off x="3638550" y="3228975"/>
                <a:ext cx="1171575" cy="523220"/>
              </a:xfrm>
              <a:prstGeom prst="rect">
                <a:avLst/>
              </a:prstGeom>
              <a:solidFill>
                <a:schemeClr val="accent2">
                  <a:lumMod val="20000"/>
                  <a:lumOff val="80000"/>
                </a:schemeClr>
              </a:solidFill>
              <a:ln>
                <a:noFill/>
              </a:ln>
            </p:spPr>
            <p:txBody>
              <a:bodyPr wrap="square" rtlCol="0">
                <a:spAutoFit/>
              </a:bodyPr>
              <a:lstStyle/>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p:txBody>
          </p:sp>
          <p:sp>
            <p:nvSpPr>
              <p:cNvPr id="10" name="TextBox 9"/>
              <p:cNvSpPr txBox="1"/>
              <p:nvPr/>
            </p:nvSpPr>
            <p:spPr>
              <a:xfrm>
                <a:off x="3638550" y="3867150"/>
                <a:ext cx="1171575" cy="523220"/>
              </a:xfrm>
              <a:prstGeom prst="rect">
                <a:avLst/>
              </a:prstGeom>
              <a:solidFill>
                <a:schemeClr val="accent2">
                  <a:lumMod val="20000"/>
                  <a:lumOff val="80000"/>
                </a:schemeClr>
              </a:solidFill>
              <a:ln>
                <a:noFill/>
              </a:ln>
            </p:spPr>
            <p:txBody>
              <a:bodyPr wrap="square" rtlCol="0">
                <a:spAutoFit/>
              </a:bodyPr>
              <a:lstStyle/>
              <a:p>
                <a:r>
                  <a:rPr lang="en-IN" dirty="0" err="1"/>
                  <a:t>xxxxx</a:t>
                </a:r>
                <a:r>
                  <a:rPr lang="en-IN" dirty="0"/>
                  <a:t> </a:t>
                </a:r>
                <a:r>
                  <a:rPr lang="en-IN" dirty="0" err="1"/>
                  <a:t>xxxxx</a:t>
                </a:r>
                <a:endParaRPr lang="en-IN" dirty="0"/>
              </a:p>
              <a:p>
                <a:r>
                  <a:rPr lang="en-IN" dirty="0" err="1"/>
                  <a:t>xxxxx</a:t>
                </a:r>
                <a:r>
                  <a:rPr lang="en-IN" dirty="0"/>
                  <a:t> </a:t>
                </a:r>
                <a:r>
                  <a:rPr lang="en-IN" dirty="0" err="1"/>
                  <a:t>xxxxx</a:t>
                </a:r>
                <a:endParaRPr lang="en-IN" dirty="0"/>
              </a:p>
            </p:txBody>
          </p:sp>
        </p:grpSp>
        <p:grpSp>
          <p:nvGrpSpPr>
            <p:cNvPr id="18" name="Group 17"/>
            <p:cNvGrpSpPr/>
            <p:nvPr/>
          </p:nvGrpSpPr>
          <p:grpSpPr>
            <a:xfrm>
              <a:off x="5324475" y="1285875"/>
              <a:ext cx="1504950" cy="3104495"/>
              <a:chOff x="5324475" y="1285875"/>
              <a:chExt cx="1504950" cy="3104495"/>
            </a:xfrm>
          </p:grpSpPr>
          <p:sp>
            <p:nvSpPr>
              <p:cNvPr id="11" name="TextBox 10"/>
              <p:cNvSpPr txBox="1"/>
              <p:nvPr/>
            </p:nvSpPr>
            <p:spPr>
              <a:xfrm>
                <a:off x="5324475" y="1285875"/>
                <a:ext cx="1504950" cy="584775"/>
              </a:xfrm>
              <a:prstGeom prst="rect">
                <a:avLst/>
              </a:prstGeom>
              <a:noFill/>
            </p:spPr>
            <p:txBody>
              <a:bodyPr wrap="square" rtlCol="0">
                <a:spAutoFit/>
              </a:bodyPr>
              <a:lstStyle/>
              <a:p>
                <a:pPr algn="ctr"/>
                <a:r>
                  <a:rPr lang="en-IN" sz="1600" b="1" dirty="0">
                    <a:solidFill>
                      <a:schemeClr val="accent5">
                        <a:lumMod val="50000"/>
                      </a:schemeClr>
                    </a:solidFill>
                  </a:rPr>
                  <a:t>Compute</a:t>
                </a:r>
              </a:p>
              <a:p>
                <a:pPr algn="ctr"/>
                <a:r>
                  <a:rPr lang="en-IN" sz="1600" b="1" dirty="0">
                    <a:solidFill>
                      <a:schemeClr val="accent5">
                        <a:lumMod val="50000"/>
                      </a:schemeClr>
                    </a:solidFill>
                  </a:rPr>
                  <a:t>Embeddings</a:t>
                </a:r>
              </a:p>
            </p:txBody>
          </p:sp>
          <p:sp>
            <p:nvSpPr>
              <p:cNvPr id="12" name="TextBox 11"/>
              <p:cNvSpPr txBox="1"/>
              <p:nvPr/>
            </p:nvSpPr>
            <p:spPr>
              <a:xfrm>
                <a:off x="5476875" y="1924050"/>
                <a:ext cx="1171575" cy="523220"/>
              </a:xfrm>
              <a:prstGeom prst="rect">
                <a:avLst/>
              </a:prstGeom>
              <a:solidFill>
                <a:schemeClr val="accent5">
                  <a:lumMod val="20000"/>
                  <a:lumOff val="80000"/>
                </a:schemeClr>
              </a:solidFill>
              <a:ln>
                <a:noFill/>
              </a:ln>
            </p:spPr>
            <p:txBody>
              <a:bodyPr wrap="square" rtlCol="0">
                <a:spAutoFit/>
              </a:bodyPr>
              <a:lstStyle/>
              <a:p>
                <a:r>
                  <a:rPr lang="en-IN" dirty="0"/>
                  <a:t>{0.25, 0.12, 0.56, 0.78}</a:t>
                </a:r>
              </a:p>
            </p:txBody>
          </p:sp>
          <p:sp>
            <p:nvSpPr>
              <p:cNvPr id="13" name="TextBox 12"/>
              <p:cNvSpPr txBox="1"/>
              <p:nvPr/>
            </p:nvSpPr>
            <p:spPr>
              <a:xfrm>
                <a:off x="5476875" y="2581275"/>
                <a:ext cx="1171575" cy="523220"/>
              </a:xfrm>
              <a:prstGeom prst="rect">
                <a:avLst/>
              </a:prstGeom>
              <a:solidFill>
                <a:schemeClr val="accent5">
                  <a:lumMod val="20000"/>
                  <a:lumOff val="80000"/>
                </a:schemeClr>
              </a:solidFill>
              <a:ln>
                <a:noFill/>
              </a:ln>
            </p:spPr>
            <p:txBody>
              <a:bodyPr wrap="square" rtlCol="0">
                <a:spAutoFit/>
              </a:bodyPr>
              <a:lstStyle/>
              <a:p>
                <a:r>
                  <a:rPr lang="en-IN" dirty="0"/>
                  <a:t>{0.46, 0.23, 0.79, 0.68}</a:t>
                </a:r>
              </a:p>
            </p:txBody>
          </p:sp>
          <p:sp>
            <p:nvSpPr>
              <p:cNvPr id="14" name="TextBox 13"/>
              <p:cNvSpPr txBox="1"/>
              <p:nvPr/>
            </p:nvSpPr>
            <p:spPr>
              <a:xfrm>
                <a:off x="5467350" y="3228975"/>
                <a:ext cx="1171575" cy="523220"/>
              </a:xfrm>
              <a:prstGeom prst="rect">
                <a:avLst/>
              </a:prstGeom>
              <a:solidFill>
                <a:schemeClr val="accent5">
                  <a:lumMod val="20000"/>
                  <a:lumOff val="80000"/>
                </a:schemeClr>
              </a:solidFill>
              <a:ln>
                <a:noFill/>
              </a:ln>
            </p:spPr>
            <p:txBody>
              <a:bodyPr wrap="square" rtlCol="0">
                <a:spAutoFit/>
              </a:bodyPr>
              <a:lstStyle/>
              <a:p>
                <a:r>
                  <a:rPr lang="en-IN" dirty="0"/>
                  <a:t>{0.78, 0.43, 0.34, 0.84}</a:t>
                </a:r>
              </a:p>
            </p:txBody>
          </p:sp>
          <p:sp>
            <p:nvSpPr>
              <p:cNvPr id="15" name="TextBox 14"/>
              <p:cNvSpPr txBox="1"/>
              <p:nvPr/>
            </p:nvSpPr>
            <p:spPr>
              <a:xfrm>
                <a:off x="5467350" y="3867150"/>
                <a:ext cx="1171575" cy="523220"/>
              </a:xfrm>
              <a:prstGeom prst="rect">
                <a:avLst/>
              </a:prstGeom>
              <a:solidFill>
                <a:schemeClr val="accent5">
                  <a:lumMod val="20000"/>
                  <a:lumOff val="80000"/>
                </a:schemeClr>
              </a:solidFill>
              <a:ln>
                <a:noFill/>
              </a:ln>
            </p:spPr>
            <p:txBody>
              <a:bodyPr wrap="square" rtlCol="0">
                <a:spAutoFit/>
              </a:bodyPr>
              <a:lstStyle/>
              <a:p>
                <a:r>
                  <a:rPr lang="en-IN" dirty="0"/>
                  <a:t>{0.68, 0.24, 0.98, 0.01}</a:t>
                </a:r>
              </a:p>
            </p:txBody>
          </p:sp>
        </p:grpSp>
        <p:sp>
          <p:nvSpPr>
            <p:cNvPr id="20" name="TextBox 19"/>
            <p:cNvSpPr txBox="1"/>
            <p:nvPr/>
          </p:nvSpPr>
          <p:spPr>
            <a:xfrm>
              <a:off x="7058025" y="1285875"/>
              <a:ext cx="1123949" cy="584775"/>
            </a:xfrm>
            <a:prstGeom prst="rect">
              <a:avLst/>
            </a:prstGeom>
            <a:noFill/>
          </p:spPr>
          <p:txBody>
            <a:bodyPr wrap="square" rtlCol="0">
              <a:spAutoFit/>
            </a:bodyPr>
            <a:lstStyle/>
            <a:p>
              <a:pPr algn="ctr"/>
              <a:r>
                <a:rPr lang="en-IN" sz="1600" b="1" dirty="0">
                  <a:solidFill>
                    <a:schemeClr val="accent4">
                      <a:lumMod val="50000"/>
                    </a:schemeClr>
                  </a:solidFill>
                </a:rPr>
                <a:t>Store</a:t>
              </a:r>
            </a:p>
            <a:p>
              <a:pPr algn="ctr"/>
              <a:endParaRPr lang="en-IN" sz="1600" b="1" dirty="0"/>
            </a:p>
          </p:txBody>
        </p:sp>
        <p:grpSp>
          <p:nvGrpSpPr>
            <p:cNvPr id="41" name="Group 40"/>
            <p:cNvGrpSpPr/>
            <p:nvPr/>
          </p:nvGrpSpPr>
          <p:grpSpPr>
            <a:xfrm>
              <a:off x="381000" y="1285875"/>
              <a:ext cx="1247775" cy="3008096"/>
              <a:chOff x="381000" y="1285875"/>
              <a:chExt cx="1247775" cy="3008096"/>
            </a:xfrm>
          </p:grpSpPr>
          <p:sp>
            <p:nvSpPr>
              <p:cNvPr id="21" name="TextBox 20"/>
              <p:cNvSpPr txBox="1"/>
              <p:nvPr/>
            </p:nvSpPr>
            <p:spPr>
              <a:xfrm>
                <a:off x="381000" y="1285875"/>
                <a:ext cx="1247775" cy="584775"/>
              </a:xfrm>
              <a:prstGeom prst="rect">
                <a:avLst/>
              </a:prstGeom>
              <a:noFill/>
              <a:ln>
                <a:noFill/>
              </a:ln>
            </p:spPr>
            <p:txBody>
              <a:bodyPr wrap="square" rtlCol="0">
                <a:spAutoFit/>
              </a:bodyPr>
              <a:lstStyle/>
              <a:p>
                <a:pPr algn="ctr"/>
                <a:r>
                  <a:rPr lang="en-IN" sz="1600" b="1" dirty="0">
                    <a:solidFill>
                      <a:srgbClr val="00B050"/>
                    </a:solidFill>
                  </a:rPr>
                  <a:t>Document Sources</a:t>
                </a:r>
                <a:r>
                  <a:rPr lang="en-IN" sz="1600" b="1" dirty="0"/>
                  <a:t> </a:t>
                </a:r>
              </a:p>
            </p:txBody>
          </p:sp>
          <p:sp>
            <p:nvSpPr>
              <p:cNvPr id="22" name="Google Shape;9537;p62"/>
              <p:cNvSpPr/>
              <p:nvPr/>
            </p:nvSpPr>
            <p:spPr>
              <a:xfrm>
                <a:off x="478448" y="2164148"/>
                <a:ext cx="300792" cy="338725"/>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chemeClr val="accent6">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23" name="Google Shape;9553;p62"/>
              <p:cNvGrpSpPr/>
              <p:nvPr/>
            </p:nvGrpSpPr>
            <p:grpSpPr>
              <a:xfrm>
                <a:off x="506199" y="2707041"/>
                <a:ext cx="323587" cy="320242"/>
                <a:chOff x="3282325" y="2035675"/>
                <a:chExt cx="459575" cy="454825"/>
              </a:xfrm>
              <a:solidFill>
                <a:schemeClr val="accent5">
                  <a:lumMod val="50000"/>
                </a:schemeClr>
              </a:solidFill>
            </p:grpSpPr>
            <p:sp>
              <p:nvSpPr>
                <p:cNvPr id="24" name="Google Shape;9554;p62"/>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5" name="Google Shape;9555;p62"/>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6" name="Google Shape;9556;p62"/>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7" name="Google Shape;9557;p62"/>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28" name="Google Shape;11371;p68"/>
              <p:cNvSpPr/>
              <p:nvPr/>
            </p:nvSpPr>
            <p:spPr>
              <a:xfrm>
                <a:off x="490382" y="3342241"/>
                <a:ext cx="420796" cy="295690"/>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chemeClr val="accent4">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1574;p68"/>
              <p:cNvSpPr/>
              <p:nvPr/>
            </p:nvSpPr>
            <p:spPr>
              <a:xfrm>
                <a:off x="1072349" y="2704103"/>
                <a:ext cx="409401" cy="333886"/>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accent2">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11575;p68"/>
              <p:cNvGrpSpPr/>
              <p:nvPr/>
            </p:nvGrpSpPr>
            <p:grpSpPr>
              <a:xfrm>
                <a:off x="1082870" y="2105368"/>
                <a:ext cx="408023" cy="407411"/>
                <a:chOff x="2344476" y="2571761"/>
                <a:chExt cx="417671" cy="417045"/>
              </a:xfrm>
              <a:solidFill>
                <a:schemeClr val="accent1">
                  <a:lumMod val="50000"/>
                </a:schemeClr>
              </a:solidFill>
            </p:grpSpPr>
            <p:sp>
              <p:nvSpPr>
                <p:cNvPr id="31" name="Google Shape;11576;p68"/>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1577;p68"/>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 name="Google Shape;11341;p68"/>
              <p:cNvGrpSpPr/>
              <p:nvPr/>
            </p:nvGrpSpPr>
            <p:grpSpPr>
              <a:xfrm>
                <a:off x="1149905" y="3311987"/>
                <a:ext cx="426462" cy="420796"/>
                <a:chOff x="-6713450" y="2397900"/>
                <a:chExt cx="295375" cy="291450"/>
              </a:xfrm>
              <a:solidFill>
                <a:schemeClr val="accent2">
                  <a:lumMod val="75000"/>
                </a:schemeClr>
              </a:solidFill>
            </p:grpSpPr>
            <p:sp>
              <p:nvSpPr>
                <p:cNvPr id="34" name="Google Shape;11342;p68"/>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1343;p68"/>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 name="Google Shape;11352;p68"/>
              <p:cNvGrpSpPr/>
              <p:nvPr/>
            </p:nvGrpSpPr>
            <p:grpSpPr>
              <a:xfrm>
                <a:off x="485690" y="3923239"/>
                <a:ext cx="420796" cy="370732"/>
                <a:chOff x="-3137650" y="2067900"/>
                <a:chExt cx="291450" cy="256775"/>
              </a:xfrm>
              <a:solidFill>
                <a:schemeClr val="accent5">
                  <a:lumMod val="75000"/>
                </a:schemeClr>
              </a:solidFill>
            </p:grpSpPr>
            <p:sp>
              <p:nvSpPr>
                <p:cNvPr id="37" name="Google Shape;11353;p68"/>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354;p68"/>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355;p68"/>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10320;p64"/>
              <p:cNvSpPr/>
              <p:nvPr/>
            </p:nvSpPr>
            <p:spPr>
              <a:xfrm>
                <a:off x="1132949" y="3941800"/>
                <a:ext cx="348542" cy="348513"/>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chemeClr val="accent6">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3" name="Straight Arrow Connector 42"/>
            <p:cNvCxnSpPr/>
            <p:nvPr/>
          </p:nvCxnSpPr>
          <p:spPr>
            <a:xfrm>
              <a:off x="1552575" y="3152775"/>
              <a:ext cx="428625" cy="11113"/>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45" name="Straight Arrow Connector 44"/>
            <p:cNvCxnSpPr/>
            <p:nvPr/>
          </p:nvCxnSpPr>
          <p:spPr>
            <a:xfrm>
              <a:off x="3267075" y="3162300"/>
              <a:ext cx="428625" cy="11113"/>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46" name="Straight Arrow Connector 45"/>
            <p:cNvCxnSpPr/>
            <p:nvPr/>
          </p:nvCxnSpPr>
          <p:spPr>
            <a:xfrm>
              <a:off x="4981575" y="3171825"/>
              <a:ext cx="428625" cy="11113"/>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47" name="Straight Arrow Connector 46"/>
            <p:cNvCxnSpPr/>
            <p:nvPr/>
          </p:nvCxnSpPr>
          <p:spPr>
            <a:xfrm>
              <a:off x="6715125" y="3181350"/>
              <a:ext cx="428625" cy="11113"/>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grpSp>
          <p:nvGrpSpPr>
            <p:cNvPr id="49" name="Group 48"/>
            <p:cNvGrpSpPr/>
            <p:nvPr/>
          </p:nvGrpSpPr>
          <p:grpSpPr>
            <a:xfrm>
              <a:off x="7200900" y="2647779"/>
              <a:ext cx="979755" cy="1057275"/>
              <a:chOff x="7200900" y="2581275"/>
              <a:chExt cx="979755" cy="1057275"/>
            </a:xfrm>
          </p:grpSpPr>
          <p:sp>
            <p:nvSpPr>
              <p:cNvPr id="19" name="Can 18"/>
              <p:cNvSpPr/>
              <p:nvPr/>
            </p:nvSpPr>
            <p:spPr>
              <a:xfrm>
                <a:off x="7219950" y="2581275"/>
                <a:ext cx="942975" cy="1057275"/>
              </a:xfrm>
              <a:prstGeom prst="can">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8" name="TextBox 47"/>
              <p:cNvSpPr txBox="1"/>
              <p:nvPr/>
            </p:nvSpPr>
            <p:spPr>
              <a:xfrm>
                <a:off x="7200900" y="2943225"/>
                <a:ext cx="979755" cy="523220"/>
              </a:xfrm>
              <a:prstGeom prst="rect">
                <a:avLst/>
              </a:prstGeom>
              <a:noFill/>
            </p:spPr>
            <p:txBody>
              <a:bodyPr wrap="none" rtlCol="0">
                <a:spAutoFit/>
              </a:bodyPr>
              <a:lstStyle/>
              <a:p>
                <a:pPr algn="ctr"/>
                <a:r>
                  <a:rPr lang="en-IN" b="1" dirty="0">
                    <a:solidFill>
                      <a:schemeClr val="accent6">
                        <a:lumMod val="50000"/>
                      </a:schemeClr>
                    </a:solidFill>
                  </a:rPr>
                  <a:t>Vector </a:t>
                </a:r>
              </a:p>
              <a:p>
                <a:pPr algn="ctr"/>
                <a:r>
                  <a:rPr lang="en-IN" b="1" dirty="0">
                    <a:solidFill>
                      <a:schemeClr val="accent6">
                        <a:lumMod val="50000"/>
                      </a:schemeClr>
                    </a:solidFill>
                  </a:rPr>
                  <a:t>Database</a:t>
                </a:r>
              </a:p>
            </p:txBody>
          </p:sp>
        </p:grpSp>
      </p:grpSp>
      <p:sp>
        <p:nvSpPr>
          <p:cNvPr id="42" name="TextBox 41">
            <a:extLst>
              <a:ext uri="{FF2B5EF4-FFF2-40B4-BE49-F238E27FC236}">
                <a16:creationId xmlns:a16="http://schemas.microsoft.com/office/drawing/2014/main" id="{CEA5AA58-5E79-9756-636E-D5CEE56F3AAF}"/>
              </a:ext>
            </a:extLst>
          </p:cNvPr>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a:t>
            </a:r>
            <a:r>
              <a:rPr lang="en-IN" b="1" dirty="0" err="1">
                <a:solidFill>
                  <a:schemeClr val="accent2">
                    <a:lumMod val="50000"/>
                  </a:schemeClr>
                </a:solidFill>
              </a:rPr>
              <a:t>Sahaayak</a:t>
            </a:r>
            <a:r>
              <a:rPr lang="en-IN" b="1" dirty="0">
                <a:solidFill>
                  <a:schemeClr val="accent2">
                    <a:lumMod val="50000"/>
                  </a:schemeClr>
                </a:solidFill>
              </a:rPr>
              <a:t> – Gaurika Gupta, Mohini </a:t>
            </a:r>
            <a:r>
              <a:rPr lang="en-IN" b="1" dirty="0" err="1">
                <a:solidFill>
                  <a:schemeClr val="accent2">
                    <a:lumMod val="50000"/>
                  </a:schemeClr>
                </a:solidFill>
              </a:rPr>
              <a:t>Laghate</a:t>
            </a:r>
            <a:r>
              <a:rPr lang="en-IN" b="1" dirty="0">
                <a:solidFill>
                  <a:schemeClr val="accent2">
                    <a:lumMod val="50000"/>
                  </a:schemeClr>
                </a:solidFill>
              </a:rPr>
              <a:t> &amp; Pritam Shete</a:t>
            </a:r>
          </a:p>
        </p:txBody>
      </p:sp>
    </p:spTree>
    <p:extLst>
      <p:ext uri="{BB962C8B-B14F-4D97-AF65-F5344CB8AC3E}">
        <p14:creationId xmlns:p14="http://schemas.microsoft.com/office/powerpoint/2010/main" val="36666746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628650" y="228602"/>
            <a:ext cx="7886700" cy="1104731"/>
          </a:xfrm>
          <a:noFill/>
        </p:spPr>
        <p:txBody>
          <a:bodyPr anchor="ctr"/>
          <a:lstStyle/>
          <a:p>
            <a:r>
              <a:rPr lang="en-US" dirty="0"/>
              <a:t>Sahaayak – Retrieval Augmented Generation</a:t>
            </a:r>
          </a:p>
        </p:txBody>
      </p:sp>
      <p:grpSp>
        <p:nvGrpSpPr>
          <p:cNvPr id="3" name="Group 2">
            <a:extLst>
              <a:ext uri="{FF2B5EF4-FFF2-40B4-BE49-F238E27FC236}">
                <a16:creationId xmlns:a16="http://schemas.microsoft.com/office/drawing/2014/main" id="{E49B019A-ED66-06D2-F8E5-85D17D377F74}"/>
              </a:ext>
            </a:extLst>
          </p:cNvPr>
          <p:cNvGrpSpPr/>
          <p:nvPr/>
        </p:nvGrpSpPr>
        <p:grpSpPr>
          <a:xfrm>
            <a:off x="917770" y="1285913"/>
            <a:ext cx="6832950" cy="3428345"/>
            <a:chOff x="917770" y="1600200"/>
            <a:chExt cx="6832950" cy="3428345"/>
          </a:xfrm>
        </p:grpSpPr>
        <p:grpSp>
          <p:nvGrpSpPr>
            <p:cNvPr id="41" name="Group 40"/>
            <p:cNvGrpSpPr/>
            <p:nvPr/>
          </p:nvGrpSpPr>
          <p:grpSpPr>
            <a:xfrm>
              <a:off x="917770" y="1600200"/>
              <a:ext cx="6832950" cy="2826252"/>
              <a:chOff x="632020" y="1666875"/>
              <a:chExt cx="6832950" cy="2826252"/>
            </a:xfrm>
          </p:grpSpPr>
          <p:grpSp>
            <p:nvGrpSpPr>
              <p:cNvPr id="4" name="Google Shape;7923;p66"/>
              <p:cNvGrpSpPr/>
              <p:nvPr/>
            </p:nvGrpSpPr>
            <p:grpSpPr>
              <a:xfrm>
                <a:off x="632020" y="1765998"/>
                <a:ext cx="756000" cy="756000"/>
                <a:chOff x="-5971525" y="3273750"/>
                <a:chExt cx="292250" cy="290650"/>
              </a:xfrm>
              <a:solidFill>
                <a:schemeClr val="accent2">
                  <a:lumMod val="75000"/>
                </a:schemeClr>
              </a:solidFill>
            </p:grpSpPr>
            <p:sp>
              <p:nvSpPr>
                <p:cNvPr id="5" name="Google Shape;7924;p66"/>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7925;p66"/>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 name="Google Shape;5463;p61"/>
              <p:cNvGrpSpPr/>
              <p:nvPr/>
            </p:nvGrpSpPr>
            <p:grpSpPr>
              <a:xfrm>
                <a:off x="2889974" y="3737127"/>
                <a:ext cx="756000" cy="756000"/>
                <a:chOff x="-40745125" y="3632900"/>
                <a:chExt cx="318225" cy="289875"/>
              </a:xfrm>
              <a:solidFill>
                <a:schemeClr val="accent6">
                  <a:lumMod val="60000"/>
                  <a:lumOff val="40000"/>
                </a:schemeClr>
              </a:solidFill>
            </p:grpSpPr>
            <p:sp>
              <p:nvSpPr>
                <p:cNvPr id="10" name="Google Shape;5464;p61"/>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65;p61"/>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66;p61"/>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67;p61"/>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5468;p61"/>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5469;p61"/>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5470;p61"/>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 name="Google Shape;7169;p64"/>
              <p:cNvGrpSpPr/>
              <p:nvPr/>
            </p:nvGrpSpPr>
            <p:grpSpPr>
              <a:xfrm>
                <a:off x="4681999" y="1727050"/>
                <a:ext cx="756000" cy="756000"/>
                <a:chOff x="-44512325" y="3176075"/>
                <a:chExt cx="300900" cy="300900"/>
              </a:xfrm>
              <a:solidFill>
                <a:schemeClr val="accent5">
                  <a:lumMod val="75000"/>
                </a:schemeClr>
              </a:solidFill>
            </p:grpSpPr>
            <p:sp>
              <p:nvSpPr>
                <p:cNvPr id="18" name="Google Shape;7170;p64"/>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7171;p64"/>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7172;p64"/>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7923;p66"/>
              <p:cNvGrpSpPr/>
              <p:nvPr/>
            </p:nvGrpSpPr>
            <p:grpSpPr>
              <a:xfrm>
                <a:off x="6708970" y="1727898"/>
                <a:ext cx="756000" cy="756000"/>
                <a:chOff x="-5971525" y="3273750"/>
                <a:chExt cx="292250" cy="290650"/>
              </a:xfrm>
              <a:solidFill>
                <a:schemeClr val="accent2">
                  <a:lumMod val="75000"/>
                </a:schemeClr>
              </a:solidFill>
            </p:grpSpPr>
            <p:sp>
              <p:nvSpPr>
                <p:cNvPr id="22" name="Google Shape;7924;p66"/>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7925;p66"/>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5852;p62"/>
              <p:cNvGrpSpPr/>
              <p:nvPr/>
            </p:nvGrpSpPr>
            <p:grpSpPr>
              <a:xfrm>
                <a:off x="2800877" y="1748141"/>
                <a:ext cx="756000" cy="756000"/>
                <a:chOff x="-60988625" y="3740800"/>
                <a:chExt cx="316650" cy="310350"/>
              </a:xfrm>
              <a:solidFill>
                <a:schemeClr val="accent4">
                  <a:lumMod val="75000"/>
                </a:schemeClr>
              </a:solidFill>
            </p:grpSpPr>
            <p:sp>
              <p:nvSpPr>
                <p:cNvPr id="25" name="Google Shape;5853;p62"/>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5854;p62"/>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5855;p62"/>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Box 34"/>
              <p:cNvSpPr txBox="1"/>
              <p:nvPr/>
            </p:nvSpPr>
            <p:spPr>
              <a:xfrm>
                <a:off x="1562100" y="1695450"/>
                <a:ext cx="1074333" cy="338554"/>
              </a:xfrm>
              <a:prstGeom prst="rect">
                <a:avLst/>
              </a:prstGeom>
              <a:noFill/>
            </p:spPr>
            <p:txBody>
              <a:bodyPr wrap="none" rtlCol="0">
                <a:spAutoFit/>
              </a:bodyPr>
              <a:lstStyle/>
              <a:p>
                <a:r>
                  <a:rPr lang="en-IN" sz="1600" b="1" dirty="0">
                    <a:solidFill>
                      <a:schemeClr val="accent5">
                        <a:lumMod val="75000"/>
                      </a:schemeClr>
                    </a:solidFill>
                  </a:rPr>
                  <a:t>Question</a:t>
                </a:r>
              </a:p>
            </p:txBody>
          </p:sp>
          <p:sp>
            <p:nvSpPr>
              <p:cNvPr id="36" name="TextBox 35"/>
              <p:cNvSpPr txBox="1"/>
              <p:nvPr/>
            </p:nvSpPr>
            <p:spPr>
              <a:xfrm>
                <a:off x="3657600" y="1685925"/>
                <a:ext cx="902811" cy="338554"/>
              </a:xfrm>
              <a:prstGeom prst="rect">
                <a:avLst/>
              </a:prstGeom>
              <a:noFill/>
            </p:spPr>
            <p:txBody>
              <a:bodyPr wrap="none" rtlCol="0">
                <a:spAutoFit/>
              </a:bodyPr>
              <a:lstStyle/>
              <a:p>
                <a:r>
                  <a:rPr lang="en-IN" sz="1600" b="1" dirty="0">
                    <a:solidFill>
                      <a:schemeClr val="accent5">
                        <a:lumMod val="50000"/>
                      </a:schemeClr>
                    </a:solidFill>
                  </a:rPr>
                  <a:t>Prompt</a:t>
                </a:r>
              </a:p>
            </p:txBody>
          </p:sp>
          <p:sp>
            <p:nvSpPr>
              <p:cNvPr id="37" name="TextBox 36"/>
              <p:cNvSpPr txBox="1"/>
              <p:nvPr/>
            </p:nvSpPr>
            <p:spPr>
              <a:xfrm>
                <a:off x="5467350" y="1666875"/>
                <a:ext cx="1162498" cy="338554"/>
              </a:xfrm>
              <a:prstGeom prst="rect">
                <a:avLst/>
              </a:prstGeom>
              <a:noFill/>
            </p:spPr>
            <p:txBody>
              <a:bodyPr wrap="none" rtlCol="0">
                <a:spAutoFit/>
              </a:bodyPr>
              <a:lstStyle/>
              <a:p>
                <a:r>
                  <a:rPr lang="en-IN" sz="1600" b="1" dirty="0">
                    <a:solidFill>
                      <a:schemeClr val="accent4">
                        <a:lumMod val="50000"/>
                      </a:schemeClr>
                    </a:solidFill>
                  </a:rPr>
                  <a:t>Response</a:t>
                </a:r>
              </a:p>
            </p:txBody>
          </p:sp>
          <p:sp>
            <p:nvSpPr>
              <p:cNvPr id="38" name="TextBox 37"/>
              <p:cNvSpPr txBox="1"/>
              <p:nvPr/>
            </p:nvSpPr>
            <p:spPr>
              <a:xfrm>
                <a:off x="1714500" y="2800350"/>
                <a:ext cx="1109599" cy="584775"/>
              </a:xfrm>
              <a:prstGeom prst="rect">
                <a:avLst/>
              </a:prstGeom>
              <a:noFill/>
            </p:spPr>
            <p:txBody>
              <a:bodyPr wrap="none" rtlCol="0">
                <a:spAutoFit/>
              </a:bodyPr>
              <a:lstStyle/>
              <a:p>
                <a:pPr algn="ctr"/>
                <a:r>
                  <a:rPr lang="en-IN" sz="1600" b="1" dirty="0">
                    <a:solidFill>
                      <a:schemeClr val="accent2">
                        <a:lumMod val="50000"/>
                      </a:schemeClr>
                    </a:solidFill>
                  </a:rPr>
                  <a:t>Retrieval </a:t>
                </a:r>
              </a:p>
              <a:p>
                <a:pPr algn="ctr"/>
                <a:r>
                  <a:rPr lang="en-IN" sz="1600" b="1" dirty="0">
                    <a:solidFill>
                      <a:schemeClr val="accent2">
                        <a:lumMod val="50000"/>
                      </a:schemeClr>
                    </a:solidFill>
                  </a:rPr>
                  <a:t>Query</a:t>
                </a:r>
              </a:p>
            </p:txBody>
          </p:sp>
          <p:sp>
            <p:nvSpPr>
              <p:cNvPr id="39" name="TextBox 38"/>
              <p:cNvSpPr txBox="1"/>
              <p:nvPr/>
            </p:nvSpPr>
            <p:spPr>
              <a:xfrm>
                <a:off x="3552825" y="2886075"/>
                <a:ext cx="1176924" cy="584775"/>
              </a:xfrm>
              <a:prstGeom prst="rect">
                <a:avLst/>
              </a:prstGeom>
              <a:noFill/>
            </p:spPr>
            <p:txBody>
              <a:bodyPr wrap="none" rtlCol="0">
                <a:spAutoFit/>
              </a:bodyPr>
              <a:lstStyle/>
              <a:p>
                <a:pPr algn="ctr"/>
                <a:r>
                  <a:rPr lang="en-IN" sz="1600" b="1" dirty="0">
                    <a:solidFill>
                      <a:schemeClr val="accent2">
                        <a:lumMod val="50000"/>
                      </a:schemeClr>
                    </a:solidFill>
                  </a:rPr>
                  <a:t>Retrieved </a:t>
                </a:r>
              </a:p>
              <a:p>
                <a:pPr algn="ctr"/>
                <a:r>
                  <a:rPr lang="en-IN" sz="1600" b="1" dirty="0">
                    <a:solidFill>
                      <a:schemeClr val="accent2">
                        <a:lumMod val="50000"/>
                      </a:schemeClr>
                    </a:solidFill>
                  </a:rPr>
                  <a:t>Texts</a:t>
                </a:r>
              </a:p>
            </p:txBody>
          </p:sp>
          <p:cxnSp>
            <p:nvCxnSpPr>
              <p:cNvPr id="31" name="Straight Arrow Connector 30"/>
              <p:cNvCxnSpPr/>
              <p:nvPr/>
            </p:nvCxnSpPr>
            <p:spPr>
              <a:xfrm>
                <a:off x="1657350" y="2143125"/>
                <a:ext cx="885825" cy="1588"/>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32" name="Straight Arrow Connector 31"/>
              <p:cNvCxnSpPr/>
              <p:nvPr/>
            </p:nvCxnSpPr>
            <p:spPr>
              <a:xfrm>
                <a:off x="3714750" y="2133600"/>
                <a:ext cx="885825" cy="1588"/>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33" name="Straight Arrow Connector 32"/>
              <p:cNvCxnSpPr/>
              <p:nvPr/>
            </p:nvCxnSpPr>
            <p:spPr>
              <a:xfrm>
                <a:off x="5600700" y="2133600"/>
                <a:ext cx="885825" cy="1588"/>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34" name="Straight Arrow Connector 33"/>
              <p:cNvCxnSpPr/>
              <p:nvPr/>
            </p:nvCxnSpPr>
            <p:spPr>
              <a:xfrm>
                <a:off x="2924175" y="3048000"/>
                <a:ext cx="885825" cy="1588"/>
              </a:xfrm>
              <a:prstGeom prst="straightConnector1">
                <a:avLst/>
              </a:prstGeom>
              <a:ln w="38100">
                <a:tailEnd type="arrow"/>
              </a:ln>
              <a:scene3d>
                <a:camera prst="orthographicFront">
                  <a:rot lat="0" lon="0" rev="5400000"/>
                </a:camera>
                <a:lightRig rig="threePt" dir="t"/>
              </a:scene3d>
            </p:spPr>
            <p:style>
              <a:lnRef idx="2">
                <a:schemeClr val="accent1"/>
              </a:lnRef>
              <a:fillRef idx="0">
                <a:schemeClr val="accent1"/>
              </a:fillRef>
              <a:effectRef idx="1">
                <a:schemeClr val="accent1"/>
              </a:effectRef>
              <a:fontRef idx="minor">
                <a:schemeClr val="tx1"/>
              </a:fontRef>
            </p:style>
          </p:cxnSp>
          <p:cxnSp>
            <p:nvCxnSpPr>
              <p:cNvPr id="40" name="Straight Arrow Connector 39"/>
              <p:cNvCxnSpPr/>
              <p:nvPr/>
            </p:nvCxnSpPr>
            <p:spPr>
              <a:xfrm>
                <a:off x="2438400" y="3238500"/>
                <a:ext cx="885825" cy="1588"/>
              </a:xfrm>
              <a:prstGeom prst="straightConnector1">
                <a:avLst/>
              </a:prstGeom>
              <a:ln w="38100">
                <a:tailEnd type="arrow"/>
              </a:ln>
              <a:scene3d>
                <a:camera prst="orthographicFront">
                  <a:rot lat="0" lon="0" rev="16200000"/>
                </a:camera>
                <a:lightRig rig="threePt" dir="t"/>
              </a:scene3d>
            </p:spPr>
            <p:style>
              <a:lnRef idx="2">
                <a:schemeClr val="accent1"/>
              </a:lnRef>
              <a:fillRef idx="0">
                <a:schemeClr val="accent1"/>
              </a:fillRef>
              <a:effectRef idx="1">
                <a:schemeClr val="accent1"/>
              </a:effectRef>
              <a:fontRef idx="minor">
                <a:schemeClr val="tx1"/>
              </a:fontRef>
            </p:style>
          </p:cxnSp>
        </p:grpSp>
        <p:sp>
          <p:nvSpPr>
            <p:cNvPr id="42" name="TextBox 41"/>
            <p:cNvSpPr txBox="1"/>
            <p:nvPr/>
          </p:nvSpPr>
          <p:spPr>
            <a:xfrm>
              <a:off x="3038475" y="4505325"/>
              <a:ext cx="979755" cy="523220"/>
            </a:xfrm>
            <a:prstGeom prst="rect">
              <a:avLst/>
            </a:prstGeom>
            <a:noFill/>
          </p:spPr>
          <p:txBody>
            <a:bodyPr wrap="none" rtlCol="0">
              <a:spAutoFit/>
            </a:bodyPr>
            <a:lstStyle/>
            <a:p>
              <a:pPr algn="ctr"/>
              <a:r>
                <a:rPr lang="en-IN" b="1" dirty="0">
                  <a:solidFill>
                    <a:schemeClr val="accent6">
                      <a:lumMod val="50000"/>
                    </a:schemeClr>
                  </a:solidFill>
                </a:rPr>
                <a:t>Vector </a:t>
              </a:r>
            </a:p>
            <a:p>
              <a:pPr algn="ctr"/>
              <a:r>
                <a:rPr lang="en-IN" b="1" dirty="0">
                  <a:solidFill>
                    <a:schemeClr val="accent6">
                      <a:lumMod val="50000"/>
                    </a:schemeClr>
                  </a:solidFill>
                </a:rPr>
                <a:t>Database</a:t>
              </a:r>
            </a:p>
          </p:txBody>
        </p:sp>
        <p:sp>
          <p:nvSpPr>
            <p:cNvPr id="43" name="TextBox 42"/>
            <p:cNvSpPr txBox="1"/>
            <p:nvPr/>
          </p:nvSpPr>
          <p:spPr>
            <a:xfrm>
              <a:off x="5069872" y="2571750"/>
              <a:ext cx="551754" cy="307777"/>
            </a:xfrm>
            <a:prstGeom prst="rect">
              <a:avLst/>
            </a:prstGeom>
            <a:noFill/>
          </p:spPr>
          <p:txBody>
            <a:bodyPr wrap="none" rtlCol="0">
              <a:spAutoFit/>
            </a:bodyPr>
            <a:lstStyle/>
            <a:p>
              <a:pPr algn="ctr"/>
              <a:r>
                <a:rPr lang="en-IN" b="1" dirty="0">
                  <a:solidFill>
                    <a:schemeClr val="accent5">
                      <a:lumMod val="50000"/>
                    </a:schemeClr>
                  </a:solidFill>
                </a:rPr>
                <a:t>LLM</a:t>
              </a:r>
            </a:p>
          </p:txBody>
        </p:sp>
      </p:grpSp>
      <p:sp>
        <p:nvSpPr>
          <p:cNvPr id="8" name="TextBox 7">
            <a:extLst>
              <a:ext uri="{FF2B5EF4-FFF2-40B4-BE49-F238E27FC236}">
                <a16:creationId xmlns:a16="http://schemas.microsoft.com/office/drawing/2014/main" id="{5F862C2B-E72E-62FA-0A90-95337F2AD4AA}"/>
              </a:ext>
            </a:extLst>
          </p:cNvPr>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a:t>
            </a:r>
            <a:r>
              <a:rPr lang="en-IN" b="1" dirty="0" err="1">
                <a:solidFill>
                  <a:schemeClr val="accent2">
                    <a:lumMod val="50000"/>
                  </a:schemeClr>
                </a:solidFill>
              </a:rPr>
              <a:t>Sahaayak</a:t>
            </a:r>
            <a:r>
              <a:rPr lang="en-IN" b="1" dirty="0">
                <a:solidFill>
                  <a:schemeClr val="accent2">
                    <a:lumMod val="50000"/>
                  </a:schemeClr>
                </a:solidFill>
              </a:rPr>
              <a:t> – Gaurika Gupta, Mohini </a:t>
            </a:r>
            <a:r>
              <a:rPr lang="en-IN" b="1" dirty="0" err="1">
                <a:solidFill>
                  <a:schemeClr val="accent2">
                    <a:lumMod val="50000"/>
                  </a:schemeClr>
                </a:solidFill>
              </a:rPr>
              <a:t>Laghate</a:t>
            </a:r>
            <a:r>
              <a:rPr lang="en-IN" b="1" dirty="0">
                <a:solidFill>
                  <a:schemeClr val="accent2">
                    <a:lumMod val="50000"/>
                  </a:schemeClr>
                </a:solidFill>
              </a:rPr>
              <a:t> &amp; Pritam Shete</a:t>
            </a:r>
          </a:p>
        </p:txBody>
      </p:sp>
    </p:spTree>
    <p:extLst>
      <p:ext uri="{BB962C8B-B14F-4D97-AF65-F5344CB8AC3E}">
        <p14:creationId xmlns:p14="http://schemas.microsoft.com/office/powerpoint/2010/main" val="36666746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628650" y="273844"/>
            <a:ext cx="7886700" cy="994172"/>
          </a:xfrm>
          <a:noFill/>
        </p:spPr>
        <p:txBody>
          <a:bodyPr anchor="ctr"/>
          <a:lstStyle/>
          <a:p>
            <a:r>
              <a:rPr lang="en-US" dirty="0"/>
              <a:t>Sahaayak – BARC Documents</a:t>
            </a:r>
          </a:p>
        </p:txBody>
      </p:sp>
      <p:sp>
        <p:nvSpPr>
          <p:cNvPr id="7" name="Content Placeholder 2">
            <a:extLst>
              <a:ext uri="{FF2B5EF4-FFF2-40B4-BE49-F238E27FC236}">
                <a16:creationId xmlns:a16="http://schemas.microsoft.com/office/drawing/2014/main" id="{68A5FD2B-E3E5-1C2B-0151-21F216B14A33}"/>
              </a:ext>
            </a:extLst>
          </p:cNvPr>
          <p:cNvSpPr>
            <a:spLocks noGrp="1"/>
          </p:cNvSpPr>
          <p:nvPr>
            <p:ph sz="half" idx="4294967295"/>
          </p:nvPr>
        </p:nvSpPr>
        <p:spPr>
          <a:xfrm>
            <a:off x="628651" y="1369219"/>
            <a:ext cx="3686372" cy="3223260"/>
          </a:xfrm>
          <a:prstGeom prst="rect">
            <a:avLst/>
          </a:prstGeom>
          <a:noFill/>
        </p:spPr>
        <p:txBody>
          <a:bodyPr>
            <a:normAutofit fontScale="62500" lnSpcReduction="20000"/>
          </a:bodyPr>
          <a:lstStyle/>
          <a:p>
            <a:pPr marL="0" indent="0" algn="just">
              <a:lnSpc>
                <a:spcPct val="120000"/>
              </a:lnSpc>
              <a:spcBef>
                <a:spcPts val="400"/>
              </a:spcBef>
              <a:spcAft>
                <a:spcPts val="400"/>
              </a:spcAft>
              <a:buNone/>
            </a:pPr>
            <a:r>
              <a:rPr lang="en-IN" sz="1800" b="1" dirty="0">
                <a:solidFill>
                  <a:schemeClr val="accent5">
                    <a:lumMod val="50000"/>
                  </a:schemeClr>
                </a:solidFill>
              </a:rPr>
              <a:t>[INST]</a:t>
            </a:r>
          </a:p>
          <a:p>
            <a:pPr marL="0" indent="0" algn="just">
              <a:lnSpc>
                <a:spcPct val="120000"/>
              </a:lnSpc>
              <a:spcBef>
                <a:spcPts val="400"/>
              </a:spcBef>
              <a:spcAft>
                <a:spcPts val="400"/>
              </a:spcAft>
              <a:buNone/>
            </a:pPr>
            <a:r>
              <a:rPr lang="en-IN" sz="1800" b="1" dirty="0">
                <a:solidFill>
                  <a:schemeClr val="accent5">
                    <a:lumMod val="50000"/>
                  </a:schemeClr>
                </a:solidFill>
              </a:rPr>
              <a:t>&lt;&lt;SYS&gt;&gt; You are a helpful, respectful, and honest assistant. … If you don't know the answer to a question, please don't share false information. &lt;&lt;/SYS&gt;&gt;</a:t>
            </a:r>
          </a:p>
          <a:p>
            <a:pPr marL="0" indent="0" algn="just">
              <a:lnSpc>
                <a:spcPct val="120000"/>
              </a:lnSpc>
              <a:spcBef>
                <a:spcPts val="400"/>
              </a:spcBef>
              <a:spcAft>
                <a:spcPts val="400"/>
              </a:spcAft>
              <a:buNone/>
            </a:pPr>
            <a:r>
              <a:rPr lang="en-IN" sz="1800" b="1" dirty="0">
                <a:solidFill>
                  <a:schemeClr val="accent6">
                    <a:lumMod val="75000"/>
                  </a:schemeClr>
                </a:solidFill>
              </a:rPr>
              <a:t>CONTEXT:</a:t>
            </a:r>
          </a:p>
          <a:p>
            <a:pPr marL="0" indent="0" algn="just">
              <a:lnSpc>
                <a:spcPct val="120000"/>
              </a:lnSpc>
              <a:spcBef>
                <a:spcPts val="400"/>
              </a:spcBef>
              <a:spcAft>
                <a:spcPts val="400"/>
              </a:spcAft>
              <a:buNone/>
            </a:pPr>
            <a:r>
              <a:rPr lang="en-IN" sz="1800" b="1" dirty="0">
                <a:solidFill>
                  <a:schemeClr val="accent6">
                    <a:lumMod val="75000"/>
                  </a:schemeClr>
                </a:solidFill>
              </a:rPr>
              <a:t>Magnesium -18's Unique Decay Process: …</a:t>
            </a:r>
          </a:p>
          <a:p>
            <a:pPr marL="0" indent="0" algn="just">
              <a:lnSpc>
                <a:spcPct val="120000"/>
              </a:lnSpc>
              <a:spcBef>
                <a:spcPts val="400"/>
              </a:spcBef>
              <a:spcAft>
                <a:spcPts val="400"/>
              </a:spcAft>
              <a:buNone/>
            </a:pPr>
            <a:r>
              <a:rPr lang="en-IN" sz="1800" b="1" dirty="0">
                <a:solidFill>
                  <a:schemeClr val="accent6">
                    <a:lumMod val="75000"/>
                  </a:schemeClr>
                </a:solidFill>
              </a:rPr>
              <a:t>provides not only new academic insights but also practical solutions …</a:t>
            </a:r>
          </a:p>
          <a:p>
            <a:pPr marL="0" indent="0" algn="just">
              <a:lnSpc>
                <a:spcPct val="120000"/>
              </a:lnSpc>
              <a:spcBef>
                <a:spcPts val="400"/>
              </a:spcBef>
              <a:spcAft>
                <a:spcPts val="400"/>
              </a:spcAft>
              <a:buNone/>
            </a:pPr>
            <a:r>
              <a:rPr lang="en-IN" sz="1800" b="1" dirty="0">
                <a:solidFill>
                  <a:schemeClr val="accent6">
                    <a:lumMod val="75000"/>
                  </a:schemeClr>
                </a:solidFill>
              </a:rPr>
              <a:t>Collaboration Identifies Rare Nuclear Decay in Long -Lived …</a:t>
            </a:r>
          </a:p>
          <a:p>
            <a:pPr marL="0" indent="0" algn="just">
              <a:lnSpc>
                <a:spcPct val="120000"/>
              </a:lnSpc>
              <a:spcBef>
                <a:spcPts val="400"/>
              </a:spcBef>
              <a:spcAft>
                <a:spcPts val="400"/>
              </a:spcAft>
              <a:buNone/>
            </a:pPr>
            <a:r>
              <a:rPr lang="en-IN" sz="1800" b="1" dirty="0">
                <a:solidFill>
                  <a:schemeClr val="accent5">
                    <a:lumMod val="50000"/>
                  </a:schemeClr>
                </a:solidFill>
              </a:rPr>
              <a:t>Question: Describe decay process of Magnesium-18.</a:t>
            </a:r>
          </a:p>
          <a:p>
            <a:pPr marL="0" indent="0" algn="just">
              <a:lnSpc>
                <a:spcPct val="120000"/>
              </a:lnSpc>
              <a:spcBef>
                <a:spcPts val="400"/>
              </a:spcBef>
              <a:spcAft>
                <a:spcPts val="400"/>
              </a:spcAft>
              <a:buNone/>
            </a:pPr>
            <a:r>
              <a:rPr lang="en-IN" sz="1800" b="1" dirty="0">
                <a:solidFill>
                  <a:schemeClr val="accent5">
                    <a:lumMod val="50000"/>
                  </a:schemeClr>
                </a:solidFill>
              </a:rPr>
              <a:t>[/INST]</a:t>
            </a:r>
            <a:endParaRPr lang="en-US" sz="1800" b="1" dirty="0">
              <a:solidFill>
                <a:schemeClr val="accent5">
                  <a:lumMod val="50000"/>
                </a:schemeClr>
              </a:solidFill>
            </a:endParaRPr>
          </a:p>
        </p:txBody>
      </p:sp>
      <p:sp>
        <p:nvSpPr>
          <p:cNvPr id="9" name="TextBox 8"/>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a:t>
            </a:r>
            <a:r>
              <a:rPr lang="en-IN" b="1" dirty="0" err="1">
                <a:solidFill>
                  <a:schemeClr val="accent2">
                    <a:lumMod val="50000"/>
                  </a:schemeClr>
                </a:solidFill>
              </a:rPr>
              <a:t>TheBloke</a:t>
            </a:r>
            <a:r>
              <a:rPr lang="en-IN" b="1" dirty="0">
                <a:solidFill>
                  <a:schemeClr val="accent2">
                    <a:lumMod val="50000"/>
                  </a:schemeClr>
                </a:solidFill>
              </a:rPr>
              <a:t>/Llama-2-13B-chat-GPTQ</a:t>
            </a:r>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4294967295"/>
          </p:nvPr>
        </p:nvSpPr>
        <p:spPr>
          <a:xfrm>
            <a:off x="4610922" y="1362687"/>
            <a:ext cx="3909060" cy="3223260"/>
          </a:xfrm>
          <a:prstGeom prst="rect">
            <a:avLst/>
          </a:prstGeom>
          <a:noFill/>
        </p:spPr>
        <p:txBody>
          <a:bodyPr>
            <a:normAutofit fontScale="92500" lnSpcReduction="10000"/>
          </a:bodyPr>
          <a:lstStyle/>
          <a:p>
            <a:pPr marL="0" indent="0" algn="just">
              <a:lnSpc>
                <a:spcPct val="100000"/>
              </a:lnSpc>
              <a:spcBef>
                <a:spcPts val="300"/>
              </a:spcBef>
              <a:spcAft>
                <a:spcPts val="300"/>
              </a:spcAft>
              <a:buNone/>
            </a:pPr>
            <a:r>
              <a:rPr lang="en-IN" sz="1600" b="1" dirty="0">
                <a:solidFill>
                  <a:schemeClr val="accent4">
                    <a:lumMod val="50000"/>
                  </a:schemeClr>
                </a:solidFill>
              </a:rPr>
              <a:t>Sure! Based on the provided context, Magnesium-18 undergoes a unique multi-proton decay process, where it sequentially emits two proton pairs. …</a:t>
            </a:r>
          </a:p>
          <a:p>
            <a:pPr marL="0" indent="0" algn="just">
              <a:lnSpc>
                <a:spcPct val="100000"/>
              </a:lnSpc>
              <a:spcBef>
                <a:spcPts val="300"/>
              </a:spcBef>
              <a:spcAft>
                <a:spcPts val="300"/>
              </a:spcAft>
              <a:buNone/>
            </a:pPr>
            <a:r>
              <a:rPr lang="en-IN" sz="1600" b="1" dirty="0">
                <a:solidFill>
                  <a:schemeClr val="accent4">
                    <a:lumMod val="50000"/>
                  </a:schemeClr>
                </a:solidFill>
              </a:rPr>
              <a:t>This process differs from traditional radioactive decay and highlights a complex phenomenon in the quantum world. …</a:t>
            </a:r>
          </a:p>
          <a:p>
            <a:pPr marL="0" indent="0" algn="just">
              <a:lnSpc>
                <a:spcPct val="100000"/>
              </a:lnSpc>
              <a:spcBef>
                <a:spcPts val="300"/>
              </a:spcBef>
              <a:spcAft>
                <a:spcPts val="300"/>
              </a:spcAft>
              <a:buNone/>
            </a:pPr>
            <a:r>
              <a:rPr lang="en-IN" sz="1600" b="1" dirty="0">
                <a:solidFill>
                  <a:schemeClr val="accent4">
                    <a:lumMod val="50000"/>
                  </a:schemeClr>
                </a:solidFill>
              </a:rPr>
              <a:t>The study, published in the journal Nuclear Science and Techniques, provides …</a:t>
            </a:r>
          </a:p>
          <a:p>
            <a:pPr marL="0" indent="0" algn="just">
              <a:lnSpc>
                <a:spcPct val="100000"/>
              </a:lnSpc>
              <a:spcBef>
                <a:spcPts val="300"/>
              </a:spcBef>
              <a:spcAft>
                <a:spcPts val="300"/>
              </a:spcAft>
              <a:buNone/>
            </a:pPr>
            <a:r>
              <a:rPr lang="en-IN" sz="1600" b="1" dirty="0">
                <a:solidFill>
                  <a:schemeClr val="accent4">
                    <a:lumMod val="50000"/>
                  </a:schemeClr>
                </a:solidFill>
              </a:rPr>
              <a:t>To summarize, Magnesium-18 decays through a chain of events, starting with the emission of two proton pairs, followed by the decay of Neon -16, …</a:t>
            </a:r>
          </a:p>
        </p:txBody>
      </p:sp>
    </p:spTree>
    <p:extLst>
      <p:ext uri="{BB962C8B-B14F-4D97-AF65-F5344CB8AC3E}">
        <p14:creationId xmlns:p14="http://schemas.microsoft.com/office/powerpoint/2010/main" val="4146137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628650" y="273844"/>
            <a:ext cx="7886700" cy="994172"/>
          </a:xfrm>
          <a:noFill/>
        </p:spPr>
        <p:txBody>
          <a:bodyPr anchor="ctr"/>
          <a:lstStyle/>
          <a:p>
            <a:r>
              <a:rPr lang="en-US" dirty="0"/>
              <a:t>Sahaayak – BARC Documents</a:t>
            </a:r>
          </a:p>
        </p:txBody>
      </p:sp>
      <p:sp>
        <p:nvSpPr>
          <p:cNvPr id="7" name="Content Placeholder 2">
            <a:extLst>
              <a:ext uri="{FF2B5EF4-FFF2-40B4-BE49-F238E27FC236}">
                <a16:creationId xmlns:a16="http://schemas.microsoft.com/office/drawing/2014/main" id="{68A5FD2B-E3E5-1C2B-0151-21F216B14A33}"/>
              </a:ext>
            </a:extLst>
          </p:cNvPr>
          <p:cNvSpPr>
            <a:spLocks noGrp="1"/>
          </p:cNvSpPr>
          <p:nvPr>
            <p:ph sz="half" idx="4294967295"/>
          </p:nvPr>
        </p:nvSpPr>
        <p:spPr>
          <a:xfrm>
            <a:off x="628651" y="1369219"/>
            <a:ext cx="3686372" cy="3223260"/>
          </a:xfrm>
          <a:prstGeom prst="rect">
            <a:avLst/>
          </a:prstGeom>
          <a:noFill/>
        </p:spPr>
        <p:txBody>
          <a:bodyPr>
            <a:normAutofit/>
          </a:bodyPr>
          <a:lstStyle/>
          <a:p>
            <a:pPr marL="0" indent="0" algn="just">
              <a:lnSpc>
                <a:spcPct val="120000"/>
              </a:lnSpc>
              <a:spcBef>
                <a:spcPts val="400"/>
              </a:spcBef>
              <a:spcAft>
                <a:spcPts val="400"/>
              </a:spcAft>
              <a:buNone/>
            </a:pPr>
            <a:r>
              <a:rPr lang="en-IN" sz="1800" b="1" dirty="0">
                <a:solidFill>
                  <a:schemeClr val="accent5">
                    <a:lumMod val="50000"/>
                  </a:schemeClr>
                </a:solidFill>
              </a:rPr>
              <a:t>Q1. What is PWR?</a:t>
            </a:r>
          </a:p>
          <a:p>
            <a:pPr marL="0" indent="0" algn="just">
              <a:lnSpc>
                <a:spcPct val="120000"/>
              </a:lnSpc>
              <a:spcBef>
                <a:spcPts val="400"/>
              </a:spcBef>
              <a:spcAft>
                <a:spcPts val="400"/>
              </a:spcAft>
              <a:buNone/>
            </a:pPr>
            <a:r>
              <a:rPr lang="en-IN" sz="1400" b="1" dirty="0">
                <a:solidFill>
                  <a:schemeClr val="accent4">
                    <a:lumMod val="50000"/>
                  </a:schemeClr>
                </a:solidFill>
              </a:rPr>
              <a:t>Based on the context text provided, PWR stands for Pressurized Water Reactor. </a:t>
            </a:r>
          </a:p>
          <a:p>
            <a:pPr marL="0" indent="0" algn="just">
              <a:lnSpc>
                <a:spcPct val="120000"/>
              </a:lnSpc>
              <a:spcBef>
                <a:spcPts val="400"/>
              </a:spcBef>
              <a:spcAft>
                <a:spcPts val="400"/>
              </a:spcAft>
              <a:buNone/>
            </a:pPr>
            <a:endParaRPr lang="en-IN" sz="1400" b="1" dirty="0">
              <a:solidFill>
                <a:schemeClr val="accent4">
                  <a:lumMod val="50000"/>
                </a:schemeClr>
              </a:solidFill>
            </a:endParaRPr>
          </a:p>
          <a:p>
            <a:pPr marL="0" indent="0" algn="just">
              <a:lnSpc>
                <a:spcPct val="120000"/>
              </a:lnSpc>
              <a:spcBef>
                <a:spcPts val="400"/>
              </a:spcBef>
              <a:spcAft>
                <a:spcPts val="400"/>
              </a:spcAft>
              <a:buNone/>
            </a:pPr>
            <a:endParaRPr lang="en-IN" sz="1400" b="1" dirty="0">
              <a:solidFill>
                <a:schemeClr val="accent4">
                  <a:lumMod val="50000"/>
                </a:schemeClr>
              </a:solidFill>
            </a:endParaRPr>
          </a:p>
          <a:p>
            <a:pPr marL="0" indent="0" algn="just">
              <a:lnSpc>
                <a:spcPct val="120000"/>
              </a:lnSpc>
              <a:spcBef>
                <a:spcPts val="400"/>
              </a:spcBef>
              <a:spcAft>
                <a:spcPts val="400"/>
              </a:spcAft>
              <a:buNone/>
            </a:pPr>
            <a:r>
              <a:rPr lang="en-IN" sz="1800" b="1" dirty="0">
                <a:solidFill>
                  <a:schemeClr val="accent5">
                    <a:lumMod val="50000"/>
                  </a:schemeClr>
                </a:solidFill>
              </a:rPr>
              <a:t>Q2. What is PHWR?</a:t>
            </a:r>
          </a:p>
          <a:p>
            <a:pPr marL="0" indent="0" algn="just">
              <a:lnSpc>
                <a:spcPct val="120000"/>
              </a:lnSpc>
              <a:spcBef>
                <a:spcPts val="400"/>
              </a:spcBef>
              <a:spcAft>
                <a:spcPts val="400"/>
              </a:spcAft>
              <a:buNone/>
            </a:pPr>
            <a:r>
              <a:rPr lang="en-IN" sz="1400" b="1" dirty="0">
                <a:solidFill>
                  <a:schemeClr val="accent4">
                    <a:lumMod val="50000"/>
                  </a:schemeClr>
                </a:solidFill>
              </a:rPr>
              <a:t>Based on the context text provided, PHWR stands for Pressurized Heavy Water Reactor.</a:t>
            </a:r>
          </a:p>
          <a:p>
            <a:pPr marL="0" indent="0" algn="just">
              <a:lnSpc>
                <a:spcPct val="120000"/>
              </a:lnSpc>
              <a:spcBef>
                <a:spcPts val="400"/>
              </a:spcBef>
              <a:spcAft>
                <a:spcPts val="400"/>
              </a:spcAft>
              <a:buNone/>
            </a:pPr>
            <a:endParaRPr lang="en-IN" sz="1500" b="1" dirty="0">
              <a:solidFill>
                <a:schemeClr val="accent4">
                  <a:lumMod val="50000"/>
                </a:schemeClr>
              </a:solidFill>
            </a:endParaRPr>
          </a:p>
          <a:p>
            <a:pPr marL="0" indent="0" algn="just">
              <a:lnSpc>
                <a:spcPct val="120000"/>
              </a:lnSpc>
              <a:spcBef>
                <a:spcPts val="400"/>
              </a:spcBef>
              <a:spcAft>
                <a:spcPts val="400"/>
              </a:spcAft>
              <a:buNone/>
            </a:pPr>
            <a:endParaRPr lang="en-US" sz="1800" b="1" dirty="0">
              <a:solidFill>
                <a:schemeClr val="accent5">
                  <a:lumMod val="50000"/>
                </a:schemeClr>
              </a:solidFill>
            </a:endParaRPr>
          </a:p>
        </p:txBody>
      </p:sp>
      <p:sp>
        <p:nvSpPr>
          <p:cNvPr id="9" name="TextBox 8"/>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a:t>
            </a:r>
            <a:r>
              <a:rPr lang="en-IN" b="1" dirty="0" err="1">
                <a:solidFill>
                  <a:schemeClr val="accent2">
                    <a:lumMod val="50000"/>
                  </a:schemeClr>
                </a:solidFill>
              </a:rPr>
              <a:t>TheBloke</a:t>
            </a:r>
            <a:r>
              <a:rPr lang="en-IN" b="1" dirty="0">
                <a:solidFill>
                  <a:schemeClr val="accent2">
                    <a:lumMod val="50000"/>
                  </a:schemeClr>
                </a:solidFill>
              </a:rPr>
              <a:t>/Llama-2-13B-chat-GPTQ</a:t>
            </a:r>
          </a:p>
        </p:txBody>
      </p:sp>
      <p:sp>
        <p:nvSpPr>
          <p:cNvPr id="10" name="Content Placeholder 3">
            <a:extLst>
              <a:ext uri="{FF2B5EF4-FFF2-40B4-BE49-F238E27FC236}">
                <a16:creationId xmlns:a16="http://schemas.microsoft.com/office/drawing/2014/main" id="{ACFBB810-3430-2C29-1AA0-9744AA0A1AA3}"/>
              </a:ext>
            </a:extLst>
          </p:cNvPr>
          <p:cNvSpPr>
            <a:spLocks noGrp="1"/>
          </p:cNvSpPr>
          <p:nvPr>
            <p:ph sz="half" idx="4294967295"/>
          </p:nvPr>
        </p:nvSpPr>
        <p:spPr>
          <a:xfrm>
            <a:off x="4610922" y="1362687"/>
            <a:ext cx="3909060" cy="3223260"/>
          </a:xfrm>
          <a:prstGeom prst="rect">
            <a:avLst/>
          </a:prstGeom>
          <a:noFill/>
        </p:spPr>
        <p:txBody>
          <a:bodyPr>
            <a:normAutofit/>
          </a:bodyPr>
          <a:lstStyle/>
          <a:p>
            <a:pPr marL="0" indent="0" algn="just">
              <a:lnSpc>
                <a:spcPct val="120000"/>
              </a:lnSpc>
              <a:spcBef>
                <a:spcPts val="400"/>
              </a:spcBef>
              <a:spcAft>
                <a:spcPts val="400"/>
              </a:spcAft>
              <a:buNone/>
            </a:pPr>
            <a:r>
              <a:rPr lang="en-IN" sz="1800" b="1" dirty="0">
                <a:solidFill>
                  <a:schemeClr val="accent5">
                    <a:lumMod val="50000"/>
                  </a:schemeClr>
                </a:solidFill>
              </a:rPr>
              <a:t>Q3. What is AHWR?</a:t>
            </a:r>
          </a:p>
          <a:p>
            <a:pPr marL="0" indent="0" algn="just">
              <a:lnSpc>
                <a:spcPct val="120000"/>
              </a:lnSpc>
              <a:spcBef>
                <a:spcPts val="400"/>
              </a:spcBef>
              <a:spcAft>
                <a:spcPts val="400"/>
              </a:spcAft>
              <a:buNone/>
            </a:pPr>
            <a:r>
              <a:rPr lang="en-IN" sz="1400" b="1" dirty="0">
                <a:solidFill>
                  <a:schemeClr val="accent4">
                    <a:lumMod val="50000"/>
                  </a:schemeClr>
                </a:solidFill>
              </a:rPr>
              <a:t>Based on the context text provided, AHWR stands for Advanced Heavy Water Reactor.</a:t>
            </a:r>
          </a:p>
          <a:p>
            <a:pPr marL="0" indent="0" algn="just">
              <a:lnSpc>
                <a:spcPct val="120000"/>
              </a:lnSpc>
              <a:spcBef>
                <a:spcPts val="400"/>
              </a:spcBef>
              <a:spcAft>
                <a:spcPts val="400"/>
              </a:spcAft>
              <a:buNone/>
            </a:pPr>
            <a:endParaRPr lang="en-IN" sz="1400" b="1" dirty="0">
              <a:solidFill>
                <a:schemeClr val="accent4">
                  <a:lumMod val="50000"/>
                </a:schemeClr>
              </a:solidFill>
            </a:endParaRPr>
          </a:p>
          <a:p>
            <a:pPr marL="0" indent="0" algn="just">
              <a:lnSpc>
                <a:spcPct val="120000"/>
              </a:lnSpc>
              <a:spcBef>
                <a:spcPts val="400"/>
              </a:spcBef>
              <a:spcAft>
                <a:spcPts val="400"/>
              </a:spcAft>
              <a:buNone/>
            </a:pPr>
            <a:endParaRPr lang="en-IN" sz="1400" b="1" dirty="0">
              <a:solidFill>
                <a:schemeClr val="accent4">
                  <a:lumMod val="50000"/>
                </a:schemeClr>
              </a:solidFill>
            </a:endParaRPr>
          </a:p>
          <a:p>
            <a:pPr marL="0" indent="0" algn="just">
              <a:lnSpc>
                <a:spcPct val="120000"/>
              </a:lnSpc>
              <a:spcBef>
                <a:spcPts val="400"/>
              </a:spcBef>
              <a:spcAft>
                <a:spcPts val="400"/>
              </a:spcAft>
              <a:buNone/>
            </a:pPr>
            <a:r>
              <a:rPr lang="en-IN" sz="1800" b="1" dirty="0">
                <a:solidFill>
                  <a:schemeClr val="accent5">
                    <a:lumMod val="50000"/>
                  </a:schemeClr>
                </a:solidFill>
              </a:rPr>
              <a:t>Q4. What is MSBR?</a:t>
            </a:r>
          </a:p>
          <a:p>
            <a:pPr marL="0" indent="0" algn="just">
              <a:lnSpc>
                <a:spcPct val="120000"/>
              </a:lnSpc>
              <a:spcBef>
                <a:spcPts val="400"/>
              </a:spcBef>
              <a:spcAft>
                <a:spcPts val="400"/>
              </a:spcAft>
              <a:buNone/>
            </a:pPr>
            <a:r>
              <a:rPr lang="en-IN" sz="1400" b="1" dirty="0">
                <a:solidFill>
                  <a:schemeClr val="accent4">
                    <a:lumMod val="50000"/>
                  </a:schemeClr>
                </a:solidFill>
              </a:rPr>
              <a:t>Based on the context provided, MSBR stands for Molten Salt Breeder Reactor.</a:t>
            </a:r>
          </a:p>
        </p:txBody>
      </p:sp>
    </p:spTree>
    <p:extLst>
      <p:ext uri="{BB962C8B-B14F-4D97-AF65-F5344CB8AC3E}">
        <p14:creationId xmlns:p14="http://schemas.microsoft.com/office/powerpoint/2010/main" val="4146137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Pragya – Machine Learning Cluster</a:t>
            </a: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fontScale="92500" lnSpcReduction="20000"/>
          </a:bodyPr>
          <a:lstStyle/>
          <a:p>
            <a:pPr marL="171450" lvl="1">
              <a:spcBef>
                <a:spcPts val="750"/>
              </a:spcBef>
              <a:spcAft>
                <a:spcPts val="600"/>
              </a:spcAft>
              <a:buClr>
                <a:schemeClr val="accent2"/>
              </a:buClr>
            </a:pPr>
            <a:r>
              <a:rPr lang="en-IN" sz="2000" dirty="0"/>
              <a:t>12 workstations</a:t>
            </a:r>
          </a:p>
          <a:p>
            <a:pPr marL="171450" lvl="1">
              <a:spcBef>
                <a:spcPts val="750"/>
              </a:spcBef>
              <a:spcAft>
                <a:spcPts val="600"/>
              </a:spcAft>
              <a:buClr>
                <a:schemeClr val="accent2"/>
              </a:buClr>
            </a:pPr>
            <a:r>
              <a:rPr lang="en-IN" sz="2000" dirty="0"/>
              <a:t>Each workstation </a:t>
            </a:r>
          </a:p>
          <a:p>
            <a:pPr marL="514350" lvl="2">
              <a:spcBef>
                <a:spcPts val="750"/>
              </a:spcBef>
              <a:spcAft>
                <a:spcPts val="600"/>
              </a:spcAft>
              <a:buClr>
                <a:schemeClr val="accent2"/>
              </a:buClr>
            </a:pPr>
            <a:r>
              <a:rPr lang="en-IN" sz="1700" dirty="0"/>
              <a:t>Dual AMD EPYC Processors – 48 cores</a:t>
            </a:r>
          </a:p>
          <a:p>
            <a:pPr marL="514350" lvl="2">
              <a:spcBef>
                <a:spcPts val="750"/>
              </a:spcBef>
              <a:spcAft>
                <a:spcPts val="600"/>
              </a:spcAft>
              <a:buClr>
                <a:schemeClr val="accent2"/>
              </a:buClr>
            </a:pPr>
            <a:r>
              <a:rPr lang="en-IN" sz="1700" dirty="0"/>
              <a:t>4 NVIDIA A100 GPUs</a:t>
            </a:r>
          </a:p>
          <a:p>
            <a:pPr marL="514350" lvl="2">
              <a:spcBef>
                <a:spcPts val="750"/>
              </a:spcBef>
              <a:spcAft>
                <a:spcPts val="600"/>
              </a:spcAft>
              <a:buClr>
                <a:schemeClr val="accent2"/>
              </a:buClr>
            </a:pPr>
            <a:r>
              <a:rPr lang="en-IN" sz="1700" dirty="0"/>
              <a:t>6400 GB </a:t>
            </a:r>
            <a:r>
              <a:rPr lang="en-IN" sz="1700" dirty="0" err="1"/>
              <a:t>NVMe</a:t>
            </a:r>
            <a:r>
              <a:rPr lang="en-IN" sz="1700" dirty="0"/>
              <a:t> SSD storage</a:t>
            </a:r>
          </a:p>
          <a:p>
            <a:pPr marL="514350" lvl="2">
              <a:spcBef>
                <a:spcPts val="750"/>
              </a:spcBef>
              <a:spcAft>
                <a:spcPts val="600"/>
              </a:spcAft>
              <a:buClr>
                <a:schemeClr val="accent2"/>
              </a:buClr>
            </a:pPr>
            <a:r>
              <a:rPr lang="en-IN" sz="1700" dirty="0"/>
              <a:t>1TB Memory</a:t>
            </a:r>
          </a:p>
          <a:p>
            <a:pPr marL="171450" lvl="1">
              <a:spcBef>
                <a:spcPts val="750"/>
              </a:spcBef>
              <a:spcAft>
                <a:spcPts val="600"/>
              </a:spcAft>
              <a:buClr>
                <a:schemeClr val="accent2"/>
              </a:buClr>
            </a:pPr>
            <a:r>
              <a:rPr lang="en-IN" sz="1700" dirty="0"/>
              <a:t>NVIDIA A100 GPU</a:t>
            </a:r>
          </a:p>
          <a:p>
            <a:pPr marL="514350" lvl="2">
              <a:spcBef>
                <a:spcPts val="750"/>
              </a:spcBef>
              <a:spcAft>
                <a:spcPts val="600"/>
              </a:spcAft>
              <a:buClr>
                <a:schemeClr val="accent2"/>
              </a:buClr>
            </a:pPr>
            <a:r>
              <a:rPr lang="en-US" sz="1700" dirty="0"/>
              <a:t>6912 CUDA cores</a:t>
            </a:r>
          </a:p>
          <a:p>
            <a:pPr marL="514350" lvl="2">
              <a:spcBef>
                <a:spcPts val="750"/>
              </a:spcBef>
              <a:spcAft>
                <a:spcPts val="600"/>
              </a:spcAft>
              <a:buClr>
                <a:schemeClr val="accent2"/>
              </a:buClr>
            </a:pPr>
            <a:r>
              <a:rPr lang="en-IN" sz="1700" dirty="0"/>
              <a:t>80 GB memory</a:t>
            </a:r>
            <a:endParaRPr lang="en-US" sz="1700" dirty="0"/>
          </a:p>
        </p:txBody>
      </p:sp>
    </p:spTree>
    <p:extLst>
      <p:ext uri="{BB962C8B-B14F-4D97-AF65-F5344CB8AC3E}">
        <p14:creationId xmlns:p14="http://schemas.microsoft.com/office/powerpoint/2010/main" val="30329020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628650" y="228602"/>
            <a:ext cx="7886700" cy="1104731"/>
          </a:xfrm>
          <a:noFill/>
        </p:spPr>
        <p:txBody>
          <a:bodyPr anchor="ctr"/>
          <a:lstStyle/>
          <a:p>
            <a:r>
              <a:rPr lang="en-US" dirty="0"/>
              <a:t>Falcon 180B On Pragya</a:t>
            </a:r>
          </a:p>
        </p:txBody>
      </p:sp>
      <p:sp>
        <p:nvSpPr>
          <p:cNvPr id="41"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fontScale="92500" lnSpcReduction="20000"/>
          </a:bodyPr>
          <a:lstStyle/>
          <a:p>
            <a:pPr marL="171450" lvl="1">
              <a:spcBef>
                <a:spcPts val="750"/>
              </a:spcBef>
              <a:spcAft>
                <a:spcPts val="600"/>
              </a:spcAft>
              <a:buClr>
                <a:schemeClr val="accent2"/>
              </a:buClr>
            </a:pPr>
            <a:r>
              <a:rPr lang="en-IN" sz="2000" dirty="0"/>
              <a:t>Falcon 180B Chat GPTQ</a:t>
            </a:r>
          </a:p>
          <a:p>
            <a:pPr marL="514350" lvl="2">
              <a:spcBef>
                <a:spcPts val="750"/>
              </a:spcBef>
              <a:spcAft>
                <a:spcPts val="600"/>
              </a:spcAft>
              <a:buClr>
                <a:schemeClr val="accent2"/>
              </a:buClr>
            </a:pPr>
            <a:r>
              <a:rPr lang="en-IN" sz="1700" dirty="0"/>
              <a:t>180 Billion parameters</a:t>
            </a:r>
          </a:p>
          <a:p>
            <a:pPr marL="514350" lvl="2">
              <a:spcBef>
                <a:spcPts val="750"/>
              </a:spcBef>
              <a:spcAft>
                <a:spcPts val="600"/>
              </a:spcAft>
              <a:buClr>
                <a:schemeClr val="accent2"/>
              </a:buClr>
            </a:pPr>
            <a:r>
              <a:rPr lang="en-IN" sz="1700" dirty="0"/>
              <a:t>Instruction fine-tuned model </a:t>
            </a:r>
            <a:endParaRPr lang="en-IN" sz="2000" dirty="0"/>
          </a:p>
          <a:p>
            <a:pPr marL="171450" lvl="1">
              <a:spcBef>
                <a:spcPts val="750"/>
              </a:spcBef>
              <a:spcAft>
                <a:spcPts val="600"/>
              </a:spcAft>
              <a:buClr>
                <a:schemeClr val="accent2"/>
              </a:buClr>
            </a:pPr>
            <a:r>
              <a:rPr lang="en-IN" sz="2000" dirty="0"/>
              <a:t>Model compression</a:t>
            </a:r>
          </a:p>
          <a:p>
            <a:pPr marL="514350" lvl="2">
              <a:spcBef>
                <a:spcPts val="750"/>
              </a:spcBef>
              <a:spcAft>
                <a:spcPts val="600"/>
              </a:spcAft>
              <a:buClr>
                <a:schemeClr val="accent2"/>
              </a:buClr>
            </a:pPr>
            <a:r>
              <a:rPr lang="en-US" sz="1700" dirty="0"/>
              <a:t>180B </a:t>
            </a:r>
            <a:r>
              <a:rPr lang="en-IN" sz="1700" dirty="0"/>
              <a:t>parameters – 16 bit float – 360 GB memory</a:t>
            </a:r>
            <a:endParaRPr lang="en-US" sz="1700" dirty="0"/>
          </a:p>
          <a:p>
            <a:pPr marL="514350" lvl="2">
              <a:spcBef>
                <a:spcPts val="750"/>
              </a:spcBef>
              <a:spcAft>
                <a:spcPts val="600"/>
              </a:spcAft>
              <a:buClr>
                <a:schemeClr val="accent2"/>
              </a:buClr>
            </a:pPr>
            <a:r>
              <a:rPr lang="en-US" sz="1700" dirty="0"/>
              <a:t>180B </a:t>
            </a:r>
            <a:r>
              <a:rPr lang="en-IN" sz="1700" dirty="0"/>
              <a:t>parameters – </a:t>
            </a:r>
            <a:r>
              <a:rPr lang="en-US" sz="1700" dirty="0"/>
              <a:t>4 bit precision – ~94 GB memory</a:t>
            </a:r>
          </a:p>
          <a:p>
            <a:pPr marL="171450" lvl="1">
              <a:spcBef>
                <a:spcPts val="750"/>
              </a:spcBef>
              <a:spcAft>
                <a:spcPts val="600"/>
              </a:spcAft>
              <a:buClr>
                <a:schemeClr val="accent2"/>
              </a:buClr>
            </a:pPr>
            <a:r>
              <a:rPr lang="en-US" sz="2000" dirty="0"/>
              <a:t>Model parallelization</a:t>
            </a:r>
          </a:p>
          <a:p>
            <a:pPr marL="514350" lvl="2">
              <a:spcBef>
                <a:spcPts val="750"/>
              </a:spcBef>
              <a:spcAft>
                <a:spcPts val="600"/>
              </a:spcAft>
              <a:buClr>
                <a:schemeClr val="accent2"/>
              </a:buClr>
            </a:pPr>
            <a:r>
              <a:rPr lang="en-IN" sz="1700" dirty="0"/>
              <a:t>Divide model among multiple GPUs</a:t>
            </a:r>
          </a:p>
          <a:p>
            <a:pPr marL="514350" lvl="2">
              <a:spcBef>
                <a:spcPts val="750"/>
              </a:spcBef>
              <a:spcAft>
                <a:spcPts val="600"/>
              </a:spcAft>
              <a:buClr>
                <a:schemeClr val="accent2"/>
              </a:buClr>
            </a:pPr>
            <a:r>
              <a:rPr lang="en-IN" sz="1700" dirty="0"/>
              <a:t>~24 GB – 4 A100 GPUs – ~94 GB / 4 GPUs</a:t>
            </a:r>
            <a:endParaRPr lang="en-US" sz="1700" dirty="0"/>
          </a:p>
        </p:txBody>
      </p:sp>
      <p:sp>
        <p:nvSpPr>
          <p:cNvPr id="4" name="TextBox 3"/>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a:t>
            </a:r>
            <a:r>
              <a:rPr lang="en-IN" b="1" dirty="0" err="1">
                <a:solidFill>
                  <a:schemeClr val="accent2">
                    <a:lumMod val="50000"/>
                  </a:schemeClr>
                </a:solidFill>
              </a:rPr>
              <a:t>TheBloke</a:t>
            </a:r>
            <a:r>
              <a:rPr lang="en-IN" b="1" dirty="0">
                <a:solidFill>
                  <a:schemeClr val="accent2">
                    <a:lumMod val="50000"/>
                  </a:schemeClr>
                </a:solidFill>
              </a:rPr>
              <a:t>/Falcon-180B-Chat-GPTQ</a:t>
            </a:r>
          </a:p>
        </p:txBody>
      </p:sp>
    </p:spTree>
    <p:extLst>
      <p:ext uri="{BB962C8B-B14F-4D97-AF65-F5344CB8AC3E}">
        <p14:creationId xmlns:p14="http://schemas.microsoft.com/office/powerpoint/2010/main" val="35193972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Pehchaan – AI based Face Recognition System</a:t>
            </a:r>
            <a:endParaRPr lang="en-US" dirty="0">
              <a:solidFill>
                <a:schemeClr val="accent2">
                  <a:lumMod val="50000"/>
                </a:schemeClr>
              </a:solidFill>
            </a:endParaRPr>
          </a:p>
        </p:txBody>
      </p:sp>
      <p:grpSp>
        <p:nvGrpSpPr>
          <p:cNvPr id="12" name="Group 11"/>
          <p:cNvGrpSpPr/>
          <p:nvPr/>
        </p:nvGrpSpPr>
        <p:grpSpPr>
          <a:xfrm>
            <a:off x="940341" y="1023262"/>
            <a:ext cx="6663653" cy="3783011"/>
            <a:chOff x="940341" y="1023262"/>
            <a:chExt cx="6663653" cy="3783011"/>
          </a:xfrm>
        </p:grpSpPr>
        <p:pic>
          <p:nvPicPr>
            <p:cNvPr id="6" name="Picture 5" descr="ComputerGraphics&amp;VisualizationSection.png"/>
            <p:cNvPicPr>
              <a:picLocks noChangeAspect="1"/>
            </p:cNvPicPr>
            <p:nvPr/>
          </p:nvPicPr>
          <p:blipFill>
            <a:blip r:embed="rId3" cstate="print"/>
            <a:stretch>
              <a:fillRect/>
            </a:stretch>
          </p:blipFill>
          <p:spPr>
            <a:xfrm>
              <a:off x="940341" y="1023262"/>
              <a:ext cx="6663653" cy="3783011"/>
            </a:xfrm>
            <a:prstGeom prst="rect">
              <a:avLst/>
            </a:prstGeom>
          </p:spPr>
        </p:pic>
        <p:sp>
          <p:nvSpPr>
            <p:cNvPr id="7" name="Rectangle 6"/>
            <p:cNvSpPr/>
            <p:nvPr/>
          </p:nvSpPr>
          <p:spPr>
            <a:xfrm>
              <a:off x="1997413" y="2269787"/>
              <a:ext cx="667966" cy="933856"/>
            </a:xfrm>
            <a:prstGeom prst="rect">
              <a:avLst/>
            </a:prstGeom>
            <a:noFill/>
            <a:ln w="254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3226341" y="2402732"/>
              <a:ext cx="476655" cy="612842"/>
            </a:xfrm>
            <a:prstGeom prst="rect">
              <a:avLst/>
            </a:prstGeom>
            <a:noFill/>
            <a:ln w="254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5051899" y="1828799"/>
              <a:ext cx="583658" cy="778213"/>
            </a:xfrm>
            <a:prstGeom prst="rect">
              <a:avLst/>
            </a:prstGeom>
            <a:noFill/>
            <a:ln w="254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598596" y="2285999"/>
              <a:ext cx="599871" cy="833337"/>
            </a:xfrm>
            <a:prstGeom prst="rect">
              <a:avLst/>
            </a:prstGeom>
            <a:noFill/>
            <a:ln w="254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8129979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err="1"/>
              <a:t>Talaash</a:t>
            </a:r>
            <a:r>
              <a:rPr lang="en-US" dirty="0"/>
              <a:t> – Multimodal Query and Retrieval</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720087" y="1378574"/>
            <a:ext cx="366072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Query &amp; retrieval system</a:t>
            </a:r>
          </a:p>
          <a:p>
            <a:pPr marL="514350" lvl="2">
              <a:spcBef>
                <a:spcPts val="750"/>
              </a:spcBef>
              <a:spcAft>
                <a:spcPts val="600"/>
              </a:spcAft>
              <a:buClr>
                <a:schemeClr val="accent2"/>
              </a:buClr>
            </a:pPr>
            <a:r>
              <a:rPr lang="en-US" sz="1700" dirty="0"/>
              <a:t>Natural language</a:t>
            </a:r>
          </a:p>
          <a:p>
            <a:pPr marL="514350" lvl="2">
              <a:spcBef>
                <a:spcPts val="750"/>
              </a:spcBef>
              <a:spcAft>
                <a:spcPts val="600"/>
              </a:spcAft>
              <a:buClr>
                <a:schemeClr val="accent2"/>
              </a:buClr>
            </a:pPr>
            <a:r>
              <a:rPr lang="en-IN" sz="1700" dirty="0"/>
              <a:t>Input image</a:t>
            </a:r>
          </a:p>
          <a:p>
            <a:pPr marL="171450" lvl="1">
              <a:spcBef>
                <a:spcPts val="750"/>
              </a:spcBef>
              <a:spcAft>
                <a:spcPts val="600"/>
              </a:spcAft>
              <a:buClr>
                <a:schemeClr val="accent2"/>
              </a:buClr>
            </a:pPr>
            <a:r>
              <a:rPr lang="en-IN" sz="2000" dirty="0"/>
              <a:t>Search &amp; track users</a:t>
            </a:r>
          </a:p>
          <a:p>
            <a:pPr marL="514350" lvl="2">
              <a:spcBef>
                <a:spcPts val="750"/>
              </a:spcBef>
              <a:spcAft>
                <a:spcPts val="600"/>
              </a:spcAft>
              <a:buClr>
                <a:schemeClr val="accent2"/>
              </a:buClr>
            </a:pPr>
            <a:r>
              <a:rPr lang="en-IN" sz="1700" dirty="0"/>
              <a:t>User attire</a:t>
            </a:r>
          </a:p>
          <a:p>
            <a:pPr marL="514350" lvl="2">
              <a:spcBef>
                <a:spcPts val="750"/>
              </a:spcBef>
              <a:spcAft>
                <a:spcPts val="600"/>
              </a:spcAft>
              <a:buClr>
                <a:schemeClr val="accent2"/>
              </a:buClr>
            </a:pPr>
            <a:r>
              <a:rPr lang="en-IN" sz="1700" dirty="0"/>
              <a:t>Facial features</a:t>
            </a:r>
          </a:p>
        </p:txBody>
      </p:sp>
      <p:sp>
        <p:nvSpPr>
          <p:cNvPr id="2" name="Content Placeholder 2">
            <a:extLst>
              <a:ext uri="{FF2B5EF4-FFF2-40B4-BE49-F238E27FC236}">
                <a16:creationId xmlns:a16="http://schemas.microsoft.com/office/drawing/2014/main" id="{BCA39DDC-0B72-D8F7-3EA6-3745AE5BE9AE}"/>
              </a:ext>
            </a:extLst>
          </p:cNvPr>
          <p:cNvSpPr txBox="1">
            <a:spLocks/>
          </p:cNvSpPr>
          <p:nvPr/>
        </p:nvSpPr>
        <p:spPr>
          <a:xfrm>
            <a:off x="4812715" y="1381348"/>
            <a:ext cx="3660720" cy="3213667"/>
          </a:xfrm>
          <a:prstGeom prst="rect">
            <a:avLst/>
          </a:prstGeom>
          <a:noFill/>
        </p:spPr>
        <p:txBody>
          <a:bodyPr vert="horz" lIns="68580" tIns="34290" rIns="68580" bIns="34290" rtlCol="0" anchor="t">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9pPr>
          </a:lstStyle>
          <a:p>
            <a:pPr marL="171450" lvl="1">
              <a:spcBef>
                <a:spcPts val="750"/>
              </a:spcBef>
              <a:spcAft>
                <a:spcPts val="600"/>
              </a:spcAft>
              <a:buClr>
                <a:schemeClr val="accent2"/>
              </a:buClr>
            </a:pPr>
            <a:r>
              <a:rPr lang="en-IN" sz="2000" dirty="0"/>
              <a:t>Vision Language Models</a:t>
            </a:r>
          </a:p>
          <a:p>
            <a:pPr marL="514350" lvl="2">
              <a:spcBef>
                <a:spcPts val="750"/>
              </a:spcBef>
              <a:spcAft>
                <a:spcPts val="600"/>
              </a:spcAft>
              <a:buClr>
                <a:schemeClr val="accent2"/>
              </a:buClr>
            </a:pPr>
            <a:r>
              <a:rPr lang="en-US" sz="1700" dirty="0"/>
              <a:t>Text &amp; image </a:t>
            </a:r>
            <a:r>
              <a:rPr lang="en-IN" sz="1700" dirty="0"/>
              <a:t>embeddings</a:t>
            </a:r>
          </a:p>
          <a:p>
            <a:pPr marL="514350" lvl="2">
              <a:spcBef>
                <a:spcPts val="750"/>
              </a:spcBef>
              <a:spcAft>
                <a:spcPts val="600"/>
              </a:spcAft>
              <a:buClr>
                <a:schemeClr val="accent2"/>
              </a:buClr>
            </a:pPr>
            <a:r>
              <a:rPr lang="en-IN" sz="1700" dirty="0"/>
              <a:t>FashionVLM</a:t>
            </a:r>
          </a:p>
          <a:p>
            <a:pPr marL="171450" lvl="1">
              <a:spcBef>
                <a:spcPts val="750"/>
              </a:spcBef>
              <a:spcAft>
                <a:spcPts val="600"/>
              </a:spcAft>
              <a:buClr>
                <a:schemeClr val="accent2"/>
              </a:buClr>
            </a:pPr>
            <a:r>
              <a:rPr lang="en-US" sz="2000" dirty="0"/>
              <a:t>Vector database </a:t>
            </a:r>
          </a:p>
          <a:p>
            <a:pPr marL="514350" lvl="2">
              <a:spcBef>
                <a:spcPts val="750"/>
              </a:spcBef>
              <a:spcAft>
                <a:spcPts val="600"/>
              </a:spcAft>
              <a:buClr>
                <a:schemeClr val="accent2"/>
              </a:buClr>
            </a:pPr>
            <a:r>
              <a:rPr lang="en-US" sz="1700" dirty="0"/>
              <a:t>Efficient storage </a:t>
            </a:r>
          </a:p>
          <a:p>
            <a:pPr marL="514350" lvl="2">
              <a:spcBef>
                <a:spcPts val="750"/>
              </a:spcBef>
              <a:spcAft>
                <a:spcPts val="600"/>
              </a:spcAft>
              <a:buClr>
                <a:schemeClr val="accent2"/>
              </a:buClr>
            </a:pPr>
            <a:r>
              <a:rPr lang="en-US" sz="1700" dirty="0"/>
              <a:t>Retrieval of images</a:t>
            </a:r>
            <a:endParaRPr lang="en-IN" sz="1700" dirty="0"/>
          </a:p>
        </p:txBody>
      </p:sp>
    </p:spTree>
    <p:extLst>
      <p:ext uri="{BB962C8B-B14F-4D97-AF65-F5344CB8AC3E}">
        <p14:creationId xmlns:p14="http://schemas.microsoft.com/office/powerpoint/2010/main" val="38129979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Fashion Captioning Dataset (FACAD)</a:t>
            </a:r>
            <a:endParaRPr lang="en-US" dirty="0">
              <a:solidFill>
                <a:schemeClr val="accent2">
                  <a:lumMod val="50000"/>
                </a:schemeClr>
              </a:solidFill>
            </a:endParaRPr>
          </a:p>
        </p:txBody>
      </p:sp>
      <p:sp>
        <p:nvSpPr>
          <p:cNvPr id="2" name="Content Placeholder 2">
            <a:extLst>
              <a:ext uri="{FF2B5EF4-FFF2-40B4-BE49-F238E27FC236}">
                <a16:creationId xmlns:a16="http://schemas.microsoft.com/office/drawing/2014/main" id="{D64FBD31-58C2-F052-F198-E7DC0F36A9D4}"/>
              </a:ext>
            </a:extLst>
          </p:cNvPr>
          <p:cNvSpPr txBox="1">
            <a:spLocks/>
          </p:cNvSpPr>
          <p:nvPr/>
        </p:nvSpPr>
        <p:spPr>
          <a:xfrm>
            <a:off x="628651" y="1369219"/>
            <a:ext cx="4151771" cy="3223260"/>
          </a:xfrm>
          <a:prstGeom prst="rect">
            <a:avLst/>
          </a:prstGeom>
          <a:noFill/>
        </p:spPr>
        <p:txBody>
          <a:bodyPr>
            <a:normAutofit fontScale="850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9pPr>
          </a:lstStyle>
          <a:p>
            <a:pPr marL="171450" lvl="1">
              <a:spcBef>
                <a:spcPts val="750"/>
              </a:spcBef>
              <a:spcAft>
                <a:spcPts val="600"/>
              </a:spcAft>
              <a:buClr>
                <a:schemeClr val="accent2"/>
              </a:buClr>
            </a:pPr>
            <a:r>
              <a:rPr lang="en-US" sz="2000" dirty="0"/>
              <a:t>Largest dataset of fashion items</a:t>
            </a:r>
          </a:p>
          <a:p>
            <a:pPr marL="514350" lvl="2">
              <a:lnSpc>
                <a:spcPct val="100000"/>
              </a:lnSpc>
              <a:spcBef>
                <a:spcPts val="750"/>
              </a:spcBef>
              <a:spcAft>
                <a:spcPts val="600"/>
              </a:spcAft>
              <a:buClr>
                <a:schemeClr val="accent2"/>
              </a:buClr>
            </a:pPr>
            <a:r>
              <a:rPr lang="en-US" sz="1700" dirty="0"/>
              <a:t>130K fashion item captions</a:t>
            </a:r>
          </a:p>
          <a:p>
            <a:pPr marL="514350" lvl="2">
              <a:spcBef>
                <a:spcPts val="750"/>
              </a:spcBef>
              <a:spcAft>
                <a:spcPts val="600"/>
              </a:spcAft>
              <a:buClr>
                <a:schemeClr val="accent2"/>
              </a:buClr>
            </a:pPr>
            <a:r>
              <a:rPr lang="en-US" sz="1700" dirty="0"/>
              <a:t>993K images</a:t>
            </a:r>
          </a:p>
          <a:p>
            <a:pPr marL="514350" lvl="2">
              <a:spcBef>
                <a:spcPts val="750"/>
              </a:spcBef>
              <a:spcAft>
                <a:spcPts val="600"/>
              </a:spcAft>
              <a:buClr>
                <a:schemeClr val="accent2"/>
              </a:buClr>
            </a:pPr>
            <a:r>
              <a:rPr lang="en-US" sz="1700" dirty="0"/>
              <a:t>990 attributes </a:t>
            </a:r>
          </a:p>
          <a:p>
            <a:pPr marL="514350" lvl="2">
              <a:spcBef>
                <a:spcPts val="750"/>
              </a:spcBef>
              <a:spcAft>
                <a:spcPts val="600"/>
              </a:spcAft>
              <a:buClr>
                <a:schemeClr val="accent2"/>
              </a:buClr>
            </a:pPr>
            <a:r>
              <a:rPr lang="en-US" sz="1700" dirty="0"/>
              <a:t>78 different categories</a:t>
            </a:r>
          </a:p>
          <a:p>
            <a:pPr marL="171450" lvl="1">
              <a:spcBef>
                <a:spcPts val="750"/>
              </a:spcBef>
              <a:spcAft>
                <a:spcPts val="600"/>
              </a:spcAft>
              <a:buClr>
                <a:schemeClr val="accent2"/>
              </a:buClr>
            </a:pPr>
            <a:r>
              <a:rPr lang="en-US" sz="2000" dirty="0"/>
              <a:t>Rich captions</a:t>
            </a:r>
          </a:p>
          <a:p>
            <a:pPr marL="171450" lvl="1">
              <a:spcBef>
                <a:spcPts val="750"/>
              </a:spcBef>
              <a:spcAft>
                <a:spcPts val="600"/>
              </a:spcAft>
              <a:buClr>
                <a:schemeClr val="accent2"/>
              </a:buClr>
            </a:pPr>
            <a:r>
              <a:rPr lang="en-US" sz="2000" dirty="0"/>
              <a:t>Expressive vocabulary</a:t>
            </a:r>
          </a:p>
          <a:p>
            <a:pPr marL="171450" lvl="1">
              <a:spcBef>
                <a:spcPts val="750"/>
              </a:spcBef>
              <a:spcAft>
                <a:spcPts val="600"/>
              </a:spcAft>
              <a:buClr>
                <a:schemeClr val="accent2"/>
              </a:buClr>
            </a:pPr>
            <a:r>
              <a:rPr lang="en-US" sz="2000" dirty="0"/>
              <a:t>Different age groups</a:t>
            </a:r>
          </a:p>
          <a:p>
            <a:pPr marL="171450" lvl="1">
              <a:spcBef>
                <a:spcPts val="750"/>
              </a:spcBef>
              <a:spcAft>
                <a:spcPts val="600"/>
              </a:spcAft>
              <a:buClr>
                <a:schemeClr val="accent2"/>
              </a:buClr>
            </a:pPr>
            <a:r>
              <a:rPr lang="en-US" sz="2000" dirty="0"/>
              <a:t>Different seasons</a:t>
            </a:r>
          </a:p>
        </p:txBody>
      </p:sp>
      <p:pic>
        <p:nvPicPr>
          <p:cNvPr id="1026" name="Picture 2">
            <a:extLst>
              <a:ext uri="{FF2B5EF4-FFF2-40B4-BE49-F238E27FC236}">
                <a16:creationId xmlns:a16="http://schemas.microsoft.com/office/drawing/2014/main" id="{09159657-6DC0-4DF9-C298-5E7F5C6D3F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0560" y="1429344"/>
            <a:ext cx="4354397" cy="32657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94FBF46-685F-AD18-6C68-10B5F24960BF}"/>
              </a:ext>
            </a:extLst>
          </p:cNvPr>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FACAD – </a:t>
            </a:r>
            <a:r>
              <a:rPr lang="en-IN" b="1" dirty="0" err="1">
                <a:solidFill>
                  <a:schemeClr val="accent2">
                    <a:lumMod val="50000"/>
                  </a:schemeClr>
                </a:solidFill>
              </a:rPr>
              <a:t>Xuewen</a:t>
            </a:r>
            <a:r>
              <a:rPr lang="en-IN" b="1" dirty="0">
                <a:solidFill>
                  <a:schemeClr val="accent2">
                    <a:lumMod val="50000"/>
                  </a:schemeClr>
                </a:solidFill>
              </a:rPr>
              <a:t> Yang et. al. – ECCV 2020</a:t>
            </a:r>
          </a:p>
        </p:txBody>
      </p:sp>
    </p:spTree>
    <p:extLst>
      <p:ext uri="{BB962C8B-B14F-4D97-AF65-F5344CB8AC3E}">
        <p14:creationId xmlns:p14="http://schemas.microsoft.com/office/powerpoint/2010/main" val="25373882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628650" y="273844"/>
            <a:ext cx="7886700" cy="994172"/>
          </a:xfrm>
          <a:noFill/>
        </p:spPr>
        <p:txBody>
          <a:bodyPr anchor="ctr"/>
          <a:lstStyle/>
          <a:p>
            <a:r>
              <a:rPr lang="en-US" dirty="0"/>
              <a:t>Image Captioning Models</a:t>
            </a:r>
          </a:p>
        </p:txBody>
      </p:sp>
      <p:graphicFrame>
        <p:nvGraphicFramePr>
          <p:cNvPr id="4" name="Table Placeholder 3">
            <a:extLst>
              <a:ext uri="{FF2B5EF4-FFF2-40B4-BE49-F238E27FC236}">
                <a16:creationId xmlns:a16="http://schemas.microsoft.com/office/drawing/2014/main" id="{0519CAC4-33D8-0B1E-88FF-086E69894AFB}"/>
              </a:ext>
            </a:extLst>
          </p:cNvPr>
          <p:cNvGraphicFramePr>
            <a:graphicFrameLocks noGrp="1"/>
          </p:cNvGraphicFramePr>
          <p:nvPr>
            <p:ph type="tbl" sz="quarter" idx="13"/>
          </p:nvPr>
        </p:nvGraphicFramePr>
        <p:xfrm>
          <a:off x="628650" y="1369219"/>
          <a:ext cx="7471248" cy="2743200"/>
        </p:xfrm>
        <a:graphic>
          <a:graphicData uri="http://schemas.openxmlformats.org/drawingml/2006/table">
            <a:tbl>
              <a:tblPr firstRow="1" bandRow="1">
                <a:tableStyleId>{72833802-FEF1-4C79-8D5D-14CF1EAF98D9}</a:tableStyleId>
              </a:tblPr>
              <a:tblGrid>
                <a:gridCol w="1926482">
                  <a:extLst>
                    <a:ext uri="{9D8B030D-6E8A-4147-A177-3AD203B41FA5}">
                      <a16:colId xmlns:a16="http://schemas.microsoft.com/office/drawing/2014/main" val="2382218087"/>
                    </a:ext>
                  </a:extLst>
                </a:gridCol>
                <a:gridCol w="1504545">
                  <a:extLst>
                    <a:ext uri="{9D8B030D-6E8A-4147-A177-3AD203B41FA5}">
                      <a16:colId xmlns:a16="http://schemas.microsoft.com/office/drawing/2014/main" val="3953468724"/>
                    </a:ext>
                  </a:extLst>
                </a:gridCol>
                <a:gridCol w="1512987">
                  <a:extLst>
                    <a:ext uri="{9D8B030D-6E8A-4147-A177-3AD203B41FA5}">
                      <a16:colId xmlns:a16="http://schemas.microsoft.com/office/drawing/2014/main" val="2438884888"/>
                    </a:ext>
                  </a:extLst>
                </a:gridCol>
                <a:gridCol w="1017917">
                  <a:extLst>
                    <a:ext uri="{9D8B030D-6E8A-4147-A177-3AD203B41FA5}">
                      <a16:colId xmlns:a16="http://schemas.microsoft.com/office/drawing/2014/main" val="3058700555"/>
                    </a:ext>
                  </a:extLst>
                </a:gridCol>
                <a:gridCol w="1509317">
                  <a:extLst>
                    <a:ext uri="{9D8B030D-6E8A-4147-A177-3AD203B41FA5}">
                      <a16:colId xmlns:a16="http://schemas.microsoft.com/office/drawing/2014/main" val="489067259"/>
                    </a:ext>
                  </a:extLst>
                </a:gridCol>
              </a:tblGrid>
              <a:tr h="548640">
                <a:tc>
                  <a:txBody>
                    <a:bodyPr/>
                    <a:lstStyle/>
                    <a:p>
                      <a:pPr algn="ctr"/>
                      <a:r>
                        <a:rPr lang="en-US" sz="1400" b="1" i="0" dirty="0">
                          <a:latin typeface="+mj-lt"/>
                        </a:rPr>
                        <a:t>Model</a:t>
                      </a:r>
                    </a:p>
                  </a:txBody>
                  <a:tcPr marL="68580" marR="68580" marT="34290" marB="34290" anchor="ctr"/>
                </a:tc>
                <a:tc>
                  <a:txBody>
                    <a:bodyPr/>
                    <a:lstStyle/>
                    <a:p>
                      <a:pPr algn="ctr"/>
                      <a:r>
                        <a:rPr lang="en-US" sz="1400" b="1" i="0" dirty="0">
                          <a:latin typeface="+mj-lt"/>
                        </a:rPr>
                        <a:t>Encoder</a:t>
                      </a:r>
                    </a:p>
                  </a:txBody>
                  <a:tcPr marL="68580" marR="68580" marT="34290" marB="34290" anchor="ctr"/>
                </a:tc>
                <a:tc>
                  <a:txBody>
                    <a:bodyPr/>
                    <a:lstStyle/>
                    <a:p>
                      <a:pPr algn="ctr"/>
                      <a:r>
                        <a:rPr lang="en-US" sz="1400" b="1" i="0" dirty="0">
                          <a:latin typeface="+mj-lt"/>
                        </a:rPr>
                        <a:t>Decoder</a:t>
                      </a:r>
                    </a:p>
                  </a:txBody>
                  <a:tcPr marL="68580" marR="68580" marT="34290" marB="34290" anchor="ctr"/>
                </a:tc>
                <a:tc>
                  <a:txBody>
                    <a:bodyPr/>
                    <a:lstStyle/>
                    <a:p>
                      <a:pPr algn="ctr"/>
                      <a:r>
                        <a:rPr lang="en-US" sz="1400" b="1" i="0" dirty="0">
                          <a:latin typeface="+mj-lt"/>
                        </a:rPr>
                        <a:t>Q-Former</a:t>
                      </a:r>
                    </a:p>
                  </a:txBody>
                  <a:tcPr marL="68580" marR="68580" marT="34290" marB="34290" anchor="ctr"/>
                </a:tc>
                <a:tc>
                  <a:txBody>
                    <a:bodyPr/>
                    <a:lstStyle/>
                    <a:p>
                      <a:pPr algn="ctr"/>
                      <a:r>
                        <a:rPr lang="en-US" sz="1400" b="1" i="0" dirty="0">
                          <a:latin typeface="+mj-lt"/>
                        </a:rPr>
                        <a:t>Number of Parameters</a:t>
                      </a:r>
                    </a:p>
                  </a:txBody>
                  <a:tcPr marL="68580" marR="68580" marT="34290" marB="34290" anchor="ctr"/>
                </a:tc>
                <a:extLst>
                  <a:ext uri="{0D108BD9-81ED-4DB2-BD59-A6C34878D82A}">
                    <a16:rowId xmlns:a16="http://schemas.microsoft.com/office/drawing/2014/main" val="2857107962"/>
                  </a:ext>
                </a:extLst>
              </a:tr>
              <a:tr h="548640">
                <a:tc>
                  <a:txBody>
                    <a:bodyPr/>
                    <a:lstStyle/>
                    <a:p>
                      <a:pPr algn="ctr"/>
                      <a:r>
                        <a:rPr lang="en-US" sz="1400" b="0" i="0" dirty="0">
                          <a:latin typeface="+mn-lt"/>
                        </a:rPr>
                        <a:t>CNN–LSTM </a:t>
                      </a:r>
                    </a:p>
                  </a:txBody>
                  <a:tcPr marL="68580" marR="68580" marT="34290" marB="34290" anchor="ctr"/>
                </a:tc>
                <a:tc>
                  <a:txBody>
                    <a:bodyPr/>
                    <a:lstStyle/>
                    <a:p>
                      <a:pPr algn="ctr"/>
                      <a:r>
                        <a:rPr lang="en-US" sz="1400" b="0" i="0" dirty="0">
                          <a:latin typeface="+mn-lt"/>
                        </a:rPr>
                        <a:t>CNN</a:t>
                      </a:r>
                      <a:r>
                        <a:rPr lang="en-US" sz="1400" b="0" i="0" baseline="0" dirty="0">
                          <a:latin typeface="+mn-lt"/>
                        </a:rPr>
                        <a:t> (VGG)</a:t>
                      </a:r>
                      <a:endParaRPr lang="en-US" sz="1400" b="0" i="0" dirty="0">
                        <a:latin typeface="+mn-lt"/>
                      </a:endParaRPr>
                    </a:p>
                  </a:txBody>
                  <a:tcPr marL="68580" marR="68580" marT="34290" marB="34290" anchor="ctr"/>
                </a:tc>
                <a:tc>
                  <a:txBody>
                    <a:bodyPr/>
                    <a:lstStyle/>
                    <a:p>
                      <a:pPr algn="ctr"/>
                      <a:r>
                        <a:rPr lang="en-US" sz="1400" b="0" i="0" dirty="0">
                          <a:latin typeface="+mn-lt"/>
                        </a:rPr>
                        <a:t>LSTM</a:t>
                      </a:r>
                    </a:p>
                  </a:txBody>
                  <a:tcPr marL="68580" marR="68580" marT="34290" marB="34290" anchor="ctr"/>
                </a:tc>
                <a:tc>
                  <a:txBody>
                    <a:bodyPr/>
                    <a:lstStyle/>
                    <a:p>
                      <a:pPr algn="ctr"/>
                      <a:r>
                        <a:rPr lang="en-US" sz="1400" b="0" i="0" dirty="0">
                          <a:latin typeface="+mn-lt"/>
                        </a:rPr>
                        <a:t>No</a:t>
                      </a:r>
                    </a:p>
                  </a:txBody>
                  <a:tcPr marL="68580" marR="68580" marT="34290" marB="34290" anchor="ctr"/>
                </a:tc>
                <a:tc>
                  <a:txBody>
                    <a:bodyPr/>
                    <a:lstStyle/>
                    <a:p>
                      <a:pPr algn="ctr"/>
                      <a:r>
                        <a:rPr lang="en-US" sz="1400" b="0" i="0" dirty="0">
                          <a:latin typeface="+mn-lt"/>
                        </a:rPr>
                        <a:t>138 Million</a:t>
                      </a:r>
                    </a:p>
                  </a:txBody>
                  <a:tcPr marL="68580" marR="68580" marT="34290" marB="34290" anchor="ctr"/>
                </a:tc>
                <a:extLst>
                  <a:ext uri="{0D108BD9-81ED-4DB2-BD59-A6C34878D82A}">
                    <a16:rowId xmlns:a16="http://schemas.microsoft.com/office/drawing/2014/main" val="1671386868"/>
                  </a:ext>
                </a:extLst>
              </a:tr>
              <a:tr h="548640">
                <a:tc>
                  <a:txBody>
                    <a:bodyPr/>
                    <a:lstStyle/>
                    <a:p>
                      <a:pPr algn="ctr"/>
                      <a:r>
                        <a:rPr lang="en-US" sz="1400" b="0" i="0" dirty="0">
                          <a:latin typeface="+mn-lt"/>
                        </a:rPr>
                        <a:t>CLIP</a:t>
                      </a:r>
                    </a:p>
                  </a:txBody>
                  <a:tcPr marL="68580" marR="68580" marT="34290" marB="34290" anchor="ctr"/>
                </a:tc>
                <a:tc>
                  <a:txBody>
                    <a:bodyPr/>
                    <a:lstStyle/>
                    <a:p>
                      <a:pPr algn="ctr"/>
                      <a:r>
                        <a:rPr lang="en-US" sz="1400" b="0" i="0" dirty="0">
                          <a:latin typeface="+mn-lt"/>
                        </a:rPr>
                        <a:t>ResNet / </a:t>
                      </a:r>
                      <a:r>
                        <a:rPr lang="en-US" sz="1400" b="0" i="0" dirty="0" err="1">
                          <a:latin typeface="+mn-lt"/>
                        </a:rPr>
                        <a:t>ViT</a:t>
                      </a:r>
                      <a:endParaRPr lang="en-US" sz="1400" b="0" i="0" dirty="0">
                        <a:latin typeface="+mn-lt"/>
                      </a:endParaRPr>
                    </a:p>
                  </a:txBody>
                  <a:tcPr marL="68580" marR="68580" marT="34290" marB="34290" anchor="ctr"/>
                </a:tc>
                <a:tc>
                  <a:txBody>
                    <a:bodyPr/>
                    <a:lstStyle/>
                    <a:p>
                      <a:pPr algn="ctr"/>
                      <a:r>
                        <a:rPr lang="en-US" sz="1400" b="0" i="0" dirty="0">
                          <a:latin typeface="+mn-lt"/>
                        </a:rPr>
                        <a:t>Transformer</a:t>
                      </a:r>
                    </a:p>
                  </a:txBody>
                  <a:tcPr marL="68580" marR="68580" marT="34290" marB="34290" anchor="ctr"/>
                </a:tc>
                <a:tc>
                  <a:txBody>
                    <a:bodyPr/>
                    <a:lstStyle/>
                    <a:p>
                      <a:pPr algn="ctr"/>
                      <a:r>
                        <a:rPr lang="en-US" sz="1400" b="0" i="0" dirty="0">
                          <a:latin typeface="+mn-lt"/>
                        </a:rPr>
                        <a:t>No</a:t>
                      </a:r>
                    </a:p>
                  </a:txBody>
                  <a:tcPr marL="68580" marR="68580" marT="34290" marB="34290" anchor="ctr"/>
                </a:tc>
                <a:tc>
                  <a:txBody>
                    <a:bodyPr/>
                    <a:lstStyle/>
                    <a:p>
                      <a:pPr algn="ctr"/>
                      <a:r>
                        <a:rPr lang="en-US" sz="1400" b="0" i="0" dirty="0">
                          <a:latin typeface="+mn-lt"/>
                        </a:rPr>
                        <a:t>33 Million</a:t>
                      </a:r>
                    </a:p>
                  </a:txBody>
                  <a:tcPr marL="68580" marR="68580" marT="34290" marB="34290" anchor="ctr"/>
                </a:tc>
                <a:extLst>
                  <a:ext uri="{0D108BD9-81ED-4DB2-BD59-A6C34878D82A}">
                    <a16:rowId xmlns:a16="http://schemas.microsoft.com/office/drawing/2014/main" val="380626418"/>
                  </a:ext>
                </a:extLst>
              </a:tr>
              <a:tr h="548640">
                <a:tc>
                  <a:txBody>
                    <a:bodyPr/>
                    <a:lstStyle/>
                    <a:p>
                      <a:pPr algn="ctr"/>
                      <a:r>
                        <a:rPr lang="en-US" sz="1400" b="0" i="0" dirty="0">
                          <a:latin typeface="+mn-lt"/>
                        </a:rPr>
                        <a:t>BLIP</a:t>
                      </a:r>
                    </a:p>
                  </a:txBody>
                  <a:tcPr marL="68580" marR="68580" marT="34290" marB="34290" anchor="ctr"/>
                </a:tc>
                <a:tc>
                  <a:txBody>
                    <a:bodyPr/>
                    <a:lstStyle/>
                    <a:p>
                      <a:pPr algn="ctr"/>
                      <a:r>
                        <a:rPr lang="en-US" sz="1400" b="0" i="0" dirty="0" err="1">
                          <a:latin typeface="+mn-lt"/>
                        </a:rPr>
                        <a:t>ViT</a:t>
                      </a:r>
                      <a:endParaRPr lang="en-US" sz="1400" b="0" i="0" dirty="0">
                        <a:latin typeface="+mn-lt"/>
                      </a:endParaRPr>
                    </a:p>
                  </a:txBody>
                  <a:tcPr marL="68580" marR="68580" marT="34290" marB="34290"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400" b="0" i="0" dirty="0">
                          <a:latin typeface="+mn-lt"/>
                        </a:rPr>
                        <a:t>Transformer</a:t>
                      </a:r>
                    </a:p>
                  </a:txBody>
                  <a:tcPr marL="68580" marR="68580" marT="34290" marB="34290" anchor="ctr"/>
                </a:tc>
                <a:tc>
                  <a:txBody>
                    <a:bodyPr/>
                    <a:lstStyle/>
                    <a:p>
                      <a:pPr algn="ctr"/>
                      <a:r>
                        <a:rPr lang="en-US" sz="1400" b="0" i="0" dirty="0">
                          <a:latin typeface="+mn-lt"/>
                        </a:rPr>
                        <a:t>No</a:t>
                      </a:r>
                    </a:p>
                  </a:txBody>
                  <a:tcPr marL="68580" marR="68580" marT="34290" marB="34290" anchor="ctr"/>
                </a:tc>
                <a:tc>
                  <a:txBody>
                    <a:bodyPr/>
                    <a:lstStyle/>
                    <a:p>
                      <a:pPr algn="ctr"/>
                      <a:r>
                        <a:rPr lang="en-US" sz="1400" b="0" i="0" dirty="0">
                          <a:latin typeface="+mn-lt"/>
                        </a:rPr>
                        <a:t>583 Million</a:t>
                      </a:r>
                    </a:p>
                  </a:txBody>
                  <a:tcPr marL="68580" marR="68580" marT="34290" marB="34290" anchor="ctr"/>
                </a:tc>
                <a:extLst>
                  <a:ext uri="{0D108BD9-81ED-4DB2-BD59-A6C34878D82A}">
                    <a16:rowId xmlns:a16="http://schemas.microsoft.com/office/drawing/2014/main" val="2132482967"/>
                  </a:ext>
                </a:extLst>
              </a:tr>
              <a:tr h="548640">
                <a:tc>
                  <a:txBody>
                    <a:bodyPr/>
                    <a:lstStyle/>
                    <a:p>
                      <a:pPr algn="ctr"/>
                      <a:r>
                        <a:rPr lang="en-US" sz="1400" b="0" i="0" dirty="0">
                          <a:latin typeface="+mn-lt"/>
                        </a:rPr>
                        <a:t>BLIP-2</a:t>
                      </a:r>
                    </a:p>
                  </a:txBody>
                  <a:tcPr marL="68580" marR="68580" marT="34290" marB="34290" anchor="ctr"/>
                </a:tc>
                <a:tc>
                  <a:txBody>
                    <a:bodyPr/>
                    <a:lstStyle/>
                    <a:p>
                      <a:pPr algn="ctr"/>
                      <a:r>
                        <a:rPr lang="en-US" sz="1400" b="0" i="0" dirty="0" err="1">
                          <a:latin typeface="+mn-lt"/>
                        </a:rPr>
                        <a:t>ViT</a:t>
                      </a:r>
                      <a:endParaRPr lang="en-US" sz="1400" b="0" i="0" dirty="0">
                        <a:latin typeface="+mn-lt"/>
                      </a:endParaRPr>
                    </a:p>
                  </a:txBody>
                  <a:tcPr marL="68580" marR="68580" marT="34290" marB="34290" anchor="ctr"/>
                </a:tc>
                <a:tc>
                  <a:txBody>
                    <a:bodyPr/>
                    <a:lstStyle/>
                    <a:p>
                      <a:pPr algn="ctr"/>
                      <a:r>
                        <a:rPr lang="en-US" sz="1400" b="0" i="0" dirty="0">
                          <a:latin typeface="+mn-lt"/>
                        </a:rPr>
                        <a:t>OPT /  FLAN T5</a:t>
                      </a:r>
                    </a:p>
                  </a:txBody>
                  <a:tcPr marL="68580" marR="68580" marT="34290" marB="34290" anchor="ctr"/>
                </a:tc>
                <a:tc>
                  <a:txBody>
                    <a:bodyPr/>
                    <a:lstStyle/>
                    <a:p>
                      <a:pPr algn="ctr"/>
                      <a:r>
                        <a:rPr lang="en-US" sz="1400" b="0" i="0" dirty="0">
                          <a:latin typeface="+mn-lt"/>
                        </a:rPr>
                        <a:t>Yes</a:t>
                      </a:r>
                    </a:p>
                  </a:txBody>
                  <a:tcPr marL="68580" marR="68580" marT="34290" marB="34290" anchor="ctr"/>
                </a:tc>
                <a:tc>
                  <a:txBody>
                    <a:bodyPr/>
                    <a:lstStyle/>
                    <a:p>
                      <a:pPr algn="ctr"/>
                      <a:r>
                        <a:rPr lang="en-US" sz="1400" b="0" i="0" dirty="0">
                          <a:latin typeface="+mn-lt"/>
                        </a:rPr>
                        <a:t>188 Million</a:t>
                      </a:r>
                    </a:p>
                  </a:txBody>
                  <a:tcPr marL="68580" marR="68580" marT="34290" marB="34290" anchor="ctr"/>
                </a:tc>
                <a:extLst>
                  <a:ext uri="{0D108BD9-81ED-4DB2-BD59-A6C34878D82A}">
                    <a16:rowId xmlns:a16="http://schemas.microsoft.com/office/drawing/2014/main" val="3936251906"/>
                  </a:ext>
                </a:extLst>
              </a:tr>
            </a:tbl>
          </a:graphicData>
        </a:graphic>
      </p:graphicFrame>
    </p:spTree>
    <p:extLst>
      <p:ext uri="{BB962C8B-B14F-4D97-AF65-F5344CB8AC3E}">
        <p14:creationId xmlns:p14="http://schemas.microsoft.com/office/powerpoint/2010/main" val="13149107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BLIP2 Architecture</a:t>
            </a:r>
            <a:endParaRPr lang="en-US" dirty="0">
              <a:solidFill>
                <a:schemeClr val="accent2">
                  <a:lumMod val="50000"/>
                </a:schemeClr>
              </a:solidFill>
            </a:endParaRPr>
          </a:p>
        </p:txBody>
      </p:sp>
      <p:pic>
        <p:nvPicPr>
          <p:cNvPr id="59" name="Picture 58" descr="BLIP-2.png"/>
          <p:cNvPicPr>
            <a:picLocks noChangeAspect="1"/>
          </p:cNvPicPr>
          <p:nvPr/>
        </p:nvPicPr>
        <p:blipFill>
          <a:blip r:embed="rId3"/>
          <a:stretch>
            <a:fillRect/>
          </a:stretch>
        </p:blipFill>
        <p:spPr>
          <a:xfrm>
            <a:off x="629055" y="1166643"/>
            <a:ext cx="7944255" cy="3310106"/>
          </a:xfrm>
          <a:prstGeom prst="rect">
            <a:avLst/>
          </a:prstGeom>
        </p:spPr>
      </p:pic>
    </p:spTree>
    <p:extLst>
      <p:ext uri="{BB962C8B-B14F-4D97-AF65-F5344CB8AC3E}">
        <p14:creationId xmlns:p14="http://schemas.microsoft.com/office/powerpoint/2010/main" val="25779839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FashionVLM</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lnSpcReduction="10000"/>
          </a:bodyPr>
          <a:lstStyle/>
          <a:p>
            <a:pPr marL="171450" lvl="1">
              <a:spcBef>
                <a:spcPts val="750"/>
              </a:spcBef>
              <a:spcAft>
                <a:spcPts val="600"/>
              </a:spcAft>
              <a:buClr>
                <a:schemeClr val="accent2"/>
              </a:buClr>
            </a:pPr>
            <a:r>
              <a:rPr lang="en-IN" sz="2000" dirty="0"/>
              <a:t>BLIP-2</a:t>
            </a:r>
          </a:p>
          <a:p>
            <a:pPr marL="514350" lvl="2">
              <a:spcBef>
                <a:spcPts val="750"/>
              </a:spcBef>
              <a:spcAft>
                <a:spcPts val="600"/>
              </a:spcAft>
              <a:buClr>
                <a:schemeClr val="accent2"/>
              </a:buClr>
            </a:pPr>
            <a:r>
              <a:rPr lang="en-IN" sz="1700" dirty="0"/>
              <a:t>Bootstrapping Language Image Pre–training </a:t>
            </a:r>
          </a:p>
          <a:p>
            <a:pPr marL="171450" lvl="1">
              <a:spcBef>
                <a:spcPts val="750"/>
              </a:spcBef>
              <a:spcAft>
                <a:spcPts val="600"/>
              </a:spcAft>
              <a:buClr>
                <a:schemeClr val="accent2"/>
              </a:buClr>
            </a:pPr>
            <a:r>
              <a:rPr lang="en-IN" sz="2000" dirty="0"/>
              <a:t>Image encoder</a:t>
            </a:r>
          </a:p>
          <a:p>
            <a:pPr marL="514350" lvl="2">
              <a:spcBef>
                <a:spcPts val="750"/>
              </a:spcBef>
              <a:spcAft>
                <a:spcPts val="600"/>
              </a:spcAft>
              <a:buClr>
                <a:schemeClr val="accent2"/>
              </a:buClr>
            </a:pPr>
            <a:r>
              <a:rPr lang="en-IN" sz="1700" dirty="0"/>
              <a:t>Vision Transformer (ViT) </a:t>
            </a:r>
          </a:p>
          <a:p>
            <a:pPr marL="171450" lvl="1">
              <a:spcBef>
                <a:spcPts val="750"/>
              </a:spcBef>
              <a:spcAft>
                <a:spcPts val="600"/>
              </a:spcAft>
              <a:buClr>
                <a:schemeClr val="accent2"/>
              </a:buClr>
            </a:pPr>
            <a:r>
              <a:rPr lang="en-IN" sz="2000" dirty="0"/>
              <a:t>Text encoder</a:t>
            </a:r>
          </a:p>
          <a:p>
            <a:pPr marL="514350" lvl="2">
              <a:spcBef>
                <a:spcPts val="750"/>
              </a:spcBef>
              <a:spcAft>
                <a:spcPts val="600"/>
              </a:spcAft>
              <a:buClr>
                <a:schemeClr val="accent2"/>
              </a:buClr>
            </a:pPr>
            <a:r>
              <a:rPr lang="en-US" sz="1700" dirty="0"/>
              <a:t>Large Language Model (LLM)</a:t>
            </a:r>
            <a:endParaRPr lang="en-IN" sz="2000" dirty="0"/>
          </a:p>
          <a:p>
            <a:pPr marL="171450" lvl="1">
              <a:spcBef>
                <a:spcPts val="750"/>
              </a:spcBef>
              <a:spcAft>
                <a:spcPts val="600"/>
              </a:spcAft>
              <a:buClr>
                <a:schemeClr val="accent2"/>
              </a:buClr>
            </a:pPr>
            <a:r>
              <a:rPr lang="en-IN" sz="2000" dirty="0"/>
              <a:t>Connect Image and Text encoders</a:t>
            </a:r>
          </a:p>
          <a:p>
            <a:pPr marL="514350" lvl="2">
              <a:spcBef>
                <a:spcPts val="750"/>
              </a:spcBef>
              <a:spcAft>
                <a:spcPts val="600"/>
              </a:spcAft>
              <a:buClr>
                <a:schemeClr val="accent2"/>
              </a:buClr>
            </a:pPr>
            <a:r>
              <a:rPr lang="en-IN" sz="1700" dirty="0"/>
              <a:t>Querying Transformer (Q-Former)</a:t>
            </a:r>
            <a:endParaRPr lang="en-US" sz="1700" dirty="0"/>
          </a:p>
        </p:txBody>
      </p:sp>
      <p:sp>
        <p:nvSpPr>
          <p:cNvPr id="2" name="TextBox 1">
            <a:extLst>
              <a:ext uri="{FF2B5EF4-FFF2-40B4-BE49-F238E27FC236}">
                <a16:creationId xmlns:a16="http://schemas.microsoft.com/office/drawing/2014/main" id="{294FBF46-685F-AD18-6C68-10B5F24960BF}"/>
              </a:ext>
            </a:extLst>
          </p:cNvPr>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FashionVLM (2024) – Gaurika Gupta &amp; Pritam Shete</a:t>
            </a:r>
          </a:p>
        </p:txBody>
      </p:sp>
    </p:spTree>
    <p:extLst>
      <p:ext uri="{BB962C8B-B14F-4D97-AF65-F5344CB8AC3E}">
        <p14:creationId xmlns:p14="http://schemas.microsoft.com/office/powerpoint/2010/main" val="31094206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628650" y="273844"/>
            <a:ext cx="7886700" cy="994172"/>
          </a:xfrm>
          <a:noFill/>
        </p:spPr>
        <p:txBody>
          <a:bodyPr anchor="ctr"/>
          <a:lstStyle/>
          <a:p>
            <a:r>
              <a:rPr lang="en-US" dirty="0"/>
              <a:t>FashionVLM – Evaluation on FACAD</a:t>
            </a:r>
          </a:p>
        </p:txBody>
      </p:sp>
      <p:graphicFrame>
        <p:nvGraphicFramePr>
          <p:cNvPr id="4" name="Table Placeholder 3">
            <a:extLst>
              <a:ext uri="{FF2B5EF4-FFF2-40B4-BE49-F238E27FC236}">
                <a16:creationId xmlns:a16="http://schemas.microsoft.com/office/drawing/2014/main" id="{0519CAC4-33D8-0B1E-88FF-086E69894AFB}"/>
              </a:ext>
            </a:extLst>
          </p:cNvPr>
          <p:cNvGraphicFramePr>
            <a:graphicFrameLocks noGrp="1"/>
          </p:cNvGraphicFramePr>
          <p:nvPr>
            <p:ph type="tbl" sz="quarter" idx="13"/>
            <p:extLst>
              <p:ext uri="{D42A27DB-BD31-4B8C-83A1-F6EECF244321}">
                <p14:modId xmlns:p14="http://schemas.microsoft.com/office/powerpoint/2010/main" val="3483451250"/>
              </p:ext>
            </p:extLst>
          </p:nvPr>
        </p:nvGraphicFramePr>
        <p:xfrm>
          <a:off x="628650" y="1369219"/>
          <a:ext cx="7886701" cy="3307080"/>
        </p:xfrm>
        <a:graphic>
          <a:graphicData uri="http://schemas.openxmlformats.org/drawingml/2006/table">
            <a:tbl>
              <a:tblPr firstRow="1" bandRow="1">
                <a:tableStyleId>{72833802-FEF1-4C79-8D5D-14CF1EAF98D9}</a:tableStyleId>
              </a:tblPr>
              <a:tblGrid>
                <a:gridCol w="1859717">
                  <a:extLst>
                    <a:ext uri="{9D8B030D-6E8A-4147-A177-3AD203B41FA5}">
                      <a16:colId xmlns:a16="http://schemas.microsoft.com/office/drawing/2014/main" val="2382218087"/>
                    </a:ext>
                  </a:extLst>
                </a:gridCol>
                <a:gridCol w="1506746">
                  <a:extLst>
                    <a:ext uri="{9D8B030D-6E8A-4147-A177-3AD203B41FA5}">
                      <a16:colId xmlns:a16="http://schemas.microsoft.com/office/drawing/2014/main" val="3953468724"/>
                    </a:ext>
                  </a:extLst>
                </a:gridCol>
                <a:gridCol w="1506746">
                  <a:extLst>
                    <a:ext uri="{9D8B030D-6E8A-4147-A177-3AD203B41FA5}">
                      <a16:colId xmlns:a16="http://schemas.microsoft.com/office/drawing/2014/main" val="2046445661"/>
                    </a:ext>
                  </a:extLst>
                </a:gridCol>
                <a:gridCol w="1506746">
                  <a:extLst>
                    <a:ext uri="{9D8B030D-6E8A-4147-A177-3AD203B41FA5}">
                      <a16:colId xmlns:a16="http://schemas.microsoft.com/office/drawing/2014/main" val="3495531260"/>
                    </a:ext>
                  </a:extLst>
                </a:gridCol>
                <a:gridCol w="1506746">
                  <a:extLst>
                    <a:ext uri="{9D8B030D-6E8A-4147-A177-3AD203B41FA5}">
                      <a16:colId xmlns:a16="http://schemas.microsoft.com/office/drawing/2014/main" val="3623106039"/>
                    </a:ext>
                  </a:extLst>
                </a:gridCol>
              </a:tblGrid>
              <a:tr h="274320">
                <a:tc rowSpan="2">
                  <a:txBody>
                    <a:bodyPr/>
                    <a:lstStyle/>
                    <a:p>
                      <a:pPr algn="ctr"/>
                      <a:r>
                        <a:rPr lang="en-US" sz="1400" b="1" i="0" dirty="0">
                          <a:latin typeface="+mj-lt"/>
                        </a:rPr>
                        <a:t>Models</a:t>
                      </a:r>
                    </a:p>
                  </a:txBody>
                  <a:tcPr marL="68580" marR="68580" marT="34290" marB="34290" anchor="ctr"/>
                </a:tc>
                <a:tc gridSpan="4">
                  <a:txBody>
                    <a:bodyPr/>
                    <a:lstStyle/>
                    <a:p>
                      <a:pPr algn="ctr"/>
                      <a:r>
                        <a:rPr lang="en-US" sz="1400" b="1" i="0" dirty="0">
                          <a:latin typeface="+mj-lt"/>
                        </a:rPr>
                        <a:t>Evaluation Metrics (%)</a:t>
                      </a:r>
                    </a:p>
                  </a:txBody>
                  <a:tcPr marL="68580" marR="68580" marT="34290" marB="34290" anchor="ctr">
                    <a:solidFill>
                      <a:schemeClr val="accent2"/>
                    </a:solidFill>
                  </a:tcPr>
                </a:tc>
                <a:tc hMerge="1">
                  <a:txBody>
                    <a:bodyPr/>
                    <a:lstStyle/>
                    <a:p>
                      <a:pPr algn="ctr"/>
                      <a:endParaRPr lang="en-US" sz="1400" b="1" i="0" dirty="0">
                        <a:latin typeface="+mj-lt"/>
                      </a:endParaRPr>
                    </a:p>
                  </a:txBody>
                  <a:tcPr marL="68580" marR="68580" marT="34290" marB="34290" anchor="ctr">
                    <a:solidFill>
                      <a:schemeClr val="accent2"/>
                    </a:solidFill>
                  </a:tcPr>
                </a:tc>
                <a:tc hMerge="1">
                  <a:txBody>
                    <a:bodyPr/>
                    <a:lstStyle/>
                    <a:p>
                      <a:pPr algn="ctr"/>
                      <a:endParaRPr lang="en-US" sz="1400" b="1" i="0" dirty="0">
                        <a:latin typeface="+mj-lt"/>
                      </a:endParaRPr>
                    </a:p>
                  </a:txBody>
                  <a:tcPr marL="68580" marR="68580" marT="34290" marB="34290" anchor="ctr">
                    <a:solidFill>
                      <a:schemeClr val="accent2"/>
                    </a:solidFill>
                  </a:tcPr>
                </a:tc>
                <a:tc hMerge="1">
                  <a:txBody>
                    <a:bodyPr/>
                    <a:lstStyle/>
                    <a:p>
                      <a:pPr algn="ctr"/>
                      <a:endParaRPr lang="en-US" sz="1400" b="1" i="0" dirty="0">
                        <a:latin typeface="+mj-lt"/>
                      </a:endParaRPr>
                    </a:p>
                  </a:txBody>
                  <a:tcPr marL="68580" marR="68580" marT="34290" marB="34290" anchor="ctr">
                    <a:solidFill>
                      <a:schemeClr val="accent2"/>
                    </a:solidFill>
                  </a:tcPr>
                </a:tc>
                <a:extLst>
                  <a:ext uri="{0D108BD9-81ED-4DB2-BD59-A6C34878D82A}">
                    <a16:rowId xmlns:a16="http://schemas.microsoft.com/office/drawing/2014/main" val="2857107962"/>
                  </a:ext>
                </a:extLst>
              </a:tr>
              <a:tr h="274320">
                <a:tc vMerge="1">
                  <a:txBody>
                    <a:bodyPr/>
                    <a:lstStyle/>
                    <a:p>
                      <a:endParaRPr lang="en-IN"/>
                    </a:p>
                  </a:txBody>
                  <a:tcPr/>
                </a:tc>
                <a:tc>
                  <a:txBody>
                    <a:bodyPr/>
                    <a:lstStyle/>
                    <a:p>
                      <a:pPr algn="ctr"/>
                      <a:r>
                        <a:rPr lang="en-US" sz="1400" b="1" i="0" dirty="0">
                          <a:solidFill>
                            <a:srgbClr val="FFF6F6"/>
                          </a:solidFill>
                          <a:latin typeface="+mj-lt"/>
                        </a:rPr>
                        <a:t>BLEU-4</a:t>
                      </a:r>
                    </a:p>
                  </a:txBody>
                  <a:tcPr marL="68580" marR="68580" marT="34290" marB="34290" anchor="ctr">
                    <a:solidFill>
                      <a:schemeClr val="accent2"/>
                    </a:solidFill>
                  </a:tcPr>
                </a:tc>
                <a:tc>
                  <a:txBody>
                    <a:bodyPr/>
                    <a:lstStyle/>
                    <a:p>
                      <a:pPr algn="ctr"/>
                      <a:r>
                        <a:rPr lang="en-US" sz="1400" b="1" i="0" dirty="0">
                          <a:solidFill>
                            <a:srgbClr val="FFF6F6"/>
                          </a:solidFill>
                          <a:latin typeface="+mj-lt"/>
                        </a:rPr>
                        <a:t>CIDEr</a:t>
                      </a:r>
                    </a:p>
                  </a:txBody>
                  <a:tcPr marL="68580" marR="68580" marT="34290" marB="34290" anchor="ctr">
                    <a:solidFill>
                      <a:schemeClr val="accent2"/>
                    </a:solidFill>
                  </a:tcPr>
                </a:tc>
                <a:tc>
                  <a:txBody>
                    <a:bodyPr/>
                    <a:lstStyle/>
                    <a:p>
                      <a:pPr algn="ctr"/>
                      <a:r>
                        <a:rPr lang="en-US" sz="1400" b="1" i="0" dirty="0">
                          <a:solidFill>
                            <a:srgbClr val="FFF6F6"/>
                          </a:solidFill>
                          <a:latin typeface="+mj-lt"/>
                        </a:rPr>
                        <a:t>ROUGE-L</a:t>
                      </a:r>
                    </a:p>
                  </a:txBody>
                  <a:tcPr marL="68580" marR="68580" marT="34290" marB="34290" anchor="ctr">
                    <a:solidFill>
                      <a:schemeClr val="accent2"/>
                    </a:solidFill>
                  </a:tcPr>
                </a:tc>
                <a:tc>
                  <a:txBody>
                    <a:bodyPr/>
                    <a:lstStyle/>
                    <a:p>
                      <a:pPr algn="ctr"/>
                      <a:r>
                        <a:rPr lang="en-US" sz="1400" b="1" i="0" dirty="0">
                          <a:solidFill>
                            <a:srgbClr val="FFF6F6"/>
                          </a:solidFill>
                          <a:latin typeface="+mj-lt"/>
                        </a:rPr>
                        <a:t>METEOR</a:t>
                      </a:r>
                    </a:p>
                  </a:txBody>
                  <a:tcPr marL="68580" marR="68580" marT="34290" marB="34290" anchor="ctr">
                    <a:solidFill>
                      <a:schemeClr val="accent2"/>
                    </a:solidFill>
                  </a:tcPr>
                </a:tc>
                <a:extLst>
                  <a:ext uri="{0D108BD9-81ED-4DB2-BD59-A6C34878D82A}">
                    <a16:rowId xmlns:a16="http://schemas.microsoft.com/office/drawing/2014/main" val="2548491233"/>
                  </a:ext>
                </a:extLst>
              </a:tr>
              <a:tr h="548640">
                <a:tc>
                  <a:txBody>
                    <a:bodyPr/>
                    <a:lstStyle/>
                    <a:p>
                      <a:pPr algn="ctr"/>
                      <a:r>
                        <a:rPr lang="en-US" sz="1400" b="0" i="0" dirty="0">
                          <a:latin typeface="+mn-lt"/>
                        </a:rPr>
                        <a:t>Tang (2023)</a:t>
                      </a:r>
                    </a:p>
                  </a:txBody>
                  <a:tcPr marL="68580" marR="68580" marT="34290" marB="34290" anchor="ctr"/>
                </a:tc>
                <a:tc>
                  <a:txBody>
                    <a:bodyPr/>
                    <a:lstStyle/>
                    <a:p>
                      <a:pPr algn="ctr"/>
                      <a:r>
                        <a:rPr lang="en-US" sz="1400" b="0" i="0" dirty="0">
                          <a:latin typeface="+mn-lt"/>
                        </a:rPr>
                        <a:t>10.0</a:t>
                      </a:r>
                    </a:p>
                  </a:txBody>
                  <a:tcPr marL="68580" marR="68580" marT="34290" marB="34290" anchor="ctr"/>
                </a:tc>
                <a:tc>
                  <a:txBody>
                    <a:bodyPr/>
                    <a:lstStyle/>
                    <a:p>
                      <a:pPr algn="ctr"/>
                      <a:r>
                        <a:rPr lang="en-US" sz="1400" b="0" i="0" dirty="0">
                          <a:latin typeface="+mn-lt"/>
                        </a:rPr>
                        <a:t>81.8</a:t>
                      </a:r>
                      <a:endParaRPr lang="en-IN" b="0" dirty="0"/>
                    </a:p>
                  </a:txBody>
                  <a:tcPr marL="68580" marR="68580" marT="34290" marB="34290" anchor="ctr"/>
                </a:tc>
                <a:tc>
                  <a:txBody>
                    <a:bodyPr/>
                    <a:lstStyle/>
                    <a:p>
                      <a:pPr marL="0" algn="ctr" defTabSz="685800" rtl="0" eaLnBrk="1" latinLnBrk="0" hangingPunct="1"/>
                      <a:r>
                        <a:rPr lang="en-US" sz="1400" b="1" i="0" u="sng" kern="1200" dirty="0">
                          <a:solidFill>
                            <a:srgbClr val="00B050"/>
                          </a:solidFill>
                          <a:latin typeface="+mn-lt"/>
                          <a:ea typeface="+mn-ea"/>
                          <a:cs typeface="+mn-cs"/>
                        </a:rPr>
                        <a:t>23.0</a:t>
                      </a:r>
                      <a:endParaRPr lang="en-IN" sz="1400" b="1" i="0" u="sng" kern="1200" dirty="0">
                        <a:solidFill>
                          <a:srgbClr val="00B050"/>
                        </a:solidFill>
                        <a:latin typeface="+mn-lt"/>
                        <a:ea typeface="+mn-ea"/>
                        <a:cs typeface="+mn-cs"/>
                      </a:endParaRPr>
                    </a:p>
                  </a:txBody>
                  <a:tcPr marL="68580" marR="68580" marT="34290" marB="34290" anchor="ctr"/>
                </a:tc>
                <a:tc>
                  <a:txBody>
                    <a:bodyPr/>
                    <a:lstStyle/>
                    <a:p>
                      <a:pPr marL="0" algn="ctr" defTabSz="685800" rtl="0" eaLnBrk="1" latinLnBrk="0" hangingPunct="1"/>
                      <a:r>
                        <a:rPr lang="en-US" sz="1400" b="1" i="0" u="sng" kern="1200" dirty="0">
                          <a:solidFill>
                            <a:srgbClr val="00B050"/>
                          </a:solidFill>
                          <a:latin typeface="+mn-lt"/>
                          <a:ea typeface="+mn-ea"/>
                          <a:cs typeface="+mn-cs"/>
                        </a:rPr>
                        <a:t>11.9</a:t>
                      </a:r>
                      <a:endParaRPr lang="en-IN" sz="1400" b="1" i="0" u="sng" kern="1200" dirty="0">
                        <a:solidFill>
                          <a:srgbClr val="00B050"/>
                        </a:solidFill>
                        <a:latin typeface="+mn-lt"/>
                        <a:ea typeface="+mn-ea"/>
                        <a:cs typeface="+mn-cs"/>
                      </a:endParaRPr>
                    </a:p>
                  </a:txBody>
                  <a:tcPr marL="68580" marR="68580" marT="34290" marB="34290" anchor="ctr"/>
                </a:tc>
                <a:extLst>
                  <a:ext uri="{0D108BD9-81ED-4DB2-BD59-A6C34878D82A}">
                    <a16:rowId xmlns:a16="http://schemas.microsoft.com/office/drawing/2014/main" val="1671386868"/>
                  </a:ext>
                </a:extLst>
              </a:tr>
              <a:tr h="548640">
                <a:tc>
                  <a:txBody>
                    <a:bodyPr/>
                    <a:lstStyle/>
                    <a:p>
                      <a:pPr algn="ctr"/>
                      <a:r>
                        <a:rPr lang="en-US" sz="1400" b="0" i="0" dirty="0" err="1">
                          <a:latin typeface="+mn-lt"/>
                        </a:rPr>
                        <a:t>Moratelli</a:t>
                      </a:r>
                      <a:r>
                        <a:rPr lang="en-US" sz="1400" b="0" i="0" dirty="0">
                          <a:latin typeface="+mn-lt"/>
                        </a:rPr>
                        <a:t> (2023)</a:t>
                      </a:r>
                    </a:p>
                  </a:txBody>
                  <a:tcPr marL="68580" marR="68580" marT="34290" marB="34290" anchor="ctr"/>
                </a:tc>
                <a:tc>
                  <a:txBody>
                    <a:bodyPr/>
                    <a:lstStyle/>
                    <a:p>
                      <a:pPr algn="ctr"/>
                      <a:r>
                        <a:rPr lang="en-US" sz="1400" b="1" i="0" u="sng" dirty="0">
                          <a:solidFill>
                            <a:srgbClr val="00B050"/>
                          </a:solidFill>
                          <a:latin typeface="+mn-lt"/>
                        </a:rPr>
                        <a:t>10.6</a:t>
                      </a:r>
                    </a:p>
                  </a:txBody>
                  <a:tcPr marL="68580" marR="68580" marT="34290" marB="34290" anchor="ctr"/>
                </a:tc>
                <a:tc>
                  <a:txBody>
                    <a:bodyPr/>
                    <a:lstStyle/>
                    <a:p>
                      <a:pPr marL="0" algn="ctr" defTabSz="685800" rtl="0" eaLnBrk="1" latinLnBrk="0" hangingPunct="1"/>
                      <a:r>
                        <a:rPr lang="en-US" sz="1400" b="1" i="0" u="sng" kern="1200" dirty="0">
                          <a:solidFill>
                            <a:srgbClr val="00B050"/>
                          </a:solidFill>
                          <a:latin typeface="+mn-lt"/>
                          <a:ea typeface="+mn-ea"/>
                          <a:cs typeface="+mn-cs"/>
                        </a:rPr>
                        <a:t>84.5</a:t>
                      </a:r>
                      <a:endParaRPr lang="en-IN" sz="1400" b="1" i="0" u="sng" kern="1200" dirty="0">
                        <a:solidFill>
                          <a:srgbClr val="00B050"/>
                        </a:solidFill>
                        <a:latin typeface="+mn-lt"/>
                        <a:ea typeface="+mn-ea"/>
                        <a:cs typeface="+mn-cs"/>
                      </a:endParaRPr>
                    </a:p>
                  </a:txBody>
                  <a:tcPr marL="68580" marR="68580" marT="34290" marB="34290" anchor="ctr"/>
                </a:tc>
                <a:tc>
                  <a:txBody>
                    <a:bodyPr/>
                    <a:lstStyle/>
                    <a:p>
                      <a:pPr algn="ctr"/>
                      <a:r>
                        <a:rPr lang="en-US" sz="1400" b="0" i="0" dirty="0">
                          <a:latin typeface="+mn-lt"/>
                        </a:rPr>
                        <a:t>22.4</a:t>
                      </a:r>
                      <a:endParaRPr lang="en-IN" b="0" dirty="0"/>
                    </a:p>
                  </a:txBody>
                  <a:tcPr marL="68580" marR="68580" marT="34290" marB="34290" anchor="ctr"/>
                </a:tc>
                <a:tc>
                  <a:txBody>
                    <a:bodyPr/>
                    <a:lstStyle/>
                    <a:p>
                      <a:pPr algn="ctr"/>
                      <a:r>
                        <a:rPr lang="en-US" sz="1400" b="0" i="0" dirty="0">
                          <a:latin typeface="+mn-lt"/>
                        </a:rPr>
                        <a:t>11.6</a:t>
                      </a:r>
                      <a:endParaRPr lang="en-IN" b="0" dirty="0"/>
                    </a:p>
                  </a:txBody>
                  <a:tcPr marL="68580" marR="68580" marT="34290" marB="34290" anchor="ctr"/>
                </a:tc>
                <a:extLst>
                  <a:ext uri="{0D108BD9-81ED-4DB2-BD59-A6C34878D82A}">
                    <a16:rowId xmlns:a16="http://schemas.microsoft.com/office/drawing/2014/main" val="380626418"/>
                  </a:ext>
                </a:extLst>
              </a:tr>
              <a:tr h="548640">
                <a:tc>
                  <a:txBody>
                    <a:bodyPr/>
                    <a:lstStyle/>
                    <a:p>
                      <a:pPr algn="ctr"/>
                      <a:r>
                        <a:rPr lang="en-US" sz="1400" b="0" i="0" dirty="0">
                          <a:latin typeface="+mn-lt"/>
                        </a:rPr>
                        <a:t>OPT-6.7</a:t>
                      </a:r>
                    </a:p>
                    <a:p>
                      <a:pPr algn="ctr"/>
                      <a:r>
                        <a:rPr lang="en-US" sz="1400" b="0" i="0" dirty="0">
                          <a:latin typeface="+mn-lt"/>
                        </a:rPr>
                        <a:t>Stage One</a:t>
                      </a:r>
                    </a:p>
                  </a:txBody>
                  <a:tcPr marL="68580" marR="68580" marT="34290" marB="34290" anchor="ctr"/>
                </a:tc>
                <a:tc>
                  <a:txBody>
                    <a:bodyPr/>
                    <a:lstStyle/>
                    <a:p>
                      <a:pPr algn="ctr"/>
                      <a:r>
                        <a:rPr lang="en-US" sz="1400" b="0" i="0" dirty="0">
                          <a:latin typeface="+mn-lt"/>
                        </a:rPr>
                        <a:t>12.331</a:t>
                      </a:r>
                    </a:p>
                  </a:txBody>
                  <a:tcPr marL="68580" marR="68580" marT="34290" marB="34290" anchor="ctr"/>
                </a:tc>
                <a:tc>
                  <a:txBody>
                    <a:bodyPr/>
                    <a:lstStyle/>
                    <a:p>
                      <a:pPr algn="ctr"/>
                      <a:r>
                        <a:rPr lang="en-US" sz="1400" b="0" i="0" dirty="0">
                          <a:latin typeface="+mn-lt"/>
                        </a:rPr>
                        <a:t>101.205	</a:t>
                      </a:r>
                      <a:endParaRPr lang="en-IN" b="0" dirty="0"/>
                    </a:p>
                  </a:txBody>
                  <a:tcPr marL="68580" marR="68580" marT="34290" marB="34290" anchor="ctr"/>
                </a:tc>
                <a:tc>
                  <a:txBody>
                    <a:bodyPr/>
                    <a:lstStyle/>
                    <a:p>
                      <a:pPr algn="ctr"/>
                      <a:r>
                        <a:rPr lang="en-US" sz="1400" b="0" i="0" dirty="0">
                          <a:latin typeface="+mn-lt"/>
                        </a:rPr>
                        <a:t>26.746</a:t>
                      </a:r>
                      <a:endParaRPr lang="en-IN" b="0" dirty="0"/>
                    </a:p>
                  </a:txBody>
                  <a:tcPr marL="68580" marR="68580" marT="34290" marB="34290" anchor="ctr"/>
                </a:tc>
                <a:tc>
                  <a:txBody>
                    <a:bodyPr/>
                    <a:lstStyle/>
                    <a:p>
                      <a:pPr algn="ctr"/>
                      <a:r>
                        <a:rPr lang="en-US" sz="1400" b="0" i="0" dirty="0">
                          <a:latin typeface="+mn-lt"/>
                        </a:rPr>
                        <a:t>14.279</a:t>
                      </a:r>
                      <a:endParaRPr lang="en-IN" b="0" dirty="0"/>
                    </a:p>
                  </a:txBody>
                  <a:tcPr marL="68580" marR="68580" marT="34290" marB="34290" anchor="ctr"/>
                </a:tc>
                <a:extLst>
                  <a:ext uri="{0D108BD9-81ED-4DB2-BD59-A6C34878D82A}">
                    <a16:rowId xmlns:a16="http://schemas.microsoft.com/office/drawing/2014/main" val="2132482967"/>
                  </a:ext>
                </a:extLst>
              </a:tr>
              <a:tr h="548640">
                <a:tc>
                  <a:txBody>
                    <a:bodyPr/>
                    <a:lstStyle/>
                    <a:p>
                      <a:pPr algn="ctr"/>
                      <a:r>
                        <a:rPr lang="en-US" sz="1400" b="0" i="0" dirty="0">
                          <a:latin typeface="+mn-lt"/>
                        </a:rPr>
                        <a:t>OPT-6.7</a:t>
                      </a:r>
                    </a:p>
                    <a:p>
                      <a:pPr algn="ctr"/>
                      <a:r>
                        <a:rPr lang="en-US" sz="1400" b="0" i="0" dirty="0">
                          <a:latin typeface="+mn-lt"/>
                        </a:rPr>
                        <a:t>Stage Two</a:t>
                      </a:r>
                    </a:p>
                  </a:txBody>
                  <a:tcPr marL="68580" marR="68580" marT="34290" marB="34290" anchor="ctr"/>
                </a:tc>
                <a:tc>
                  <a:txBody>
                    <a:bodyPr/>
                    <a:lstStyle/>
                    <a:p>
                      <a:pPr algn="ctr"/>
                      <a:r>
                        <a:rPr lang="en-US" sz="1400" b="0" i="0" dirty="0">
                          <a:latin typeface="+mn-lt"/>
                        </a:rPr>
                        <a:t>13.409</a:t>
                      </a:r>
                    </a:p>
                  </a:txBody>
                  <a:tcPr marL="68580" marR="68580" marT="34290" marB="34290" anchor="ctr"/>
                </a:tc>
                <a:tc>
                  <a:txBody>
                    <a:bodyPr/>
                    <a:lstStyle/>
                    <a:p>
                      <a:pPr algn="ctr"/>
                      <a:r>
                        <a:rPr lang="en-US" sz="1400" b="0" i="0" dirty="0">
                          <a:latin typeface="+mn-lt"/>
                        </a:rPr>
                        <a:t>111.396</a:t>
                      </a:r>
                      <a:endParaRPr lang="en-IN" b="0" dirty="0"/>
                    </a:p>
                  </a:txBody>
                  <a:tcPr marL="68580" marR="68580" marT="34290" marB="34290" anchor="ctr"/>
                </a:tc>
                <a:tc>
                  <a:txBody>
                    <a:bodyPr/>
                    <a:lstStyle/>
                    <a:p>
                      <a:pPr algn="ctr"/>
                      <a:r>
                        <a:rPr lang="en-US" sz="1400" b="0" i="0" dirty="0">
                          <a:latin typeface="+mn-lt"/>
                        </a:rPr>
                        <a:t>27.756</a:t>
                      </a:r>
                      <a:endParaRPr lang="en-IN" b="0" dirty="0"/>
                    </a:p>
                  </a:txBody>
                  <a:tcPr marL="68580" marR="68580" marT="34290" marB="34290" anchor="ctr"/>
                </a:tc>
                <a:tc>
                  <a:txBody>
                    <a:bodyPr/>
                    <a:lstStyle/>
                    <a:p>
                      <a:pPr algn="ctr"/>
                      <a:r>
                        <a:rPr lang="en-US" sz="1400" b="0" i="0" dirty="0">
                          <a:latin typeface="+mn-lt"/>
                        </a:rPr>
                        <a:t>14.946</a:t>
                      </a:r>
                      <a:endParaRPr lang="en-IN" b="0" dirty="0"/>
                    </a:p>
                  </a:txBody>
                  <a:tcPr marL="68580" marR="68580" marT="34290" marB="34290" anchor="ctr"/>
                </a:tc>
                <a:extLst>
                  <a:ext uri="{0D108BD9-81ED-4DB2-BD59-A6C34878D82A}">
                    <a16:rowId xmlns:a16="http://schemas.microsoft.com/office/drawing/2014/main" val="3936251906"/>
                  </a:ext>
                </a:extLst>
              </a:tr>
              <a:tr h="548640">
                <a:tc>
                  <a:txBody>
                    <a:bodyPr/>
                    <a:lstStyle/>
                    <a:p>
                      <a:pPr algn="ctr"/>
                      <a:r>
                        <a:rPr lang="en-US" sz="1400" b="0" i="0" dirty="0">
                          <a:latin typeface="+mn-lt"/>
                        </a:rPr>
                        <a:t>OPT-6.7</a:t>
                      </a:r>
                    </a:p>
                    <a:p>
                      <a:pPr algn="ctr"/>
                      <a:r>
                        <a:rPr lang="en-US" sz="1400" b="0" i="0" dirty="0">
                          <a:latin typeface="+mn-lt"/>
                        </a:rPr>
                        <a:t>Stage Three</a:t>
                      </a:r>
                    </a:p>
                  </a:txBody>
                  <a:tcPr marL="68580" marR="68580" marT="34290" marB="34290" anchor="ctr"/>
                </a:tc>
                <a:tc>
                  <a:txBody>
                    <a:bodyPr/>
                    <a:lstStyle/>
                    <a:p>
                      <a:pPr algn="ctr"/>
                      <a:r>
                        <a:rPr lang="en-US" sz="1400" b="1" i="0" u="sng" dirty="0">
                          <a:solidFill>
                            <a:srgbClr val="7030A0"/>
                          </a:solidFill>
                          <a:latin typeface="+mn-lt"/>
                        </a:rPr>
                        <a:t>14.881</a:t>
                      </a:r>
                    </a:p>
                  </a:txBody>
                  <a:tcPr marL="68580" marR="68580" marT="34290" marB="34290" anchor="ctr"/>
                </a:tc>
                <a:tc>
                  <a:txBody>
                    <a:bodyPr/>
                    <a:lstStyle/>
                    <a:p>
                      <a:pPr algn="ctr"/>
                      <a:r>
                        <a:rPr lang="en-US" sz="1400" b="1" i="0" u="sng" dirty="0">
                          <a:solidFill>
                            <a:srgbClr val="7030A0"/>
                          </a:solidFill>
                          <a:latin typeface="+mn-lt"/>
                        </a:rPr>
                        <a:t>123.515</a:t>
                      </a:r>
                      <a:endParaRPr lang="en-IN" b="1" u="sng" dirty="0">
                        <a:solidFill>
                          <a:srgbClr val="7030A0"/>
                        </a:solidFill>
                      </a:endParaRPr>
                    </a:p>
                  </a:txBody>
                  <a:tcPr marL="68580" marR="68580" marT="34290" marB="34290" anchor="ctr"/>
                </a:tc>
                <a:tc>
                  <a:txBody>
                    <a:bodyPr/>
                    <a:lstStyle/>
                    <a:p>
                      <a:pPr algn="ctr"/>
                      <a:r>
                        <a:rPr lang="en-US" sz="1400" b="1" i="0" u="sng" dirty="0">
                          <a:solidFill>
                            <a:srgbClr val="7030A0"/>
                          </a:solidFill>
                          <a:latin typeface="+mn-lt"/>
                        </a:rPr>
                        <a:t>28.667</a:t>
                      </a:r>
                      <a:endParaRPr lang="en-IN" b="1" u="sng" dirty="0">
                        <a:solidFill>
                          <a:srgbClr val="7030A0"/>
                        </a:solidFill>
                      </a:endParaRPr>
                    </a:p>
                  </a:txBody>
                  <a:tcPr marL="68580" marR="68580" marT="34290" marB="34290" anchor="ctr"/>
                </a:tc>
                <a:tc>
                  <a:txBody>
                    <a:bodyPr/>
                    <a:lstStyle/>
                    <a:p>
                      <a:pPr algn="ctr"/>
                      <a:r>
                        <a:rPr lang="en-US" sz="1400" b="1" i="0" u="sng" dirty="0">
                          <a:solidFill>
                            <a:srgbClr val="7030A0"/>
                          </a:solidFill>
                          <a:latin typeface="+mn-lt"/>
                        </a:rPr>
                        <a:t>15.419</a:t>
                      </a:r>
                      <a:endParaRPr lang="en-IN" b="1" u="sng" dirty="0">
                        <a:solidFill>
                          <a:srgbClr val="7030A0"/>
                        </a:solidFill>
                      </a:endParaRPr>
                    </a:p>
                  </a:txBody>
                  <a:tcPr marL="68580" marR="68580" marT="34290" marB="34290" anchor="ctr"/>
                </a:tc>
                <a:extLst>
                  <a:ext uri="{0D108BD9-81ED-4DB2-BD59-A6C34878D82A}">
                    <a16:rowId xmlns:a16="http://schemas.microsoft.com/office/drawing/2014/main" val="568537164"/>
                  </a:ext>
                </a:extLst>
              </a:tr>
            </a:tbl>
          </a:graphicData>
        </a:graphic>
      </p:graphicFrame>
      <p:sp>
        <p:nvSpPr>
          <p:cNvPr id="3" name="TextBox 2">
            <a:extLst>
              <a:ext uri="{FF2B5EF4-FFF2-40B4-BE49-F238E27FC236}">
                <a16:creationId xmlns:a16="http://schemas.microsoft.com/office/drawing/2014/main" id="{CD58462D-AA4A-99E4-6146-BEF9F71F8C5A}"/>
              </a:ext>
            </a:extLst>
          </p:cNvPr>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 FashionVLM (2024) – Gaurika Gupta &amp; Pritam Shete</a:t>
            </a:r>
          </a:p>
        </p:txBody>
      </p:sp>
    </p:spTree>
    <p:extLst>
      <p:ext uri="{BB962C8B-B14F-4D97-AF65-F5344CB8AC3E}">
        <p14:creationId xmlns:p14="http://schemas.microsoft.com/office/powerpoint/2010/main" val="26963685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err="1"/>
              <a:t>Talaash</a:t>
            </a:r>
            <a:r>
              <a:rPr lang="en-US" dirty="0"/>
              <a:t> – Image Registration</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Input images</a:t>
            </a:r>
          </a:p>
          <a:p>
            <a:pPr marL="171450" lvl="1">
              <a:spcBef>
                <a:spcPts val="750"/>
              </a:spcBef>
              <a:spcAft>
                <a:spcPts val="600"/>
              </a:spcAft>
              <a:buClr>
                <a:schemeClr val="accent2"/>
              </a:buClr>
            </a:pPr>
            <a:r>
              <a:rPr lang="en-IN" sz="2000" dirty="0"/>
              <a:t>Load images</a:t>
            </a:r>
          </a:p>
          <a:p>
            <a:pPr marL="171450" lvl="1">
              <a:spcBef>
                <a:spcPts val="750"/>
              </a:spcBef>
              <a:spcAft>
                <a:spcPts val="600"/>
              </a:spcAft>
              <a:buClr>
                <a:schemeClr val="accent2"/>
              </a:buClr>
            </a:pPr>
            <a:r>
              <a:rPr lang="en-IN" sz="2000" dirty="0"/>
              <a:t>Transform images</a:t>
            </a:r>
          </a:p>
          <a:p>
            <a:pPr marL="171450" lvl="1">
              <a:spcBef>
                <a:spcPts val="750"/>
              </a:spcBef>
              <a:spcAft>
                <a:spcPts val="600"/>
              </a:spcAft>
              <a:buClr>
                <a:schemeClr val="accent2"/>
              </a:buClr>
            </a:pPr>
            <a:r>
              <a:rPr lang="en-IN" sz="2000" dirty="0"/>
              <a:t>Compute image embeddings</a:t>
            </a:r>
          </a:p>
          <a:p>
            <a:pPr marL="171450" lvl="1">
              <a:spcBef>
                <a:spcPts val="750"/>
              </a:spcBef>
              <a:spcAft>
                <a:spcPts val="600"/>
              </a:spcAft>
              <a:buClr>
                <a:schemeClr val="accent2"/>
              </a:buClr>
            </a:pPr>
            <a:r>
              <a:rPr lang="en-IN" sz="2000" dirty="0"/>
              <a:t>Store embeddings in vector database </a:t>
            </a:r>
          </a:p>
        </p:txBody>
      </p:sp>
    </p:spTree>
    <p:extLst>
      <p:ext uri="{BB962C8B-B14F-4D97-AF65-F5344CB8AC3E}">
        <p14:creationId xmlns:p14="http://schemas.microsoft.com/office/powerpoint/2010/main" val="7667835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err="1"/>
              <a:t>Talaash</a:t>
            </a:r>
            <a:r>
              <a:rPr lang="en-US" dirty="0"/>
              <a:t> – Multimodal Search and Retrieval</a:t>
            </a:r>
            <a:endParaRPr lang="en-US" dirty="0">
              <a:solidFill>
                <a:schemeClr val="accent2">
                  <a:lumMod val="50000"/>
                </a:schemeClr>
              </a:solidFill>
            </a:endParaRPr>
          </a:p>
        </p:txBody>
      </p:sp>
      <p:grpSp>
        <p:nvGrpSpPr>
          <p:cNvPr id="43" name="Group 42">
            <a:extLst>
              <a:ext uri="{FF2B5EF4-FFF2-40B4-BE49-F238E27FC236}">
                <a16:creationId xmlns:a16="http://schemas.microsoft.com/office/drawing/2014/main" id="{8E24B980-EACC-89FE-A507-35890E87722D}"/>
              </a:ext>
            </a:extLst>
          </p:cNvPr>
          <p:cNvGrpSpPr/>
          <p:nvPr/>
        </p:nvGrpSpPr>
        <p:grpSpPr>
          <a:xfrm>
            <a:off x="917770" y="1126454"/>
            <a:ext cx="6832950" cy="3908820"/>
            <a:chOff x="917770" y="1217897"/>
            <a:chExt cx="6832950" cy="3908820"/>
          </a:xfrm>
        </p:grpSpPr>
        <p:sp>
          <p:nvSpPr>
            <p:cNvPr id="4" name="TextBox 3">
              <a:extLst>
                <a:ext uri="{FF2B5EF4-FFF2-40B4-BE49-F238E27FC236}">
                  <a16:creationId xmlns:a16="http://schemas.microsoft.com/office/drawing/2014/main" id="{5D890077-5082-DD58-DD8D-96C8455D7454}"/>
                </a:ext>
              </a:extLst>
            </p:cNvPr>
            <p:cNvSpPr txBox="1"/>
            <p:nvPr/>
          </p:nvSpPr>
          <p:spPr>
            <a:xfrm>
              <a:off x="4021666" y="4480386"/>
              <a:ext cx="1174682" cy="646331"/>
            </a:xfrm>
            <a:prstGeom prst="rect">
              <a:avLst/>
            </a:prstGeom>
            <a:noFill/>
          </p:spPr>
          <p:txBody>
            <a:bodyPr wrap="none" rtlCol="0">
              <a:spAutoFit/>
            </a:bodyPr>
            <a:lstStyle/>
            <a:p>
              <a:pPr algn="ctr"/>
              <a:r>
                <a:rPr lang="en-IN" sz="1800" b="1" dirty="0">
                  <a:solidFill>
                    <a:schemeClr val="accent6">
                      <a:lumMod val="50000"/>
                    </a:schemeClr>
                  </a:solidFill>
                </a:rPr>
                <a:t>Vector </a:t>
              </a:r>
            </a:p>
            <a:p>
              <a:pPr algn="ctr"/>
              <a:r>
                <a:rPr lang="en-IN" sz="1800" b="1" dirty="0">
                  <a:solidFill>
                    <a:schemeClr val="accent6">
                      <a:lumMod val="50000"/>
                    </a:schemeClr>
                  </a:solidFill>
                </a:rPr>
                <a:t>Database</a:t>
              </a:r>
            </a:p>
          </p:txBody>
        </p:sp>
        <p:grpSp>
          <p:nvGrpSpPr>
            <p:cNvPr id="7" name="Google Shape;7923;p66">
              <a:extLst>
                <a:ext uri="{FF2B5EF4-FFF2-40B4-BE49-F238E27FC236}">
                  <a16:creationId xmlns:a16="http://schemas.microsoft.com/office/drawing/2014/main" id="{AC7BCCBE-4EC3-28E5-EE0E-18691471963E}"/>
                </a:ext>
              </a:extLst>
            </p:cNvPr>
            <p:cNvGrpSpPr/>
            <p:nvPr/>
          </p:nvGrpSpPr>
          <p:grpSpPr>
            <a:xfrm>
              <a:off x="917770" y="1674384"/>
              <a:ext cx="756000" cy="756000"/>
              <a:chOff x="-5971525" y="3273750"/>
              <a:chExt cx="292250" cy="290650"/>
            </a:xfrm>
            <a:solidFill>
              <a:schemeClr val="accent2">
                <a:lumMod val="75000"/>
              </a:schemeClr>
            </a:solidFill>
          </p:grpSpPr>
          <p:sp>
            <p:nvSpPr>
              <p:cNvPr id="38" name="Google Shape;7924;p66">
                <a:extLst>
                  <a:ext uri="{FF2B5EF4-FFF2-40B4-BE49-F238E27FC236}">
                    <a16:creationId xmlns:a16="http://schemas.microsoft.com/office/drawing/2014/main" id="{373ED3B3-A2C0-3819-FED5-FB06B675D77E}"/>
                  </a:ext>
                </a:extLst>
              </p:cNvPr>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7925;p66">
                <a:extLst>
                  <a:ext uri="{FF2B5EF4-FFF2-40B4-BE49-F238E27FC236}">
                    <a16:creationId xmlns:a16="http://schemas.microsoft.com/office/drawing/2014/main" id="{F2BE77A6-6C75-BDB9-985F-B368364B1D8C}"/>
                  </a:ext>
                </a:extLst>
              </p:cNvPr>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 name="Google Shape;5463;p61">
              <a:extLst>
                <a:ext uri="{FF2B5EF4-FFF2-40B4-BE49-F238E27FC236}">
                  <a16:creationId xmlns:a16="http://schemas.microsoft.com/office/drawing/2014/main" id="{A0A97A4E-9BC9-A198-A906-6C74912A157D}"/>
                </a:ext>
              </a:extLst>
            </p:cNvPr>
            <p:cNvGrpSpPr/>
            <p:nvPr/>
          </p:nvGrpSpPr>
          <p:grpSpPr>
            <a:xfrm>
              <a:off x="4206500" y="3645513"/>
              <a:ext cx="756000" cy="756000"/>
              <a:chOff x="-40745125" y="3632900"/>
              <a:chExt cx="318225" cy="289875"/>
            </a:xfrm>
            <a:solidFill>
              <a:schemeClr val="accent6">
                <a:lumMod val="60000"/>
                <a:lumOff val="40000"/>
              </a:schemeClr>
            </a:solidFill>
          </p:grpSpPr>
          <p:sp>
            <p:nvSpPr>
              <p:cNvPr id="31" name="Google Shape;5464;p61">
                <a:extLst>
                  <a:ext uri="{FF2B5EF4-FFF2-40B4-BE49-F238E27FC236}">
                    <a16:creationId xmlns:a16="http://schemas.microsoft.com/office/drawing/2014/main" id="{C77ED59B-8CEA-0D2B-DEAD-B5E635B301D0}"/>
                  </a:ext>
                </a:extLst>
              </p:cNvPr>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5465;p61">
                <a:extLst>
                  <a:ext uri="{FF2B5EF4-FFF2-40B4-BE49-F238E27FC236}">
                    <a16:creationId xmlns:a16="http://schemas.microsoft.com/office/drawing/2014/main" id="{6C0A1386-4823-6771-5536-35268009D3E6}"/>
                  </a:ext>
                </a:extLst>
              </p:cNvPr>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5466;p61">
                <a:extLst>
                  <a:ext uri="{FF2B5EF4-FFF2-40B4-BE49-F238E27FC236}">
                    <a16:creationId xmlns:a16="http://schemas.microsoft.com/office/drawing/2014/main" id="{A5A48871-2C54-929B-2883-5B12054B8AD8}"/>
                  </a:ext>
                </a:extLst>
              </p:cNvPr>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5467;p61">
                <a:extLst>
                  <a:ext uri="{FF2B5EF4-FFF2-40B4-BE49-F238E27FC236}">
                    <a16:creationId xmlns:a16="http://schemas.microsoft.com/office/drawing/2014/main" id="{63B130C6-07ED-C8F1-20CD-372F67653714}"/>
                  </a:ext>
                </a:extLst>
              </p:cNvPr>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5468;p61">
                <a:extLst>
                  <a:ext uri="{FF2B5EF4-FFF2-40B4-BE49-F238E27FC236}">
                    <a16:creationId xmlns:a16="http://schemas.microsoft.com/office/drawing/2014/main" id="{92DB297D-D363-FF93-AEA0-583876D07DF5}"/>
                  </a:ext>
                </a:extLst>
              </p:cNvPr>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5469;p61">
                <a:extLst>
                  <a:ext uri="{FF2B5EF4-FFF2-40B4-BE49-F238E27FC236}">
                    <a16:creationId xmlns:a16="http://schemas.microsoft.com/office/drawing/2014/main" id="{20433D59-A764-F53F-1300-025297EF9E5A}"/>
                  </a:ext>
                </a:extLst>
              </p:cNvPr>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5470;p61">
                <a:extLst>
                  <a:ext uri="{FF2B5EF4-FFF2-40B4-BE49-F238E27FC236}">
                    <a16:creationId xmlns:a16="http://schemas.microsoft.com/office/drawing/2014/main" id="{5357A18C-1D77-B9AD-226A-B6F351899A4F}"/>
                  </a:ext>
                </a:extLst>
              </p:cNvPr>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 name="Google Shape;7169;p64">
              <a:extLst>
                <a:ext uri="{FF2B5EF4-FFF2-40B4-BE49-F238E27FC236}">
                  <a16:creationId xmlns:a16="http://schemas.microsoft.com/office/drawing/2014/main" id="{045776B2-5E76-D828-8916-1CF14AA90ED4}"/>
                </a:ext>
              </a:extLst>
            </p:cNvPr>
            <p:cNvGrpSpPr/>
            <p:nvPr/>
          </p:nvGrpSpPr>
          <p:grpSpPr>
            <a:xfrm>
              <a:off x="4194000" y="1681347"/>
              <a:ext cx="756000" cy="756000"/>
              <a:chOff x="-44512325" y="3176075"/>
              <a:chExt cx="300900" cy="300900"/>
            </a:xfrm>
            <a:solidFill>
              <a:schemeClr val="accent5">
                <a:lumMod val="75000"/>
              </a:schemeClr>
            </a:solidFill>
          </p:grpSpPr>
          <p:sp>
            <p:nvSpPr>
              <p:cNvPr id="28" name="Google Shape;7170;p64">
                <a:extLst>
                  <a:ext uri="{FF2B5EF4-FFF2-40B4-BE49-F238E27FC236}">
                    <a16:creationId xmlns:a16="http://schemas.microsoft.com/office/drawing/2014/main" id="{9D45C219-43FE-C4B4-4519-ABCD7D068E7F}"/>
                  </a:ext>
                </a:extLst>
              </p:cNvPr>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7171;p64">
                <a:extLst>
                  <a:ext uri="{FF2B5EF4-FFF2-40B4-BE49-F238E27FC236}">
                    <a16:creationId xmlns:a16="http://schemas.microsoft.com/office/drawing/2014/main" id="{5653B09E-1A10-A2B8-1FF6-3C194E7BA04F}"/>
                  </a:ext>
                </a:extLst>
              </p:cNvPr>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7172;p64">
                <a:extLst>
                  <a:ext uri="{FF2B5EF4-FFF2-40B4-BE49-F238E27FC236}">
                    <a16:creationId xmlns:a16="http://schemas.microsoft.com/office/drawing/2014/main" id="{384FC614-6C97-FDD0-D58E-921626C207B2}"/>
                  </a:ext>
                </a:extLst>
              </p:cNvPr>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oogle Shape;7923;p66">
              <a:extLst>
                <a:ext uri="{FF2B5EF4-FFF2-40B4-BE49-F238E27FC236}">
                  <a16:creationId xmlns:a16="http://schemas.microsoft.com/office/drawing/2014/main" id="{BDFB5D6D-C05E-6549-ED2D-DDDE5CB011EE}"/>
                </a:ext>
              </a:extLst>
            </p:cNvPr>
            <p:cNvGrpSpPr/>
            <p:nvPr/>
          </p:nvGrpSpPr>
          <p:grpSpPr>
            <a:xfrm>
              <a:off x="6994720" y="1636284"/>
              <a:ext cx="756000" cy="756000"/>
              <a:chOff x="-5971525" y="3273750"/>
              <a:chExt cx="292250" cy="290650"/>
            </a:xfrm>
            <a:solidFill>
              <a:schemeClr val="accent2">
                <a:lumMod val="75000"/>
              </a:schemeClr>
            </a:solidFill>
          </p:grpSpPr>
          <p:sp>
            <p:nvSpPr>
              <p:cNvPr id="26" name="Google Shape;7924;p66">
                <a:extLst>
                  <a:ext uri="{FF2B5EF4-FFF2-40B4-BE49-F238E27FC236}">
                    <a16:creationId xmlns:a16="http://schemas.microsoft.com/office/drawing/2014/main" id="{E6DD9D93-12E5-9063-47CF-F1FC01E90FB4}"/>
                  </a:ext>
                </a:extLst>
              </p:cNvPr>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925;p66">
                <a:extLst>
                  <a:ext uri="{FF2B5EF4-FFF2-40B4-BE49-F238E27FC236}">
                    <a16:creationId xmlns:a16="http://schemas.microsoft.com/office/drawing/2014/main" id="{8E7ED60F-5CFE-1446-6E5D-9D48BDA2D693}"/>
                  </a:ext>
                </a:extLst>
              </p:cNvPr>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grpFill/>
              <a:ln>
                <a:solidFill>
                  <a:schemeClr val="accent1">
                    <a:hueOff val="0"/>
                    <a:satOff val="0"/>
                    <a:lumOff val="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Box 12">
              <a:extLst>
                <a:ext uri="{FF2B5EF4-FFF2-40B4-BE49-F238E27FC236}">
                  <a16:creationId xmlns:a16="http://schemas.microsoft.com/office/drawing/2014/main" id="{41378C80-0021-4DC9-4CF0-BBE14D1F2BA1}"/>
                </a:ext>
              </a:extLst>
            </p:cNvPr>
            <p:cNvSpPr txBox="1"/>
            <p:nvPr/>
          </p:nvSpPr>
          <p:spPr>
            <a:xfrm>
              <a:off x="1847850" y="1603836"/>
              <a:ext cx="2000068" cy="338554"/>
            </a:xfrm>
            <a:prstGeom prst="rect">
              <a:avLst/>
            </a:prstGeom>
            <a:noFill/>
          </p:spPr>
          <p:txBody>
            <a:bodyPr wrap="square" rtlCol="0">
              <a:spAutoFit/>
            </a:bodyPr>
            <a:lstStyle/>
            <a:p>
              <a:r>
                <a:rPr lang="en-IN" sz="1600" b="1" dirty="0">
                  <a:solidFill>
                    <a:schemeClr val="accent5">
                      <a:lumMod val="75000"/>
                    </a:schemeClr>
                  </a:solidFill>
                </a:rPr>
                <a:t>Image / Text Query</a:t>
              </a:r>
            </a:p>
          </p:txBody>
        </p:sp>
        <p:sp>
          <p:nvSpPr>
            <p:cNvPr id="15" name="TextBox 14">
              <a:extLst>
                <a:ext uri="{FF2B5EF4-FFF2-40B4-BE49-F238E27FC236}">
                  <a16:creationId xmlns:a16="http://schemas.microsoft.com/office/drawing/2014/main" id="{DD1BCD65-2281-574B-8917-864B98741A09}"/>
                </a:ext>
              </a:extLst>
            </p:cNvPr>
            <p:cNvSpPr txBox="1"/>
            <p:nvPr/>
          </p:nvSpPr>
          <p:spPr>
            <a:xfrm>
              <a:off x="4972680" y="1580859"/>
              <a:ext cx="1799595" cy="338554"/>
            </a:xfrm>
            <a:prstGeom prst="rect">
              <a:avLst/>
            </a:prstGeom>
            <a:noFill/>
          </p:spPr>
          <p:txBody>
            <a:bodyPr wrap="none" rtlCol="0">
              <a:spAutoFit/>
            </a:bodyPr>
            <a:lstStyle/>
            <a:p>
              <a:r>
                <a:rPr lang="en-IN" sz="1600" b="1" dirty="0">
                  <a:solidFill>
                    <a:schemeClr val="accent5">
                      <a:lumMod val="75000"/>
                    </a:schemeClr>
                  </a:solidFill>
                </a:rPr>
                <a:t>Retrieved Images</a:t>
              </a:r>
            </a:p>
          </p:txBody>
        </p:sp>
        <p:sp>
          <p:nvSpPr>
            <p:cNvPr id="16" name="TextBox 15">
              <a:extLst>
                <a:ext uri="{FF2B5EF4-FFF2-40B4-BE49-F238E27FC236}">
                  <a16:creationId xmlns:a16="http://schemas.microsoft.com/office/drawing/2014/main" id="{6342A8A0-FDEA-E608-75B6-3EE5CEFCDBAD}"/>
                </a:ext>
              </a:extLst>
            </p:cNvPr>
            <p:cNvSpPr txBox="1"/>
            <p:nvPr/>
          </p:nvSpPr>
          <p:spPr>
            <a:xfrm>
              <a:off x="2919001" y="2708736"/>
              <a:ext cx="1433406" cy="584775"/>
            </a:xfrm>
            <a:prstGeom prst="rect">
              <a:avLst/>
            </a:prstGeom>
            <a:noFill/>
          </p:spPr>
          <p:txBody>
            <a:bodyPr wrap="none" rtlCol="0">
              <a:spAutoFit/>
            </a:bodyPr>
            <a:lstStyle/>
            <a:p>
              <a:pPr algn="ctr"/>
              <a:r>
                <a:rPr lang="en-IN" sz="1600" b="1" dirty="0">
                  <a:solidFill>
                    <a:schemeClr val="accent2">
                      <a:lumMod val="50000"/>
                    </a:schemeClr>
                  </a:solidFill>
                </a:rPr>
                <a:t>Text / Image </a:t>
              </a:r>
            </a:p>
            <a:p>
              <a:pPr algn="ctr"/>
              <a:r>
                <a:rPr lang="en-IN" sz="1600" b="1" dirty="0">
                  <a:solidFill>
                    <a:schemeClr val="accent2">
                      <a:lumMod val="50000"/>
                    </a:schemeClr>
                  </a:solidFill>
                </a:rPr>
                <a:t>Embeddings </a:t>
              </a:r>
            </a:p>
          </p:txBody>
        </p:sp>
        <p:sp>
          <p:nvSpPr>
            <p:cNvPr id="17" name="TextBox 16">
              <a:extLst>
                <a:ext uri="{FF2B5EF4-FFF2-40B4-BE49-F238E27FC236}">
                  <a16:creationId xmlns:a16="http://schemas.microsoft.com/office/drawing/2014/main" id="{2CAD3FBA-4749-BBDF-AE28-3F3BAE8BB4BE}"/>
                </a:ext>
              </a:extLst>
            </p:cNvPr>
            <p:cNvSpPr txBox="1"/>
            <p:nvPr/>
          </p:nvSpPr>
          <p:spPr>
            <a:xfrm>
              <a:off x="4879153" y="2794461"/>
              <a:ext cx="1257075" cy="584775"/>
            </a:xfrm>
            <a:prstGeom prst="rect">
              <a:avLst/>
            </a:prstGeom>
            <a:noFill/>
          </p:spPr>
          <p:txBody>
            <a:bodyPr wrap="none" rtlCol="0">
              <a:spAutoFit/>
            </a:bodyPr>
            <a:lstStyle/>
            <a:p>
              <a:pPr algn="ctr"/>
              <a:r>
                <a:rPr lang="en-IN" sz="1600" b="1" dirty="0">
                  <a:solidFill>
                    <a:schemeClr val="accent2">
                      <a:lumMod val="50000"/>
                    </a:schemeClr>
                  </a:solidFill>
                </a:rPr>
                <a:t>Retrieved </a:t>
              </a:r>
            </a:p>
            <a:p>
              <a:pPr algn="ctr"/>
              <a:r>
                <a:rPr lang="en-IN" sz="1600" b="1" dirty="0">
                  <a:solidFill>
                    <a:schemeClr val="accent2">
                      <a:lumMod val="50000"/>
                    </a:schemeClr>
                  </a:solidFill>
                </a:rPr>
                <a:t>Documents</a:t>
              </a:r>
            </a:p>
          </p:txBody>
        </p:sp>
        <p:cxnSp>
          <p:nvCxnSpPr>
            <p:cNvPr id="18" name="Straight Arrow Connector 17">
              <a:extLst>
                <a:ext uri="{FF2B5EF4-FFF2-40B4-BE49-F238E27FC236}">
                  <a16:creationId xmlns:a16="http://schemas.microsoft.com/office/drawing/2014/main" id="{8348A97B-CC1D-D6AD-9A89-74500956D9B9}"/>
                </a:ext>
              </a:extLst>
            </p:cNvPr>
            <p:cNvCxnSpPr>
              <a:cxnSpLocks/>
            </p:cNvCxnSpPr>
            <p:nvPr/>
          </p:nvCxnSpPr>
          <p:spPr>
            <a:xfrm>
              <a:off x="1943100" y="2051511"/>
              <a:ext cx="2008859" cy="7836"/>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6E01A02-9A12-62E4-B50A-711CC8F6C721}"/>
                </a:ext>
              </a:extLst>
            </p:cNvPr>
            <p:cNvCxnSpPr>
              <a:cxnSpLocks/>
            </p:cNvCxnSpPr>
            <p:nvPr/>
          </p:nvCxnSpPr>
          <p:spPr>
            <a:xfrm flipV="1">
              <a:off x="5054895" y="2043574"/>
              <a:ext cx="1717380" cy="11855"/>
            </a:xfrm>
            <a:prstGeom prst="straightConnector1">
              <a:avLst/>
            </a:prstGeom>
            <a:ln w="38100">
              <a:tailEnd type="arrow"/>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9A147CDF-C257-93BD-78EF-9BD445D5BBA1}"/>
                </a:ext>
              </a:extLst>
            </p:cNvPr>
            <p:cNvCxnSpPr/>
            <p:nvPr/>
          </p:nvCxnSpPr>
          <p:spPr>
            <a:xfrm>
              <a:off x="4290579" y="2956386"/>
              <a:ext cx="885825" cy="1588"/>
            </a:xfrm>
            <a:prstGeom prst="straightConnector1">
              <a:avLst/>
            </a:prstGeom>
            <a:ln w="38100">
              <a:tailEnd type="arrow"/>
            </a:ln>
            <a:scene3d>
              <a:camera prst="orthographicFront">
                <a:rot lat="0" lon="0" rev="5400000"/>
              </a:camera>
              <a:lightRig rig="threePt" dir="t"/>
            </a:scene3d>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94D2136D-0653-46BE-67E5-18324D2EC0B6}"/>
                </a:ext>
              </a:extLst>
            </p:cNvPr>
            <p:cNvCxnSpPr/>
            <p:nvPr/>
          </p:nvCxnSpPr>
          <p:spPr>
            <a:xfrm>
              <a:off x="3804804" y="3146886"/>
              <a:ext cx="885825" cy="1588"/>
            </a:xfrm>
            <a:prstGeom prst="straightConnector1">
              <a:avLst/>
            </a:prstGeom>
            <a:ln w="38100">
              <a:tailEnd type="arrow"/>
            </a:ln>
            <a:scene3d>
              <a:camera prst="orthographicFront">
                <a:rot lat="0" lon="0" rev="16200000"/>
              </a:camera>
              <a:lightRig rig="threePt" dir="t"/>
            </a:scene3d>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4AD70FF-F2CA-6E18-94F8-0513319E06A3}"/>
                </a:ext>
              </a:extLst>
            </p:cNvPr>
            <p:cNvSpPr txBox="1"/>
            <p:nvPr/>
          </p:nvSpPr>
          <p:spPr>
            <a:xfrm>
              <a:off x="3825858" y="1217897"/>
              <a:ext cx="1456040" cy="369332"/>
            </a:xfrm>
            <a:prstGeom prst="rect">
              <a:avLst/>
            </a:prstGeom>
            <a:noFill/>
          </p:spPr>
          <p:txBody>
            <a:bodyPr wrap="none" rtlCol="0">
              <a:spAutoFit/>
            </a:bodyPr>
            <a:lstStyle/>
            <a:p>
              <a:pPr algn="ctr"/>
              <a:r>
                <a:rPr lang="en-IN" sz="1800" b="1" dirty="0">
                  <a:solidFill>
                    <a:schemeClr val="accent5">
                      <a:lumMod val="50000"/>
                    </a:schemeClr>
                  </a:solidFill>
                </a:rPr>
                <a:t>FashionVLM</a:t>
              </a:r>
            </a:p>
          </p:txBody>
        </p:sp>
      </p:grpSp>
    </p:spTree>
    <p:extLst>
      <p:ext uri="{BB962C8B-B14F-4D97-AF65-F5344CB8AC3E}">
        <p14:creationId xmlns:p14="http://schemas.microsoft.com/office/powerpoint/2010/main" val="16845397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Chain-of-Thought Prompting</a:t>
            </a:r>
          </a:p>
        </p:txBody>
      </p:sp>
      <p:sp>
        <p:nvSpPr>
          <p:cNvPr id="9"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US" sz="2000" dirty="0"/>
              <a:t>Break down complex task into series of steps</a:t>
            </a:r>
            <a:endParaRPr lang="en-IN" sz="2000" dirty="0"/>
          </a:p>
          <a:p>
            <a:pPr marL="171450" lvl="1">
              <a:spcBef>
                <a:spcPts val="750"/>
              </a:spcBef>
              <a:spcAft>
                <a:spcPts val="600"/>
              </a:spcAft>
              <a:buClr>
                <a:schemeClr val="accent2"/>
              </a:buClr>
            </a:pPr>
            <a:r>
              <a:rPr lang="en-US" sz="2000" dirty="0"/>
              <a:t>Focus on one step of task at a time</a:t>
            </a:r>
          </a:p>
          <a:p>
            <a:pPr marL="171450" lvl="1">
              <a:spcBef>
                <a:spcPts val="750"/>
              </a:spcBef>
              <a:spcAft>
                <a:spcPts val="600"/>
              </a:spcAft>
              <a:buClr>
                <a:schemeClr val="accent2"/>
              </a:buClr>
            </a:pPr>
            <a:r>
              <a:rPr lang="en-US" sz="2000" dirty="0"/>
              <a:t>Include responses to intermediate steps leading to final answer</a:t>
            </a:r>
          </a:p>
          <a:p>
            <a:pPr marL="171450" lvl="1">
              <a:spcBef>
                <a:spcPts val="750"/>
              </a:spcBef>
              <a:spcAft>
                <a:spcPts val="600"/>
              </a:spcAft>
              <a:buClr>
                <a:schemeClr val="accent2"/>
              </a:buClr>
            </a:pPr>
            <a:r>
              <a:rPr lang="en-US" sz="2000" dirty="0"/>
              <a:t>Improve accuracy of LLM's responses</a:t>
            </a:r>
          </a:p>
          <a:p>
            <a:pPr marL="171450" lvl="1">
              <a:spcBef>
                <a:spcPts val="750"/>
              </a:spcBef>
              <a:spcAft>
                <a:spcPts val="600"/>
              </a:spcAft>
              <a:buClr>
                <a:schemeClr val="accent2"/>
              </a:buClr>
            </a:pPr>
            <a:r>
              <a:rPr lang="en-US" sz="2000" dirty="0"/>
              <a:t>Improve relevance of LLM's responses</a:t>
            </a:r>
          </a:p>
          <a:p>
            <a:pPr marL="171450" lvl="1">
              <a:spcBef>
                <a:spcPts val="750"/>
              </a:spcBef>
              <a:spcAft>
                <a:spcPts val="600"/>
              </a:spcAft>
              <a:buClr>
                <a:schemeClr val="accent2"/>
              </a:buClr>
            </a:pPr>
            <a:r>
              <a:rPr lang="en-US" sz="2000" dirty="0"/>
              <a:t>Reduce hallucination</a:t>
            </a:r>
            <a:endParaRPr lang="en-IN" sz="2000" dirty="0"/>
          </a:p>
          <a:p>
            <a:pPr marL="171450" lvl="1">
              <a:spcBef>
                <a:spcPts val="750"/>
              </a:spcBef>
              <a:spcAft>
                <a:spcPts val="600"/>
              </a:spcAft>
              <a:buClr>
                <a:schemeClr val="accent2"/>
              </a:buClr>
            </a:pPr>
            <a:endParaRPr lang="en-US" sz="2000" dirty="0"/>
          </a:p>
        </p:txBody>
      </p:sp>
    </p:spTree>
    <p:extLst>
      <p:ext uri="{BB962C8B-B14F-4D97-AF65-F5344CB8AC3E}">
        <p14:creationId xmlns:p14="http://schemas.microsoft.com/office/powerpoint/2010/main" val="30297787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Chain-of-Thought Prompting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628651" y="1369219"/>
            <a:ext cx="3686372" cy="3223260"/>
          </a:xfrm>
          <a:noFill/>
        </p:spPr>
        <p:txBody>
          <a:bodyPr>
            <a:normAutofit lnSpcReduction="10000"/>
          </a:bodyPr>
          <a:lstStyle/>
          <a:p>
            <a:pPr algn="just"/>
            <a:r>
              <a:rPr lang="en-US" sz="1900" b="1" dirty="0">
                <a:solidFill>
                  <a:schemeClr val="accent5">
                    <a:lumMod val="50000"/>
                  </a:schemeClr>
                </a:solidFill>
              </a:rPr>
              <a:t>Let us solve this step-by-step. </a:t>
            </a:r>
          </a:p>
          <a:p>
            <a:pPr algn="just"/>
            <a:r>
              <a:rPr lang="en-US" sz="1900" b="1" dirty="0">
                <a:solidFill>
                  <a:schemeClr val="accent5">
                    <a:lumMod val="50000"/>
                  </a:schemeClr>
                </a:solidFill>
              </a:rPr>
              <a:t>What information do we need to find? </a:t>
            </a:r>
          </a:p>
          <a:p>
            <a:pPr algn="just"/>
            <a:r>
              <a:rPr lang="en-US" sz="1900" b="1" dirty="0">
                <a:solidFill>
                  <a:schemeClr val="accent5">
                    <a:lumMod val="50000"/>
                  </a:schemeClr>
                </a:solidFill>
              </a:rPr>
              <a:t>What operations might help us to solve this? </a:t>
            </a:r>
          </a:p>
          <a:p>
            <a:pPr algn="just"/>
            <a:r>
              <a:rPr lang="en-US" sz="1900" b="1" dirty="0">
                <a:solidFill>
                  <a:schemeClr val="accent5">
                    <a:lumMod val="50000"/>
                  </a:schemeClr>
                </a:solidFill>
              </a:rPr>
              <a:t>Explain your reasoning and prove the answer.</a:t>
            </a:r>
          </a:p>
          <a:p>
            <a:pPr algn="just"/>
            <a:r>
              <a:rPr lang="en-US" sz="1900" dirty="0">
                <a:solidFill>
                  <a:schemeClr val="accent5">
                    <a:lumMod val="50000"/>
                  </a:schemeClr>
                </a:solidFill>
              </a:rPr>
              <a:t>If there are 10 birds on a branch and 3 birds fly away. How many birds are remaining?</a:t>
            </a:r>
            <a:endParaRPr lang="en-IN" sz="1900" dirty="0">
              <a:solidFill>
                <a:schemeClr val="accent5">
                  <a:lumMod val="50000"/>
                </a:schemeClr>
              </a:solidFill>
            </a:endParaRPr>
          </a:p>
          <a:p>
            <a:pPr algn="just"/>
            <a:endParaRPr lang="en-US" sz="1800" dirty="0">
              <a:solidFill>
                <a:schemeClr val="accent5">
                  <a:lumMod val="50000"/>
                </a:schemeClr>
              </a:solidFill>
            </a:endParaRP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15"/>
          </p:nvPr>
        </p:nvSpPr>
        <p:spPr>
          <a:xfrm>
            <a:off x="4610922" y="1362687"/>
            <a:ext cx="3909060" cy="3223260"/>
          </a:xfrm>
          <a:noFill/>
        </p:spPr>
        <p:txBody>
          <a:bodyPr>
            <a:normAutofit fontScale="70000" lnSpcReduction="20000"/>
          </a:bodyPr>
          <a:lstStyle/>
          <a:p>
            <a:pPr algn="just"/>
            <a:r>
              <a:rPr lang="en-US" sz="1600" dirty="0">
                <a:solidFill>
                  <a:schemeClr val="accent4">
                    <a:lumMod val="50000"/>
                  </a:schemeClr>
                </a:solidFill>
              </a:rPr>
              <a:t>Let's break down the problem step-by-step.</a:t>
            </a:r>
          </a:p>
          <a:p>
            <a:pPr algn="just"/>
            <a:r>
              <a:rPr lang="en-US" sz="1600" dirty="0">
                <a:solidFill>
                  <a:schemeClr val="accent4">
                    <a:lumMod val="50000"/>
                  </a:schemeClr>
                </a:solidFill>
              </a:rPr>
              <a:t>What information do we need to find? We need to find the number of birds remaining on the branch after 3 birds fly away.</a:t>
            </a:r>
          </a:p>
          <a:p>
            <a:pPr algn="just"/>
            <a:r>
              <a:rPr lang="en-US" sz="1600" dirty="0">
                <a:solidFill>
                  <a:schemeClr val="accent4">
                    <a:lumMod val="50000"/>
                  </a:schemeClr>
                </a:solidFill>
              </a:rPr>
              <a:t>What operations might help us to solve this? To solve this problem, we can use a simple subtraction operation. We know the initial number of birds (10) and the number of birds that fly away (3). By subtracting the number of birds that fly away from the initial number, we can find the number of birds remaining.</a:t>
            </a:r>
          </a:p>
          <a:p>
            <a:pPr algn="just"/>
            <a:r>
              <a:rPr lang="en-US" sz="1600" dirty="0">
                <a:solidFill>
                  <a:schemeClr val="accent4">
                    <a:lumMod val="50000"/>
                  </a:schemeClr>
                </a:solidFill>
              </a:rPr>
              <a:t>Why subtraction? Subtraction is the correct operation because we are removing a certain number of birds (3) from the initial total (10). By subtracting 3 from 10, we are essentially "taking away" 3 birds from the branch, leaving us with the remaining number of birds.</a:t>
            </a:r>
          </a:p>
          <a:p>
            <a:pPr algn="just"/>
            <a:r>
              <a:rPr lang="en-US" sz="1600" dirty="0">
                <a:solidFill>
                  <a:schemeClr val="accent4">
                    <a:lumMod val="50000"/>
                  </a:schemeClr>
                </a:solidFill>
              </a:rPr>
              <a:t>Let's calculate! 10 (initial number of birds) - 3 (number of birds that fly away) = 7</a:t>
            </a:r>
          </a:p>
          <a:p>
            <a:pPr algn="just"/>
            <a:r>
              <a:rPr lang="en-US" sz="1600" dirty="0">
                <a:solidFill>
                  <a:schemeClr val="accent4">
                    <a:lumMod val="50000"/>
                  </a:schemeClr>
                </a:solidFill>
              </a:rPr>
              <a:t>Therefore, there are 7 birds remaining on the branch.</a:t>
            </a:r>
            <a:endParaRPr lang="en-US" sz="1600" dirty="0"/>
          </a:p>
        </p:txBody>
      </p:sp>
      <p:sp>
        <p:nvSpPr>
          <p:cNvPr id="6" name="TextBox 5"/>
          <p:cNvSpPr txBox="1"/>
          <p:nvPr/>
        </p:nvSpPr>
        <p:spPr>
          <a:xfrm>
            <a:off x="1733550" y="4714875"/>
            <a:ext cx="5761969" cy="307777"/>
          </a:xfrm>
          <a:prstGeom prst="rect">
            <a:avLst/>
          </a:prstGeom>
          <a:noFill/>
        </p:spPr>
        <p:txBody>
          <a:bodyPr wrap="square" rtlCol="0">
            <a:spAutoFit/>
          </a:bodyPr>
          <a:lstStyle/>
          <a:p>
            <a:pPr algn="r"/>
            <a:r>
              <a:rPr lang="en-IN" b="1" dirty="0">
                <a:solidFill>
                  <a:schemeClr val="accent2">
                    <a:lumMod val="50000"/>
                  </a:schemeClr>
                </a:solidFill>
              </a:rPr>
              <a:t>*Meta-Llama-3.1-8B-Instruct</a:t>
            </a:r>
          </a:p>
        </p:txBody>
      </p:sp>
    </p:spTree>
    <p:extLst>
      <p:ext uri="{BB962C8B-B14F-4D97-AF65-F5344CB8AC3E}">
        <p14:creationId xmlns:p14="http://schemas.microsoft.com/office/powerpoint/2010/main" val="21988350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628650" y="273844"/>
            <a:ext cx="7886700" cy="994172"/>
          </a:xfrm>
          <a:noFill/>
        </p:spPr>
        <p:txBody>
          <a:bodyPr anchor="ctr"/>
          <a:lstStyle/>
          <a:p>
            <a:r>
              <a:rPr lang="en-US" dirty="0"/>
              <a:t>Deploying Large Language Models</a:t>
            </a:r>
          </a:p>
        </p:txBody>
      </p:sp>
      <p:graphicFrame>
        <p:nvGraphicFramePr>
          <p:cNvPr id="4" name="Table Placeholder 3">
            <a:extLst>
              <a:ext uri="{FF2B5EF4-FFF2-40B4-BE49-F238E27FC236}">
                <a16:creationId xmlns:a16="http://schemas.microsoft.com/office/drawing/2014/main" id="{0519CAC4-33D8-0B1E-88FF-086E69894AFB}"/>
              </a:ext>
            </a:extLst>
          </p:cNvPr>
          <p:cNvGraphicFramePr>
            <a:graphicFrameLocks noGrp="1"/>
          </p:cNvGraphicFramePr>
          <p:nvPr>
            <p:ph type="tbl" sz="quarter" idx="13"/>
            <p:extLst>
              <p:ext uri="{D42A27DB-BD31-4B8C-83A1-F6EECF244321}">
                <p14:modId xmlns:p14="http://schemas.microsoft.com/office/powerpoint/2010/main" val="3019515003"/>
              </p:ext>
            </p:extLst>
          </p:nvPr>
        </p:nvGraphicFramePr>
        <p:xfrm>
          <a:off x="628650" y="1369219"/>
          <a:ext cx="7886701" cy="3291840"/>
        </p:xfrm>
        <a:graphic>
          <a:graphicData uri="http://schemas.openxmlformats.org/drawingml/2006/table">
            <a:tbl>
              <a:tblPr firstRow="1" bandRow="1">
                <a:tableStyleId>{72833802-FEF1-4C79-8D5D-14CF1EAF98D9}</a:tableStyleId>
              </a:tblPr>
              <a:tblGrid>
                <a:gridCol w="1859717">
                  <a:extLst>
                    <a:ext uri="{9D8B030D-6E8A-4147-A177-3AD203B41FA5}">
                      <a16:colId xmlns:a16="http://schemas.microsoft.com/office/drawing/2014/main" val="2382218087"/>
                    </a:ext>
                  </a:extLst>
                </a:gridCol>
                <a:gridCol w="1259174">
                  <a:extLst>
                    <a:ext uri="{9D8B030D-6E8A-4147-A177-3AD203B41FA5}">
                      <a16:colId xmlns:a16="http://schemas.microsoft.com/office/drawing/2014/main" val="3953468724"/>
                    </a:ext>
                  </a:extLst>
                </a:gridCol>
                <a:gridCol w="1371600">
                  <a:extLst>
                    <a:ext uri="{9D8B030D-6E8A-4147-A177-3AD203B41FA5}">
                      <a16:colId xmlns:a16="http://schemas.microsoft.com/office/drawing/2014/main" val="4277526474"/>
                    </a:ext>
                  </a:extLst>
                </a:gridCol>
                <a:gridCol w="955623">
                  <a:extLst>
                    <a:ext uri="{9D8B030D-6E8A-4147-A177-3AD203B41FA5}">
                      <a16:colId xmlns:a16="http://schemas.microsoft.com/office/drawing/2014/main" val="2438884888"/>
                    </a:ext>
                  </a:extLst>
                </a:gridCol>
                <a:gridCol w="955623">
                  <a:extLst>
                    <a:ext uri="{9D8B030D-6E8A-4147-A177-3AD203B41FA5}">
                      <a16:colId xmlns:a16="http://schemas.microsoft.com/office/drawing/2014/main" val="3058700555"/>
                    </a:ext>
                  </a:extLst>
                </a:gridCol>
                <a:gridCol w="1484964">
                  <a:extLst>
                    <a:ext uri="{9D8B030D-6E8A-4147-A177-3AD203B41FA5}">
                      <a16:colId xmlns:a16="http://schemas.microsoft.com/office/drawing/2014/main" val="489067259"/>
                    </a:ext>
                  </a:extLst>
                </a:gridCol>
              </a:tblGrid>
              <a:tr h="548640">
                <a:tc>
                  <a:txBody>
                    <a:bodyPr/>
                    <a:lstStyle/>
                    <a:p>
                      <a:pPr algn="ctr"/>
                      <a:r>
                        <a:rPr lang="en-US" sz="1400" b="1" i="0" dirty="0">
                          <a:latin typeface="+mj-lt"/>
                        </a:rPr>
                        <a:t>GPU</a:t>
                      </a:r>
                    </a:p>
                  </a:txBody>
                  <a:tcPr marL="68580" marR="68580" marT="34290" marB="34290" anchor="ctr"/>
                </a:tc>
                <a:tc>
                  <a:txBody>
                    <a:bodyPr/>
                    <a:lstStyle/>
                    <a:p>
                      <a:pPr algn="ctr"/>
                      <a:r>
                        <a:rPr lang="en-US" sz="1400" b="1" i="0" dirty="0">
                          <a:latin typeface="+mj-lt"/>
                        </a:rPr>
                        <a:t>CUDA Cores</a:t>
                      </a:r>
                    </a:p>
                  </a:txBody>
                  <a:tcPr marL="68580" marR="68580" marT="34290" marB="34290" anchor="ctr"/>
                </a:tc>
                <a:tc>
                  <a:txBody>
                    <a:bodyPr/>
                    <a:lstStyle/>
                    <a:p>
                      <a:pPr algn="ctr"/>
                      <a:r>
                        <a:rPr lang="en-US" sz="1400" b="1" i="0" dirty="0">
                          <a:latin typeface="+mj-lt"/>
                        </a:rPr>
                        <a:t>Memory</a:t>
                      </a:r>
                    </a:p>
                  </a:txBody>
                  <a:tcPr marL="68580" marR="68580" marT="34290" marB="34290" anchor="ctr"/>
                </a:tc>
                <a:tc>
                  <a:txBody>
                    <a:bodyPr/>
                    <a:lstStyle/>
                    <a:p>
                      <a:pPr algn="ctr"/>
                      <a:r>
                        <a:rPr lang="en-US" sz="1400" b="1" i="0" dirty="0">
                          <a:latin typeface="+mj-lt"/>
                        </a:rPr>
                        <a:t>FP32</a:t>
                      </a:r>
                    </a:p>
                    <a:p>
                      <a:pPr algn="ctr"/>
                      <a:r>
                        <a:rPr lang="en-US" sz="1400" b="1" i="0" dirty="0">
                          <a:latin typeface="+mj-lt"/>
                        </a:rPr>
                        <a:t>FLOPS</a:t>
                      </a:r>
                    </a:p>
                  </a:txBody>
                  <a:tcPr marL="68580" marR="68580" marT="34290" marB="34290" anchor="ctr"/>
                </a:tc>
                <a:tc>
                  <a:txBody>
                    <a:bodyPr/>
                    <a:lstStyle/>
                    <a:p>
                      <a:pPr algn="ctr"/>
                      <a:r>
                        <a:rPr lang="en-US" sz="1400" b="1" i="0" dirty="0">
                          <a:latin typeface="+mj-lt"/>
                        </a:rPr>
                        <a:t>Power</a:t>
                      </a:r>
                    </a:p>
                  </a:txBody>
                  <a:tcPr marL="68580" marR="68580" marT="34290" marB="34290" anchor="ctr"/>
                </a:tc>
                <a:tc>
                  <a:txBody>
                    <a:bodyPr/>
                    <a:lstStyle/>
                    <a:p>
                      <a:pPr algn="ctr"/>
                      <a:r>
                        <a:rPr lang="en-US" sz="1400" b="1" i="0" dirty="0">
                          <a:latin typeface="+mj-lt"/>
                        </a:rPr>
                        <a:t>Cost</a:t>
                      </a:r>
                    </a:p>
                  </a:txBody>
                  <a:tcPr marL="68580" marR="68580" marT="34290" marB="34290" anchor="ctr"/>
                </a:tc>
                <a:extLst>
                  <a:ext uri="{0D108BD9-81ED-4DB2-BD59-A6C34878D82A}">
                    <a16:rowId xmlns:a16="http://schemas.microsoft.com/office/drawing/2014/main" val="2857107962"/>
                  </a:ext>
                </a:extLst>
              </a:tr>
              <a:tr h="548640">
                <a:tc>
                  <a:txBody>
                    <a:bodyPr/>
                    <a:lstStyle/>
                    <a:p>
                      <a:pPr algn="ctr"/>
                      <a:r>
                        <a:rPr lang="en-US" sz="1400" b="1" i="0" dirty="0">
                          <a:latin typeface="+mn-lt"/>
                        </a:rPr>
                        <a:t>NVIDIA H100</a:t>
                      </a:r>
                    </a:p>
                  </a:txBody>
                  <a:tcPr marL="68580" marR="68580" marT="34290" marB="34290" anchor="ctr"/>
                </a:tc>
                <a:tc>
                  <a:txBody>
                    <a:bodyPr/>
                    <a:lstStyle/>
                    <a:p>
                      <a:pPr algn="ctr"/>
                      <a:r>
                        <a:rPr lang="en-US" sz="1400" b="1" i="0" dirty="0">
                          <a:latin typeface="+mn-lt"/>
                        </a:rPr>
                        <a:t>14,592</a:t>
                      </a:r>
                    </a:p>
                  </a:txBody>
                  <a:tcPr marL="68580" marR="68580" marT="34290" marB="34290" anchor="ctr"/>
                </a:tc>
                <a:tc>
                  <a:txBody>
                    <a:bodyPr/>
                    <a:lstStyle/>
                    <a:p>
                      <a:pPr algn="ctr"/>
                      <a:r>
                        <a:rPr lang="en-US" sz="1400" b="1" i="0" dirty="0">
                          <a:latin typeface="+mn-lt"/>
                        </a:rPr>
                        <a:t>80 GB</a:t>
                      </a:r>
                    </a:p>
                  </a:txBody>
                  <a:tcPr marL="68580" marR="68580" marT="34290" marB="34290" anchor="ctr"/>
                </a:tc>
                <a:tc>
                  <a:txBody>
                    <a:bodyPr/>
                    <a:lstStyle/>
                    <a:p>
                      <a:pPr algn="ctr"/>
                      <a:r>
                        <a:rPr lang="en-US" sz="1400" b="1" i="0" dirty="0">
                          <a:latin typeface="+mn-lt"/>
                        </a:rPr>
                        <a:t>67 TFLOPS</a:t>
                      </a:r>
                    </a:p>
                  </a:txBody>
                  <a:tcPr marL="68580" marR="68580" marT="34290" marB="34290" anchor="ctr"/>
                </a:tc>
                <a:tc>
                  <a:txBody>
                    <a:bodyPr/>
                    <a:lstStyle/>
                    <a:p>
                      <a:pPr algn="ctr"/>
                      <a:r>
                        <a:rPr lang="en-US" sz="1400" b="1" i="0" dirty="0">
                          <a:latin typeface="+mn-lt"/>
                        </a:rPr>
                        <a:t>700W</a:t>
                      </a:r>
                    </a:p>
                  </a:txBody>
                  <a:tcPr marL="68580" marR="68580" marT="34290" marB="34290" anchor="ctr"/>
                </a:tc>
                <a:tc>
                  <a:txBody>
                    <a:bodyPr/>
                    <a:lstStyle/>
                    <a:p>
                      <a:pPr algn="ctr"/>
                      <a:r>
                        <a:rPr lang="en-US" sz="1400" b="1" i="0" dirty="0">
                          <a:latin typeface="+mn-lt"/>
                        </a:rPr>
                        <a:t>$30,000</a:t>
                      </a:r>
                    </a:p>
                  </a:txBody>
                  <a:tcPr marL="68580" marR="68580" marT="34290" marB="34290" anchor="ctr"/>
                </a:tc>
                <a:extLst>
                  <a:ext uri="{0D108BD9-81ED-4DB2-BD59-A6C34878D82A}">
                    <a16:rowId xmlns:a16="http://schemas.microsoft.com/office/drawing/2014/main" val="1671386868"/>
                  </a:ext>
                </a:extLst>
              </a:tr>
              <a:tr h="548640">
                <a:tc>
                  <a:txBody>
                    <a:bodyPr/>
                    <a:lstStyle/>
                    <a:p>
                      <a:pPr algn="ctr"/>
                      <a:r>
                        <a:rPr lang="en-US" sz="1400" b="0" i="0" dirty="0">
                          <a:latin typeface="+mn-lt"/>
                        </a:rPr>
                        <a:t>NVIDIA A100</a:t>
                      </a:r>
                    </a:p>
                  </a:txBody>
                  <a:tcPr marL="68580" marR="68580" marT="34290" marB="34290" anchor="ctr"/>
                </a:tc>
                <a:tc>
                  <a:txBody>
                    <a:bodyPr/>
                    <a:lstStyle/>
                    <a:p>
                      <a:pPr algn="ctr"/>
                      <a:r>
                        <a:rPr lang="en-US" sz="1400" b="0" i="0" dirty="0">
                          <a:latin typeface="+mn-lt"/>
                        </a:rPr>
                        <a:t>6,912</a:t>
                      </a:r>
                    </a:p>
                  </a:txBody>
                  <a:tcPr marL="68580" marR="68580" marT="34290" marB="34290" anchor="ctr"/>
                </a:tc>
                <a:tc>
                  <a:txBody>
                    <a:bodyPr/>
                    <a:lstStyle/>
                    <a:p>
                      <a:pPr algn="ctr"/>
                      <a:r>
                        <a:rPr lang="en-US" sz="1400" b="1" i="0" dirty="0">
                          <a:latin typeface="+mn-lt"/>
                        </a:rPr>
                        <a:t>80 GB</a:t>
                      </a:r>
                    </a:p>
                  </a:txBody>
                  <a:tcPr marL="68580" marR="68580" marT="34290" marB="34290" anchor="ctr"/>
                </a:tc>
                <a:tc>
                  <a:txBody>
                    <a:bodyPr/>
                    <a:lstStyle/>
                    <a:p>
                      <a:pPr algn="ctr"/>
                      <a:r>
                        <a:rPr lang="en-US" sz="1400" b="0" i="0" dirty="0">
                          <a:latin typeface="+mn-lt"/>
                        </a:rPr>
                        <a:t>19.5 TFLOPS</a:t>
                      </a:r>
                    </a:p>
                  </a:txBody>
                  <a:tcPr marL="68580" marR="68580" marT="34290" marB="34290" anchor="ctr"/>
                </a:tc>
                <a:tc>
                  <a:txBody>
                    <a:bodyPr/>
                    <a:lstStyle/>
                    <a:p>
                      <a:pPr algn="ctr"/>
                      <a:r>
                        <a:rPr lang="en-US" sz="1400" b="0" i="0" dirty="0">
                          <a:latin typeface="+mn-lt"/>
                        </a:rPr>
                        <a:t>500W</a:t>
                      </a:r>
                    </a:p>
                  </a:txBody>
                  <a:tcPr marL="68580" marR="68580" marT="34290" marB="34290" anchor="ctr"/>
                </a:tc>
                <a:tc>
                  <a:txBody>
                    <a:bodyPr/>
                    <a:lstStyle/>
                    <a:p>
                      <a:pPr algn="ctr"/>
                      <a:r>
                        <a:rPr lang="en-US" sz="1400" b="0" i="0" dirty="0">
                          <a:latin typeface="+mn-lt"/>
                        </a:rPr>
                        <a:t>$15,000</a:t>
                      </a:r>
                    </a:p>
                  </a:txBody>
                  <a:tcPr marL="68580" marR="68580" marT="34290" marB="34290" anchor="ctr"/>
                </a:tc>
                <a:extLst>
                  <a:ext uri="{0D108BD9-81ED-4DB2-BD59-A6C34878D82A}">
                    <a16:rowId xmlns:a16="http://schemas.microsoft.com/office/drawing/2014/main" val="380626418"/>
                  </a:ext>
                </a:extLst>
              </a:tr>
              <a:tr h="548640">
                <a:tc>
                  <a:txBody>
                    <a:bodyPr/>
                    <a:lstStyle/>
                    <a:p>
                      <a:pPr algn="ctr"/>
                      <a:r>
                        <a:rPr lang="en-US" sz="1400" b="1" i="0" dirty="0">
                          <a:latin typeface="+mn-lt"/>
                        </a:rPr>
                        <a:t>NVIDIA L40</a:t>
                      </a:r>
                    </a:p>
                  </a:txBody>
                  <a:tcPr marL="68580" marR="68580" marT="34290" marB="34290" anchor="ctr"/>
                </a:tc>
                <a:tc>
                  <a:txBody>
                    <a:bodyPr/>
                    <a:lstStyle/>
                    <a:p>
                      <a:pPr algn="ctr"/>
                      <a:r>
                        <a:rPr lang="en-US" sz="1400" b="1" i="0" dirty="0">
                          <a:latin typeface="+mn-lt"/>
                        </a:rPr>
                        <a:t>18,176</a:t>
                      </a:r>
                    </a:p>
                  </a:txBody>
                  <a:tcPr marL="68580" marR="68580" marT="34290" marB="34290" anchor="ctr"/>
                </a:tc>
                <a:tc>
                  <a:txBody>
                    <a:bodyPr/>
                    <a:lstStyle/>
                    <a:p>
                      <a:pPr algn="ctr"/>
                      <a:r>
                        <a:rPr lang="en-US" sz="1400" b="0" i="0" dirty="0">
                          <a:latin typeface="+mn-lt"/>
                        </a:rPr>
                        <a:t>48 GB</a:t>
                      </a:r>
                    </a:p>
                  </a:txBody>
                  <a:tcPr marL="68580" marR="68580" marT="34290" marB="34290"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400" b="1" i="0" dirty="0">
                          <a:latin typeface="+mn-lt"/>
                        </a:rPr>
                        <a:t>90.5 TFLOPS</a:t>
                      </a:r>
                    </a:p>
                  </a:txBody>
                  <a:tcPr marL="68580" marR="68580" marT="34290" marB="34290" anchor="ctr"/>
                </a:tc>
                <a:tc>
                  <a:txBody>
                    <a:bodyPr/>
                    <a:lstStyle/>
                    <a:p>
                      <a:pPr algn="ctr"/>
                      <a:r>
                        <a:rPr lang="en-US" sz="1400" b="0" i="0" dirty="0">
                          <a:latin typeface="+mn-lt"/>
                        </a:rPr>
                        <a:t>300W</a:t>
                      </a:r>
                    </a:p>
                  </a:txBody>
                  <a:tcPr marL="68580" marR="68580" marT="34290" marB="34290" anchor="ctr"/>
                </a:tc>
                <a:tc>
                  <a:txBody>
                    <a:bodyPr/>
                    <a:lstStyle/>
                    <a:p>
                      <a:pPr algn="ctr"/>
                      <a:r>
                        <a:rPr lang="en-US" sz="1400" b="0" i="0" dirty="0">
                          <a:latin typeface="+mn-lt"/>
                        </a:rPr>
                        <a:t>$10,000</a:t>
                      </a:r>
                    </a:p>
                  </a:txBody>
                  <a:tcPr marL="68580" marR="68580" marT="34290" marB="34290" anchor="ctr"/>
                </a:tc>
                <a:extLst>
                  <a:ext uri="{0D108BD9-81ED-4DB2-BD59-A6C34878D82A}">
                    <a16:rowId xmlns:a16="http://schemas.microsoft.com/office/drawing/2014/main" val="2132482967"/>
                  </a:ext>
                </a:extLst>
              </a:tr>
              <a:tr h="548640">
                <a:tc>
                  <a:txBody>
                    <a:bodyPr/>
                    <a:lstStyle/>
                    <a:p>
                      <a:pPr algn="ctr"/>
                      <a:r>
                        <a:rPr lang="en-US" sz="1400" b="0" i="0" dirty="0">
                          <a:latin typeface="+mn-lt"/>
                        </a:rPr>
                        <a:t>NVIDIA RTX 4090</a:t>
                      </a:r>
                    </a:p>
                  </a:txBody>
                  <a:tcPr marL="68580" marR="68580" marT="34290" marB="34290" anchor="ctr"/>
                </a:tc>
                <a:tc>
                  <a:txBody>
                    <a:bodyPr/>
                    <a:lstStyle/>
                    <a:p>
                      <a:pPr algn="ctr"/>
                      <a:r>
                        <a:rPr lang="en-US" sz="1400" b="1" i="0" dirty="0">
                          <a:latin typeface="+mn-lt"/>
                        </a:rPr>
                        <a:t>16,384</a:t>
                      </a:r>
                    </a:p>
                  </a:txBody>
                  <a:tcPr marL="68580" marR="68580" marT="34290" marB="34290" anchor="ctr"/>
                </a:tc>
                <a:tc>
                  <a:txBody>
                    <a:bodyPr/>
                    <a:lstStyle/>
                    <a:p>
                      <a:pPr algn="ctr"/>
                      <a:r>
                        <a:rPr lang="en-US" sz="1400" b="0" i="0" dirty="0">
                          <a:latin typeface="+mn-lt"/>
                        </a:rPr>
                        <a:t>24 GB</a:t>
                      </a:r>
                    </a:p>
                  </a:txBody>
                  <a:tcPr marL="68580" marR="68580" marT="34290" marB="34290" anchor="ctr"/>
                </a:tc>
                <a:tc>
                  <a:txBody>
                    <a:bodyPr/>
                    <a:lstStyle/>
                    <a:p>
                      <a:pPr algn="ctr"/>
                      <a:r>
                        <a:rPr lang="en-US" sz="1400" b="1" i="0" dirty="0">
                          <a:latin typeface="+mn-lt"/>
                        </a:rPr>
                        <a:t>82.58 TFLOPS</a:t>
                      </a:r>
                    </a:p>
                  </a:txBody>
                  <a:tcPr marL="68580" marR="68580" marT="34290" marB="34290" anchor="ctr"/>
                </a:tc>
                <a:tc>
                  <a:txBody>
                    <a:bodyPr/>
                    <a:lstStyle/>
                    <a:p>
                      <a:pPr algn="ctr"/>
                      <a:r>
                        <a:rPr lang="en-US" sz="1400" b="0" i="0" dirty="0">
                          <a:latin typeface="+mn-lt"/>
                        </a:rPr>
                        <a:t>450W</a:t>
                      </a:r>
                    </a:p>
                  </a:txBody>
                  <a:tcPr marL="68580" marR="68580" marT="34290" marB="34290" anchor="ctr"/>
                </a:tc>
                <a:tc>
                  <a:txBody>
                    <a:bodyPr/>
                    <a:lstStyle/>
                    <a:p>
                      <a:pPr algn="ctr"/>
                      <a:r>
                        <a:rPr lang="en-US" sz="1400" b="0" i="0" dirty="0">
                          <a:latin typeface="+mn-lt"/>
                        </a:rPr>
                        <a:t>$3,000</a:t>
                      </a:r>
                    </a:p>
                  </a:txBody>
                  <a:tcPr marL="68580" marR="68580" marT="34290" marB="34290" anchor="ctr"/>
                </a:tc>
                <a:extLst>
                  <a:ext uri="{0D108BD9-81ED-4DB2-BD59-A6C34878D82A}">
                    <a16:rowId xmlns:a16="http://schemas.microsoft.com/office/drawing/2014/main" val="3936251906"/>
                  </a:ext>
                </a:extLst>
              </a:tr>
              <a:tr h="548640">
                <a:tc>
                  <a:txBody>
                    <a:bodyPr/>
                    <a:lstStyle/>
                    <a:p>
                      <a:pPr algn="ctr"/>
                      <a:r>
                        <a:rPr lang="en-US" sz="1400" b="0" i="0" dirty="0">
                          <a:latin typeface="+mn-lt"/>
                        </a:rPr>
                        <a:t>NVIDIA RTX 4080</a:t>
                      </a:r>
                    </a:p>
                  </a:txBody>
                  <a:tcPr marL="68580" marR="68580" marT="34290" marB="34290" anchor="ctr"/>
                </a:tc>
                <a:tc>
                  <a:txBody>
                    <a:bodyPr/>
                    <a:lstStyle/>
                    <a:p>
                      <a:pPr algn="ctr"/>
                      <a:r>
                        <a:rPr lang="en-US" sz="1400" b="0" i="0" dirty="0">
                          <a:latin typeface="+mn-lt"/>
                        </a:rPr>
                        <a:t>10,240</a:t>
                      </a:r>
                    </a:p>
                  </a:txBody>
                  <a:tcPr marL="68580" marR="68580" marT="34290" marB="34290" anchor="ctr"/>
                </a:tc>
                <a:tc>
                  <a:txBody>
                    <a:bodyPr/>
                    <a:lstStyle/>
                    <a:p>
                      <a:pPr algn="ctr"/>
                      <a:r>
                        <a:rPr lang="en-US" sz="1400" b="0" i="0" dirty="0">
                          <a:latin typeface="+mn-lt"/>
                        </a:rPr>
                        <a:t>16 GB</a:t>
                      </a:r>
                    </a:p>
                  </a:txBody>
                  <a:tcPr marL="68580" marR="68580" marT="34290" marB="34290" anchor="ctr"/>
                </a:tc>
                <a:tc>
                  <a:txBody>
                    <a:bodyPr/>
                    <a:lstStyle/>
                    <a:p>
                      <a:pPr algn="ctr"/>
                      <a:r>
                        <a:rPr lang="en-US" sz="1400" b="0" i="0" dirty="0">
                          <a:latin typeface="+mn-lt"/>
                        </a:rPr>
                        <a:t>48.74 TFLOPS</a:t>
                      </a:r>
                    </a:p>
                  </a:txBody>
                  <a:tcPr marL="68580" marR="68580" marT="34290" marB="34290" anchor="ctr"/>
                </a:tc>
                <a:tc>
                  <a:txBody>
                    <a:bodyPr/>
                    <a:lstStyle/>
                    <a:p>
                      <a:pPr algn="ctr"/>
                      <a:r>
                        <a:rPr lang="en-US" sz="1400" b="0" i="0" dirty="0">
                          <a:latin typeface="+mn-lt"/>
                        </a:rPr>
                        <a:t>320W</a:t>
                      </a:r>
                    </a:p>
                  </a:txBody>
                  <a:tcPr marL="68580" marR="68580" marT="34290" marB="34290" anchor="ctr"/>
                </a:tc>
                <a:tc>
                  <a:txBody>
                    <a:bodyPr/>
                    <a:lstStyle/>
                    <a:p>
                      <a:pPr algn="ctr"/>
                      <a:r>
                        <a:rPr lang="en-US" sz="1400" b="0" i="0">
                          <a:latin typeface="+mn-lt"/>
                        </a:rPr>
                        <a:t>$1,000</a:t>
                      </a:r>
                      <a:endParaRPr lang="en-US" sz="1400" b="0" i="0" dirty="0">
                        <a:latin typeface="+mn-lt"/>
                      </a:endParaRPr>
                    </a:p>
                  </a:txBody>
                  <a:tcPr marL="68580" marR="68580" marT="34290" marB="34290" anchor="ctr"/>
                </a:tc>
                <a:extLst>
                  <a:ext uri="{0D108BD9-81ED-4DB2-BD59-A6C34878D82A}">
                    <a16:rowId xmlns:a16="http://schemas.microsoft.com/office/drawing/2014/main" val="568537164"/>
                  </a:ext>
                </a:extLst>
              </a:tr>
            </a:tbl>
          </a:graphicData>
        </a:graphic>
      </p:graphicFrame>
    </p:spTree>
    <p:extLst>
      <p:ext uri="{BB962C8B-B14F-4D97-AF65-F5344CB8AC3E}">
        <p14:creationId xmlns:p14="http://schemas.microsoft.com/office/powerpoint/2010/main" val="15107069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Knowledge Distillation</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61767" cy="3213667"/>
          </a:xfrm>
          <a:prstGeom prst="rect">
            <a:avLst/>
          </a:prstGeom>
          <a:noFill/>
        </p:spPr>
        <p:txBody>
          <a:bodyPr vert="horz" lIns="68580" tIns="34290" rIns="68580" bIns="34290" rtlCol="0" anchor="t">
            <a:normAutofit fontScale="92500" lnSpcReduction="10000"/>
          </a:bodyPr>
          <a:lstStyle/>
          <a:p>
            <a:pPr marL="171450" lvl="1">
              <a:spcBef>
                <a:spcPts val="750"/>
              </a:spcBef>
              <a:spcAft>
                <a:spcPts val="600"/>
              </a:spcAft>
              <a:buClr>
                <a:schemeClr val="accent2"/>
              </a:buClr>
            </a:pPr>
            <a:r>
              <a:rPr lang="en-IN" sz="2000" dirty="0"/>
              <a:t>Knowledge transfer</a:t>
            </a:r>
          </a:p>
          <a:p>
            <a:pPr marL="171450" lvl="1">
              <a:spcBef>
                <a:spcPts val="750"/>
              </a:spcBef>
              <a:spcAft>
                <a:spcPts val="600"/>
              </a:spcAft>
              <a:buClr>
                <a:schemeClr val="accent2"/>
              </a:buClr>
            </a:pPr>
            <a:r>
              <a:rPr lang="en-IN" sz="2000" dirty="0"/>
              <a:t>Large pre-trained model </a:t>
            </a:r>
          </a:p>
          <a:p>
            <a:pPr marL="171450" lvl="1">
              <a:spcBef>
                <a:spcPts val="750"/>
              </a:spcBef>
              <a:spcAft>
                <a:spcPts val="600"/>
              </a:spcAft>
              <a:buClr>
                <a:schemeClr val="accent2"/>
              </a:buClr>
            </a:pPr>
            <a:r>
              <a:rPr lang="en-IN" sz="2000" dirty="0"/>
              <a:t>Set of models</a:t>
            </a:r>
          </a:p>
          <a:p>
            <a:pPr marL="171450" lvl="1">
              <a:spcBef>
                <a:spcPts val="750"/>
              </a:spcBef>
              <a:spcAft>
                <a:spcPts val="600"/>
              </a:spcAft>
              <a:buClr>
                <a:schemeClr val="accent2"/>
              </a:buClr>
            </a:pPr>
            <a:r>
              <a:rPr lang="en-IN" sz="2000"/>
              <a:t>Teacher model</a:t>
            </a:r>
            <a:endParaRPr lang="en-IN" sz="2000" dirty="0"/>
          </a:p>
          <a:p>
            <a:pPr marL="171450" lvl="1">
              <a:spcBef>
                <a:spcPts val="750"/>
              </a:spcBef>
              <a:spcAft>
                <a:spcPts val="600"/>
              </a:spcAft>
              <a:buClr>
                <a:schemeClr val="accent2"/>
              </a:buClr>
            </a:pPr>
            <a:r>
              <a:rPr lang="en-IN" sz="2000" dirty="0"/>
              <a:t>Ensemble of models</a:t>
            </a:r>
          </a:p>
          <a:p>
            <a:pPr marL="171450" lvl="1">
              <a:spcBef>
                <a:spcPts val="750"/>
              </a:spcBef>
              <a:spcAft>
                <a:spcPts val="600"/>
              </a:spcAft>
              <a:buClr>
                <a:schemeClr val="accent2"/>
              </a:buClr>
            </a:pPr>
            <a:r>
              <a:rPr lang="en-IN" sz="2000" dirty="0"/>
              <a:t>Single smaller model</a:t>
            </a:r>
          </a:p>
          <a:p>
            <a:pPr marL="171450" lvl="1">
              <a:spcBef>
                <a:spcPts val="750"/>
              </a:spcBef>
              <a:spcAft>
                <a:spcPts val="600"/>
              </a:spcAft>
              <a:buClr>
                <a:schemeClr val="accent2"/>
              </a:buClr>
            </a:pPr>
            <a:r>
              <a:rPr lang="en-IN" sz="2000" dirty="0"/>
              <a:t>Student model</a:t>
            </a:r>
          </a:p>
          <a:p>
            <a:pPr marL="171450" lvl="1">
              <a:spcBef>
                <a:spcPts val="750"/>
              </a:spcBef>
              <a:spcAft>
                <a:spcPts val="600"/>
              </a:spcAft>
              <a:buClr>
                <a:schemeClr val="accent2"/>
              </a:buClr>
            </a:pPr>
            <a:r>
              <a:rPr lang="en-IN" sz="2000" dirty="0"/>
              <a:t>Model compression</a:t>
            </a:r>
            <a:endParaRPr lang="en-IN" sz="1700" dirty="0"/>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513634" y="1378574"/>
            <a:ext cx="3982665"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Small student model </a:t>
            </a:r>
          </a:p>
          <a:p>
            <a:pPr marL="171450" lvl="1">
              <a:spcBef>
                <a:spcPts val="750"/>
              </a:spcBef>
              <a:spcAft>
                <a:spcPts val="600"/>
              </a:spcAft>
              <a:buClr>
                <a:schemeClr val="accent2"/>
              </a:buClr>
            </a:pPr>
            <a:r>
              <a:rPr lang="en-IN" sz="2000" dirty="0"/>
              <a:t>Learn to emulate </a:t>
            </a:r>
          </a:p>
          <a:p>
            <a:pPr marL="171450" lvl="1">
              <a:spcBef>
                <a:spcPts val="750"/>
              </a:spcBef>
              <a:spcAft>
                <a:spcPts val="600"/>
              </a:spcAft>
              <a:buClr>
                <a:schemeClr val="accent2"/>
              </a:buClr>
            </a:pPr>
            <a:r>
              <a:rPr lang="en-IN" sz="2000" dirty="0"/>
              <a:t>Large teacher model</a:t>
            </a:r>
          </a:p>
          <a:p>
            <a:pPr marL="171450" lvl="1">
              <a:spcBef>
                <a:spcPts val="750"/>
              </a:spcBef>
              <a:spcAft>
                <a:spcPts val="600"/>
              </a:spcAft>
              <a:buClr>
                <a:schemeClr val="accent2"/>
              </a:buClr>
            </a:pPr>
            <a:r>
              <a:rPr lang="en-IN" sz="2000" dirty="0"/>
              <a:t>Leverage teacher knowledge </a:t>
            </a:r>
          </a:p>
          <a:p>
            <a:pPr marL="171450" lvl="1">
              <a:spcBef>
                <a:spcPts val="750"/>
              </a:spcBef>
              <a:spcAft>
                <a:spcPts val="600"/>
              </a:spcAft>
              <a:buClr>
                <a:schemeClr val="accent2"/>
              </a:buClr>
            </a:pPr>
            <a:r>
              <a:rPr lang="en-IN" sz="2000" dirty="0"/>
              <a:t>Emulate thought process</a:t>
            </a:r>
          </a:p>
          <a:p>
            <a:pPr marL="171450" lvl="1">
              <a:spcBef>
                <a:spcPts val="750"/>
              </a:spcBef>
              <a:spcAft>
                <a:spcPts val="600"/>
              </a:spcAft>
              <a:buClr>
                <a:schemeClr val="accent2"/>
              </a:buClr>
            </a:pPr>
            <a:r>
              <a:rPr lang="en-IN" sz="2000" dirty="0"/>
              <a:t>Obtain similar / higher accuracy</a:t>
            </a:r>
          </a:p>
        </p:txBody>
      </p:sp>
    </p:spTree>
    <p:extLst>
      <p:ext uri="{BB962C8B-B14F-4D97-AF65-F5344CB8AC3E}">
        <p14:creationId xmlns:p14="http://schemas.microsoft.com/office/powerpoint/2010/main" val="26597163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Conclusions</a:t>
            </a:r>
          </a:p>
        </p:txBody>
      </p:sp>
      <p:sp>
        <p:nvSpPr>
          <p:cNvPr id="9"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7867650"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Large Language Models</a:t>
            </a:r>
          </a:p>
          <a:p>
            <a:pPr marL="171450" lvl="1">
              <a:spcBef>
                <a:spcPts val="750"/>
              </a:spcBef>
              <a:spcAft>
                <a:spcPts val="600"/>
              </a:spcAft>
              <a:buClr>
                <a:schemeClr val="accent2"/>
              </a:buClr>
            </a:pPr>
            <a:r>
              <a:rPr lang="en-IN" sz="2000" dirty="0"/>
              <a:t>Prompt Engineering</a:t>
            </a:r>
          </a:p>
          <a:p>
            <a:pPr marL="171450" lvl="1">
              <a:spcBef>
                <a:spcPts val="750"/>
              </a:spcBef>
              <a:spcAft>
                <a:spcPts val="600"/>
              </a:spcAft>
              <a:buClr>
                <a:schemeClr val="accent2"/>
              </a:buClr>
            </a:pPr>
            <a:r>
              <a:rPr lang="en-IN" sz="2000" dirty="0"/>
              <a:t>In Context Learning</a:t>
            </a:r>
          </a:p>
          <a:p>
            <a:pPr marL="171450" lvl="1">
              <a:spcBef>
                <a:spcPts val="750"/>
              </a:spcBef>
              <a:spcAft>
                <a:spcPts val="600"/>
              </a:spcAft>
              <a:buClr>
                <a:schemeClr val="accent2"/>
              </a:buClr>
            </a:pPr>
            <a:r>
              <a:rPr lang="en-IN" sz="2000" dirty="0"/>
              <a:t>Training Large Language Models</a:t>
            </a:r>
          </a:p>
          <a:p>
            <a:pPr marL="171450" lvl="1">
              <a:spcBef>
                <a:spcPts val="750"/>
              </a:spcBef>
              <a:spcAft>
                <a:spcPts val="600"/>
              </a:spcAft>
              <a:buClr>
                <a:schemeClr val="accent2"/>
              </a:buClr>
            </a:pPr>
            <a:r>
              <a:rPr lang="en-IN" sz="2000" dirty="0"/>
              <a:t>Large Language Model Applications</a:t>
            </a:r>
          </a:p>
          <a:p>
            <a:pPr marL="171450" lvl="1">
              <a:spcBef>
                <a:spcPts val="750"/>
              </a:spcBef>
              <a:spcAft>
                <a:spcPts val="600"/>
              </a:spcAft>
              <a:buClr>
                <a:schemeClr val="accent2"/>
              </a:buClr>
            </a:pPr>
            <a:r>
              <a:rPr lang="en-IN" sz="2000" dirty="0"/>
              <a:t>Deploying Large Language Models</a:t>
            </a:r>
          </a:p>
          <a:p>
            <a:pPr marL="171450" lvl="1">
              <a:spcBef>
                <a:spcPts val="750"/>
              </a:spcBef>
              <a:spcAft>
                <a:spcPts val="600"/>
              </a:spcAft>
              <a:buClr>
                <a:schemeClr val="accent2"/>
              </a:buClr>
            </a:pPr>
            <a:endParaRPr lang="en-US" sz="2000" dirty="0"/>
          </a:p>
        </p:txBody>
      </p:sp>
    </p:spTree>
    <p:extLst>
      <p:ext uri="{BB962C8B-B14F-4D97-AF65-F5344CB8AC3E}">
        <p14:creationId xmlns:p14="http://schemas.microsoft.com/office/powerpoint/2010/main" val="41461374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287907" y="573377"/>
            <a:ext cx="3986276" cy="3996747"/>
          </a:xfrm>
          <a:noFill/>
        </p:spPr>
        <p:txBody>
          <a:bodyPr/>
          <a:lstStyle/>
          <a:p>
            <a:r>
              <a:rPr lang="en-US" sz="4400" dirty="0"/>
              <a:t>Thank you</a:t>
            </a:r>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idx="1"/>
          </p:nvPr>
        </p:nvSpPr>
        <p:spPr>
          <a:xfrm>
            <a:off x="4954092" y="566379"/>
            <a:ext cx="3464953" cy="3986276"/>
          </a:xfrm>
          <a:noFill/>
        </p:spPr>
        <p:txBody>
          <a:bodyPr>
            <a:normAutofit/>
          </a:bodyPr>
          <a:lstStyle/>
          <a:p>
            <a:r>
              <a:rPr lang="en-US" sz="2000" dirty="0"/>
              <a:t>Pritam Prakash Shete</a:t>
            </a:r>
          </a:p>
          <a:p>
            <a:r>
              <a:rPr lang="en-US" sz="2000" dirty="0"/>
              <a:t>Telephone - 022-25595212</a:t>
            </a:r>
          </a:p>
          <a:p>
            <a:r>
              <a:rPr lang="en-US" sz="2000" dirty="0"/>
              <a:t>Email - ppshete@barc.gov.in</a:t>
            </a:r>
          </a:p>
          <a:p>
            <a:endParaRPr lang="en-US" dirty="0"/>
          </a:p>
        </p:txBody>
      </p:sp>
    </p:spTree>
    <p:extLst>
      <p:ext uri="{BB962C8B-B14F-4D97-AF65-F5344CB8AC3E}">
        <p14:creationId xmlns:p14="http://schemas.microsoft.com/office/powerpoint/2010/main" val="15624848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A9874B-BCA9-8420-1595-EDD1865A099A}"/>
              </a:ext>
            </a:extLst>
          </p:cNvPr>
          <p:cNvSpPr>
            <a:spLocks noGrp="1"/>
          </p:cNvSpPr>
          <p:nvPr>
            <p:ph type="title"/>
          </p:nvPr>
        </p:nvSpPr>
        <p:spPr>
          <a:xfrm>
            <a:off x="628650" y="273844"/>
            <a:ext cx="7886700" cy="994172"/>
          </a:xfrm>
          <a:noFill/>
        </p:spPr>
        <p:txBody>
          <a:bodyPr anchor="ctr"/>
          <a:lstStyle/>
          <a:p>
            <a:r>
              <a:rPr lang="en-US" dirty="0"/>
              <a:t>Retrieval Augmented Generation – Evaluation</a:t>
            </a:r>
            <a:endParaRPr lang="en-US" dirty="0">
              <a:solidFill>
                <a:schemeClr val="accent2">
                  <a:lumMod val="50000"/>
                </a:schemeClr>
              </a:solidFill>
            </a:endParaRPr>
          </a:p>
        </p:txBody>
      </p:sp>
      <p:sp>
        <p:nvSpPr>
          <p:cNvPr id="5"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628650" y="1378574"/>
            <a:ext cx="3761767"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Ground Truth (GT) by Human </a:t>
            </a:r>
          </a:p>
          <a:p>
            <a:pPr marL="171450" lvl="1">
              <a:spcBef>
                <a:spcPts val="750"/>
              </a:spcBef>
              <a:spcAft>
                <a:spcPts val="600"/>
              </a:spcAft>
              <a:buClr>
                <a:schemeClr val="accent2"/>
              </a:buClr>
            </a:pPr>
            <a:r>
              <a:rPr lang="en-IN" sz="2000" dirty="0"/>
              <a:t>Character based evaluation</a:t>
            </a:r>
          </a:p>
          <a:p>
            <a:pPr marL="514350" lvl="2">
              <a:spcBef>
                <a:spcPts val="750"/>
              </a:spcBef>
              <a:spcAft>
                <a:spcPts val="600"/>
              </a:spcAft>
              <a:buClr>
                <a:schemeClr val="accent2"/>
              </a:buClr>
            </a:pPr>
            <a:r>
              <a:rPr lang="en-IN" sz="1700" dirty="0"/>
              <a:t>Edit distance</a:t>
            </a:r>
          </a:p>
          <a:p>
            <a:pPr marL="171450" lvl="1">
              <a:spcBef>
                <a:spcPts val="750"/>
              </a:spcBef>
              <a:spcAft>
                <a:spcPts val="600"/>
              </a:spcAft>
              <a:buClr>
                <a:schemeClr val="accent2"/>
              </a:buClr>
            </a:pPr>
            <a:r>
              <a:rPr lang="en-IN" sz="2000" dirty="0"/>
              <a:t>Word based evaluation</a:t>
            </a:r>
          </a:p>
          <a:p>
            <a:pPr marL="514350" lvl="2">
              <a:spcBef>
                <a:spcPts val="750"/>
              </a:spcBef>
              <a:spcAft>
                <a:spcPts val="600"/>
              </a:spcAft>
              <a:buClr>
                <a:schemeClr val="accent2"/>
              </a:buClr>
            </a:pPr>
            <a:r>
              <a:rPr lang="en-IN" sz="1700" dirty="0"/>
              <a:t>WER, BLEU</a:t>
            </a:r>
          </a:p>
          <a:p>
            <a:pPr marL="171450" lvl="1">
              <a:spcBef>
                <a:spcPts val="750"/>
              </a:spcBef>
              <a:spcAft>
                <a:spcPts val="600"/>
              </a:spcAft>
              <a:buClr>
                <a:schemeClr val="accent2"/>
              </a:buClr>
            </a:pPr>
            <a:r>
              <a:rPr lang="en-IN" sz="2000" dirty="0"/>
              <a:t>Embedding based evaluation</a:t>
            </a:r>
          </a:p>
          <a:p>
            <a:pPr marL="514350" lvl="2">
              <a:spcBef>
                <a:spcPts val="750"/>
              </a:spcBef>
              <a:spcAft>
                <a:spcPts val="600"/>
              </a:spcAft>
              <a:buClr>
                <a:schemeClr val="accent2"/>
              </a:buClr>
            </a:pPr>
            <a:r>
              <a:rPr lang="en-IN" sz="1700" dirty="0"/>
              <a:t>BERT score, Mover score</a:t>
            </a:r>
          </a:p>
        </p:txBody>
      </p:sp>
      <p:sp>
        <p:nvSpPr>
          <p:cNvPr id="4" name="Content Placeholder 2">
            <a:extLst>
              <a:ext uri="{FF2B5EF4-FFF2-40B4-BE49-F238E27FC236}">
                <a16:creationId xmlns:a16="http://schemas.microsoft.com/office/drawing/2014/main" id="{A6A33159-D030-2F82-A142-F75940728319}"/>
              </a:ext>
            </a:extLst>
          </p:cNvPr>
          <p:cNvSpPr>
            <a:spLocks noGrp="1"/>
          </p:cNvSpPr>
          <p:nvPr>
            <p:ph sz="quarter" idx="4294967295"/>
          </p:nvPr>
        </p:nvSpPr>
        <p:spPr>
          <a:xfrm>
            <a:off x="4513634" y="1378574"/>
            <a:ext cx="3982665" cy="3213667"/>
          </a:xfrm>
          <a:prstGeom prst="rect">
            <a:avLst/>
          </a:prstGeom>
          <a:noFill/>
        </p:spPr>
        <p:txBody>
          <a:bodyPr vert="horz" lIns="68580" tIns="34290" rIns="68580" bIns="34290" rtlCol="0" anchor="t">
            <a:normAutofit/>
          </a:bodyPr>
          <a:lstStyle/>
          <a:p>
            <a:pPr marL="171450" lvl="1">
              <a:spcBef>
                <a:spcPts val="750"/>
              </a:spcBef>
              <a:spcAft>
                <a:spcPts val="600"/>
              </a:spcAft>
              <a:buClr>
                <a:schemeClr val="accent2"/>
              </a:buClr>
            </a:pPr>
            <a:r>
              <a:rPr lang="en-IN" sz="2000" dirty="0"/>
              <a:t>Ground Truth (GT) by LLM </a:t>
            </a:r>
          </a:p>
          <a:p>
            <a:pPr marL="171450" lvl="1">
              <a:spcBef>
                <a:spcPts val="750"/>
              </a:spcBef>
              <a:spcAft>
                <a:spcPts val="600"/>
              </a:spcAft>
              <a:buClr>
                <a:schemeClr val="accent2"/>
              </a:buClr>
            </a:pPr>
            <a:r>
              <a:rPr lang="en-IN" sz="2000" dirty="0"/>
              <a:t>Mathematical Framework</a:t>
            </a:r>
          </a:p>
          <a:p>
            <a:pPr marL="514350" lvl="2">
              <a:spcBef>
                <a:spcPts val="750"/>
              </a:spcBef>
              <a:spcAft>
                <a:spcPts val="600"/>
              </a:spcAft>
              <a:buClr>
                <a:schemeClr val="accent2"/>
              </a:buClr>
            </a:pPr>
            <a:r>
              <a:rPr lang="en-IN" sz="1700" dirty="0"/>
              <a:t>RAGAS framework</a:t>
            </a:r>
          </a:p>
          <a:p>
            <a:pPr marL="171450" lvl="1">
              <a:spcBef>
                <a:spcPts val="750"/>
              </a:spcBef>
              <a:spcAft>
                <a:spcPts val="600"/>
              </a:spcAft>
              <a:buClr>
                <a:schemeClr val="accent2"/>
              </a:buClr>
            </a:pPr>
            <a:r>
              <a:rPr lang="en-IN" sz="2000" dirty="0"/>
              <a:t>Experimental based Framework</a:t>
            </a:r>
          </a:p>
          <a:p>
            <a:pPr marL="514350" lvl="2">
              <a:spcBef>
                <a:spcPts val="750"/>
              </a:spcBef>
              <a:spcAft>
                <a:spcPts val="600"/>
              </a:spcAft>
              <a:buClr>
                <a:schemeClr val="accent2"/>
              </a:buClr>
            </a:pPr>
            <a:r>
              <a:rPr lang="en-IN" sz="1700" dirty="0"/>
              <a:t>Number of tasks and datasets </a:t>
            </a:r>
          </a:p>
          <a:p>
            <a:pPr marL="514350" lvl="2">
              <a:spcBef>
                <a:spcPts val="750"/>
              </a:spcBef>
              <a:spcAft>
                <a:spcPts val="600"/>
              </a:spcAft>
              <a:buClr>
                <a:schemeClr val="accent2"/>
              </a:buClr>
            </a:pPr>
            <a:r>
              <a:rPr lang="en-IN" sz="1700" dirty="0"/>
              <a:t>Number of aspects</a:t>
            </a:r>
          </a:p>
          <a:p>
            <a:pPr marL="514350" lvl="2">
              <a:spcBef>
                <a:spcPts val="750"/>
              </a:spcBef>
              <a:spcAft>
                <a:spcPts val="600"/>
              </a:spcAft>
              <a:buClr>
                <a:schemeClr val="accent2"/>
              </a:buClr>
            </a:pPr>
            <a:r>
              <a:rPr lang="en-IN" sz="1700" dirty="0"/>
              <a:t>GPT score</a:t>
            </a:r>
          </a:p>
          <a:p>
            <a:pPr marL="514350" lvl="2">
              <a:spcBef>
                <a:spcPts val="750"/>
              </a:spcBef>
              <a:spcAft>
                <a:spcPts val="600"/>
              </a:spcAft>
              <a:buClr>
                <a:schemeClr val="accent2"/>
              </a:buClr>
            </a:pPr>
            <a:endParaRPr lang="en-IN" sz="1700" dirty="0"/>
          </a:p>
        </p:txBody>
      </p:sp>
    </p:spTree>
    <p:extLst>
      <p:ext uri="{BB962C8B-B14F-4D97-AF65-F5344CB8AC3E}">
        <p14:creationId xmlns:p14="http://schemas.microsoft.com/office/powerpoint/2010/main" val="4146137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09897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29609147"/>
      </p:ext>
    </p:extLst>
  </p:cSld>
  <p:clrMapOvr>
    <a:masterClrMapping/>
  </p:clrMapOvr>
</p:sld>
</file>

<file path=ppt/theme/theme1.xml><?xml version="1.0" encoding="utf-8"?>
<a:theme xmlns:a="http://schemas.openxmlformats.org/drawingml/2006/main" name="Custom">
  <a:themeElements>
    <a:clrScheme name="TM78504181">
      <a:dk1>
        <a:srgbClr val="000000"/>
      </a:dk1>
      <a:lt1>
        <a:srgbClr val="FFFFFF"/>
      </a:lt1>
      <a:dk2>
        <a:srgbClr val="FFF8F4"/>
      </a:dk2>
      <a:lt2>
        <a:srgbClr val="E8E8E8"/>
      </a:lt2>
      <a:accent1>
        <a:srgbClr val="EE7660"/>
      </a:accent1>
      <a:accent2>
        <a:srgbClr val="4D90EF"/>
      </a:accent2>
      <a:accent3>
        <a:srgbClr val="5B5160"/>
      </a:accent3>
      <a:accent4>
        <a:srgbClr val="2BC2B4"/>
      </a:accent4>
      <a:accent5>
        <a:srgbClr val="C097F8"/>
      </a:accent5>
      <a:accent6>
        <a:srgbClr val="FF9413"/>
      </a:accent6>
      <a:hlink>
        <a:srgbClr val="467886"/>
      </a:hlink>
      <a:folHlink>
        <a:srgbClr val="96607D"/>
      </a:folHlink>
    </a:clrScheme>
    <a:fontScheme name="Custom 49">
      <a:majorFont>
        <a:latin typeface="Tw Cen MT"/>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M78504181_Win32_SL_V11" id="{D9600F65-346D-4C25-A611-673E5C44A142}" vid="{299F2556-E258-444F-A1E6-FA759CE228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1285E733-8340-4FDD-A6FC-B22F1B75E4E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FFD73E-D96B-4428-99CD-717A4897D3B4}">
  <ds:schemaRefs>
    <ds:schemaRef ds:uri="http://schemas.microsoft.com/sharepoint/v3/contenttype/forms"/>
  </ds:schemaRefs>
</ds:datastoreItem>
</file>

<file path=customXml/itemProps3.xml><?xml version="1.0" encoding="utf-8"?>
<ds:datastoreItem xmlns:ds="http://schemas.openxmlformats.org/officeDocument/2006/customXml" ds:itemID="{A3165DE6-2DCE-44FC-94B7-A499559DBF88}">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2416</TotalTime>
  <Words>4116</Words>
  <Application>Microsoft Office PowerPoint</Application>
  <PresentationFormat>On-screen Show (16:9)</PresentationFormat>
  <Paragraphs>831</Paragraphs>
  <Slides>73</Slides>
  <Notes>73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73</vt:i4>
      </vt:variant>
    </vt:vector>
  </HeadingPairs>
  <TitlesOfParts>
    <vt:vector size="80" baseType="lpstr">
      <vt:lpstr>Aptos</vt:lpstr>
      <vt:lpstr>Arial</vt:lpstr>
      <vt:lpstr>Avenir Next LT Pro</vt:lpstr>
      <vt:lpstr>Avenir Next LT Pro Light</vt:lpstr>
      <vt:lpstr>Calibri</vt:lpstr>
      <vt:lpstr>Tw Cen MT</vt:lpstr>
      <vt:lpstr>Custom</vt:lpstr>
      <vt:lpstr>Introduction to  Large Language Models From Foundation to Real World Applications  Computer Division, BARC and Centre for Excellence in Basic Sciences (CEBS)</vt:lpstr>
      <vt:lpstr>PowerPoint Presentation</vt:lpstr>
      <vt:lpstr>Agenda</vt:lpstr>
      <vt:lpstr>Introduction</vt:lpstr>
      <vt:lpstr>Introduction</vt:lpstr>
      <vt:lpstr>Introduction</vt:lpstr>
      <vt:lpstr>Large Language Models</vt:lpstr>
      <vt:lpstr>Word v/s Token</vt:lpstr>
      <vt:lpstr>Large Language Models</vt:lpstr>
      <vt:lpstr>Large Language Models</vt:lpstr>
      <vt:lpstr>Large Language Models</vt:lpstr>
      <vt:lpstr>Sentiment Analysis</vt:lpstr>
      <vt:lpstr>Summarization</vt:lpstr>
      <vt:lpstr>Machine Translation</vt:lpstr>
      <vt:lpstr>Code Generation</vt:lpstr>
      <vt:lpstr>Code Generation</vt:lpstr>
      <vt:lpstr>Code Generation</vt:lpstr>
      <vt:lpstr>Virtual Assistants</vt:lpstr>
      <vt:lpstr>Medical Diagnosis</vt:lpstr>
      <vt:lpstr>Creative Writing</vt:lpstr>
      <vt:lpstr>Creative Writing</vt:lpstr>
      <vt:lpstr>Education and Training</vt:lpstr>
      <vt:lpstr>Education and Training</vt:lpstr>
      <vt:lpstr>Education and Training</vt:lpstr>
      <vt:lpstr>Keyword Identification</vt:lpstr>
      <vt:lpstr>Prompt Engineering</vt:lpstr>
      <vt:lpstr>Prompt</vt:lpstr>
      <vt:lpstr>Inference</vt:lpstr>
      <vt:lpstr>Prompt Completion</vt:lpstr>
      <vt:lpstr>In Context Learning</vt:lpstr>
      <vt:lpstr>Context Window</vt:lpstr>
      <vt:lpstr>Task Examples</vt:lpstr>
      <vt:lpstr>Zero Shot Inference</vt:lpstr>
      <vt:lpstr>One Shot Inference</vt:lpstr>
      <vt:lpstr>Few Shot Inference</vt:lpstr>
      <vt:lpstr>Large Language Model Architectures</vt:lpstr>
      <vt:lpstr>Training Large Language Models</vt:lpstr>
      <vt:lpstr>Model Pre-training</vt:lpstr>
      <vt:lpstr>Model Pre-training</vt:lpstr>
      <vt:lpstr>Model Pre-training</vt:lpstr>
      <vt:lpstr>Model Pre-training</vt:lpstr>
      <vt:lpstr>Instruction Fine Tuning</vt:lpstr>
      <vt:lpstr>Reinforcement Learning</vt:lpstr>
      <vt:lpstr>Reinforcement Learning</vt:lpstr>
      <vt:lpstr>Reinforcement Learning from Human Feedback</vt:lpstr>
      <vt:lpstr>Mixture of Experts – (MoE) </vt:lpstr>
      <vt:lpstr>LLM – Computational Challenges</vt:lpstr>
      <vt:lpstr>Retrieval Augmented Generation</vt:lpstr>
      <vt:lpstr>Retrieval Augmented Generation</vt:lpstr>
      <vt:lpstr>Sahaayak – Retrieval Augmented Generation</vt:lpstr>
      <vt:lpstr>Sahaayak – Retrieval Augmented Generation</vt:lpstr>
      <vt:lpstr>Sahaayak – BARC Documents</vt:lpstr>
      <vt:lpstr>Sahaayak – BARC Documents</vt:lpstr>
      <vt:lpstr>Pragya – Machine Learning Cluster</vt:lpstr>
      <vt:lpstr>Falcon 180B On Pragya</vt:lpstr>
      <vt:lpstr>Pehchaan – AI based Face Recognition System</vt:lpstr>
      <vt:lpstr>Talaash – Multimodal Query and Retrieval</vt:lpstr>
      <vt:lpstr>Fashion Captioning Dataset (FACAD)</vt:lpstr>
      <vt:lpstr>Image Captioning Models</vt:lpstr>
      <vt:lpstr>BLIP2 Architecture</vt:lpstr>
      <vt:lpstr>FashionVLM</vt:lpstr>
      <vt:lpstr>FashionVLM – Evaluation on FACAD</vt:lpstr>
      <vt:lpstr>Talaash – Image Registration</vt:lpstr>
      <vt:lpstr>Talaash – Multimodal Search and Retrieval</vt:lpstr>
      <vt:lpstr>Chain-of-Thought Prompting</vt:lpstr>
      <vt:lpstr>Chain-of-Thought Prompting</vt:lpstr>
      <vt:lpstr>Deploying Large Language Models</vt:lpstr>
      <vt:lpstr>Knowledge Distillation</vt:lpstr>
      <vt:lpstr>Conclusions</vt:lpstr>
      <vt:lpstr>Thank you</vt:lpstr>
      <vt:lpstr>Retrieval Augmented Generation – Evaluation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presentation</dc:title>
  <cp:lastModifiedBy>BARC</cp:lastModifiedBy>
  <cp:revision>1774</cp:revision>
  <dcterms:created xsi:type="dcterms:W3CDTF">2024-01-11T14:50:00Z</dcterms:created>
  <dcterms:modified xsi:type="dcterms:W3CDTF">2026-04-09T04:53:49Z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